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61" r:id="rId4"/>
    <p:sldId id="258" r:id="rId5"/>
    <p:sldId id="259" r:id="rId6"/>
    <p:sldId id="260"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0" d="100"/>
          <a:sy n="110" d="100"/>
        </p:scale>
        <p:origin x="7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2544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822960" y="2148840"/>
            <a:ext cx="10515600" cy="10972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From Upload to Invoice</a:t>
            </a:r>
            <a:endParaRPr lang="en-US" sz="4400" dirty="0"/>
          </a:p>
        </p:txBody>
      </p:sp>
      <p:sp>
        <p:nvSpPr>
          <p:cNvPr id="3" name="Text 1"/>
          <p:cNvSpPr txBox="1"/>
          <p:nvPr/>
        </p:nvSpPr>
        <p:spPr>
          <a:xfrm>
            <a:off x="822960" y="3200400"/>
            <a:ext cx="9601200" cy="1005840"/>
          </a:xfrm>
          <a:prstGeom prst="rect">
            <a:avLst/>
          </a:prstGeom>
          <a:noFill/>
          <a:ln/>
        </p:spPr>
        <p:txBody>
          <a:bodyPr wrap="square" lIns="0" tIns="0" rIns="0" bIns="0" rtlCol="0" anchor="ctr"/>
          <a:lstStyle/>
          <a:p>
            <a:pPr marL="0" indent="0">
              <a:lnSpc>
                <a:spcPct val="130000"/>
              </a:lnSpc>
              <a:buNone/>
            </a:pPr>
            <a:r>
              <a:rPr lang="en-US" sz="1800" dirty="0">
                <a:solidFill>
                  <a:srgbClr val="CADCFC"/>
                </a:solidFill>
                <a:latin typeface="Calibri" pitchFamily="34" charset="0"/>
                <a:ea typeface="Calibri" pitchFamily="34" charset="-122"/>
                <a:cs typeface="Calibri" pitchFamily="34" charset="-120"/>
              </a:rPr>
              <a:t>How BM&amp;G's new intake automation carries a lender's documents</a:t>
            </a:r>
            <a:endParaRPr lang="en-US" sz="1800" dirty="0"/>
          </a:p>
          <a:p>
            <a:pPr marL="0" indent="0">
              <a:lnSpc>
                <a:spcPct val="130000"/>
              </a:lnSpc>
              <a:buNone/>
            </a:pPr>
            <a:r>
              <a:rPr lang="en-US" sz="1800" dirty="0">
                <a:solidFill>
                  <a:srgbClr val="CADCFC"/>
                </a:solidFill>
                <a:latin typeface="Calibri" pitchFamily="34" charset="0"/>
                <a:ea typeface="Calibri" pitchFamily="34" charset="-122"/>
                <a:cs typeface="Calibri" pitchFamily="34" charset="-120"/>
              </a:rPr>
              <a:t>all the way to a ready invoice — step by step.</a:t>
            </a:r>
            <a:endParaRPr lang="en-US" sz="1800" dirty="0"/>
          </a:p>
        </p:txBody>
      </p:sp>
      <p:sp>
        <p:nvSpPr>
          <p:cNvPr id="4" name="Shape 2"/>
          <p:cNvSpPr/>
          <p:nvPr/>
        </p:nvSpPr>
        <p:spPr>
          <a:xfrm>
            <a:off x="822960" y="1371600"/>
            <a:ext cx="128016" cy="128016"/>
          </a:xfrm>
          <a:prstGeom prst="ellipse">
            <a:avLst/>
          </a:prstGeom>
          <a:solidFill>
            <a:srgbClr val="CADCFC"/>
          </a:solidFill>
          <a:ln/>
        </p:spPr>
      </p:sp>
      <p:sp>
        <p:nvSpPr>
          <p:cNvPr id="5" name="Text 3"/>
          <p:cNvSpPr txBox="1"/>
          <p:nvPr/>
        </p:nvSpPr>
        <p:spPr>
          <a:xfrm>
            <a:off x="1097280" y="1298448"/>
            <a:ext cx="7315200" cy="274320"/>
          </a:xfrm>
          <a:prstGeom prst="rect">
            <a:avLst/>
          </a:prstGeom>
          <a:noFill/>
          <a:ln/>
        </p:spPr>
        <p:txBody>
          <a:bodyPr wrap="square" lIns="0" tIns="0" rIns="0" bIns="0" rtlCol="0" anchor="ctr"/>
          <a:lstStyle/>
          <a:p>
            <a:pPr marL="0" indent="0">
              <a:buNone/>
            </a:pPr>
            <a:r>
              <a:rPr lang="en-US" sz="1200" kern="0" spc="100" dirty="0">
                <a:solidFill>
                  <a:srgbClr val="CADCFC"/>
                </a:solidFill>
                <a:latin typeface="Calibri" pitchFamily="34" charset="0"/>
                <a:ea typeface="Calibri" pitchFamily="34" charset="-122"/>
                <a:cs typeface="Calibri" pitchFamily="34" charset="-120"/>
              </a:rPr>
              <a:t>BM&amp;G MORTGAGE EXAMINATION INTAKE  ·  MVP OVERVIEW</a:t>
            </a:r>
            <a:endParaRPr lang="en-US" sz="1200" dirty="0"/>
          </a:p>
        </p:txBody>
      </p:sp>
      <p:sp>
        <p:nvSpPr>
          <p:cNvPr id="6" name="Text 4"/>
          <p:cNvSpPr txBox="1"/>
          <p:nvPr/>
        </p:nvSpPr>
        <p:spPr>
          <a:xfrm>
            <a:off x="822960" y="6126480"/>
            <a:ext cx="5486400" cy="320040"/>
          </a:xfrm>
          <a:prstGeom prst="rect">
            <a:avLst/>
          </a:prstGeom>
          <a:noFill/>
          <a:ln/>
        </p:spPr>
        <p:txBody>
          <a:bodyPr wrap="square" lIns="0" tIns="0" rIns="0" bIns="0" rtlCol="0" anchor="ctr"/>
          <a:lstStyle/>
          <a:p>
            <a:pPr marL="0" indent="0">
              <a:buNone/>
            </a:pPr>
            <a:r>
              <a:rPr lang="en-US" sz="1100" dirty="0">
                <a:solidFill>
                  <a:srgbClr val="8FA3D6"/>
                </a:solidFill>
                <a:latin typeface="Calibri" pitchFamily="34" charset="0"/>
                <a:ea typeface="Calibri" pitchFamily="34" charset="-122"/>
                <a:cs typeface="Calibri" pitchFamily="34" charset="-120"/>
              </a:rPr>
              <a:t>Prepared for Moder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Whole Journey, at a Glance</a:t>
            </a:r>
            <a:endParaRPr lang="en-US" sz="3000" dirty="0"/>
          </a:p>
        </p:txBody>
      </p:sp>
      <p:sp>
        <p:nvSpPr>
          <p:cNvPr id="3" name="Text 1"/>
          <p:cNvSpPr txBox="1"/>
          <p:nvPr/>
        </p:nvSpPr>
        <p:spPr>
          <a:xfrm>
            <a:off x="640080" y="1115568"/>
            <a:ext cx="10698480" cy="548640"/>
          </a:xfrm>
          <a:prstGeom prst="rect">
            <a:avLst/>
          </a:prstGeom>
          <a:noFill/>
          <a:ln/>
        </p:spPr>
        <p:txBody>
          <a:bodyPr wrap="square" lIns="0" tIns="0" rIns="0" bIns="0" rtlCol="0" anchor="ctr"/>
          <a:lstStyle/>
          <a:p>
            <a:pPr marL="0" indent="0">
              <a:lnSpc>
                <a:spcPct val="120000"/>
              </a:lnSpc>
              <a:buNone/>
            </a:pPr>
            <a:r>
              <a:rPr lang="en-US" sz="1500" dirty="0">
                <a:solidFill>
                  <a:srgbClr val="4A4A57"/>
                </a:solidFill>
                <a:latin typeface="Calibri" pitchFamily="34" charset="0"/>
                <a:ea typeface="Calibri" pitchFamily="34" charset="-122"/>
                <a:cs typeface="Calibri" pitchFamily="34" charset="-120"/>
              </a:rPr>
              <a:t>A lender's documents travel from JetDocs, through a private hand-off into Azure, and land back home as a ready-to-work invoice — with no one manually in the middle.</a:t>
            </a:r>
            <a:endParaRPr lang="en-US" sz="1500" dirty="0"/>
          </a:p>
        </p:txBody>
      </p:sp>
      <p:pic>
        <p:nvPicPr>
          <p:cNvPr id="4" name="Image 0" descr="/tmp/bmg_ppt/bmg_mvp_simple_flow.png"/>
          <p:cNvPicPr>
            <a:picLocks noChangeAspect="1"/>
          </p:cNvPicPr>
          <p:nvPr/>
        </p:nvPicPr>
        <p:blipFill>
          <a:blip r:embed="rId3"/>
          <a:stretch>
            <a:fillRect/>
          </a:stretch>
        </p:blipFill>
        <p:spPr>
          <a:xfrm>
            <a:off x="792328" y="2331720"/>
            <a:ext cx="10607040" cy="1450118"/>
          </a:xfrm>
          <a:prstGeom prst="rect">
            <a:avLst/>
          </a:prstGeom>
        </p:spPr>
      </p:pic>
      <p:sp>
        <p:nvSpPr>
          <p:cNvPr id="5" name="Shape 2"/>
          <p:cNvSpPr/>
          <p:nvPr/>
        </p:nvSpPr>
        <p:spPr>
          <a:xfrm>
            <a:off x="815188" y="4343400"/>
            <a:ext cx="2468880" cy="868680"/>
          </a:xfrm>
          <a:prstGeom prst="roundRect">
            <a:avLst>
              <a:gd name="adj" fmla="val 8421"/>
            </a:avLst>
          </a:prstGeom>
          <a:solidFill>
            <a:srgbClr val="F7F9FC"/>
          </a:solidFill>
          <a:ln/>
          <a:effectLst>
            <a:outerShdw blurRad="76200" dist="25400" dir="5400000" algn="bl" rotWithShape="0">
              <a:srgbClr val="9AA3B2">
                <a:alpha val="25000"/>
              </a:srgbClr>
            </a:outerShdw>
          </a:effectLst>
        </p:spPr>
      </p:sp>
      <p:sp>
        <p:nvSpPr>
          <p:cNvPr id="6" name="Text 3"/>
          <p:cNvSpPr txBox="1"/>
          <p:nvPr/>
        </p:nvSpPr>
        <p:spPr>
          <a:xfrm>
            <a:off x="952348" y="4453128"/>
            <a:ext cx="2194560" cy="685800"/>
          </a:xfrm>
          <a:prstGeom prst="rect">
            <a:avLst/>
          </a:prstGeom>
          <a:noFill/>
          <a:ln/>
        </p:spPr>
        <p:txBody>
          <a:bodyPr wrap="square" lIns="0" tIns="0" rIns="0" bIns="0" rtlCol="0" anchor="t"/>
          <a:lstStyle/>
          <a:p>
            <a:pPr marL="0" indent="0">
              <a:buNone/>
            </a:pPr>
            <a:r>
              <a:rPr lang="en-US" sz="1200" b="1" dirty="0">
                <a:solidFill>
                  <a:srgbClr val="1E2761"/>
                </a:solidFill>
                <a:latin typeface="Calibri" pitchFamily="34" charset="0"/>
                <a:ea typeface="Calibri" pitchFamily="34" charset="-122"/>
                <a:cs typeface="Calibri" pitchFamily="34" charset="-120"/>
              </a:rPr>
              <a:t>1 · On-Premises
</a:t>
            </a:r>
            <a:r>
              <a:rPr lang="en-US" sz="1100" dirty="0">
                <a:solidFill>
                  <a:srgbClr val="4A4A57"/>
                </a:solidFill>
                <a:latin typeface="Calibri" pitchFamily="34" charset="0"/>
                <a:ea typeface="Calibri" pitchFamily="34" charset="-122"/>
                <a:cs typeface="Calibri" pitchFamily="34" charset="-120"/>
              </a:rPr>
              <a:t>Lender submits</a:t>
            </a:r>
            <a:endParaRPr lang="en-US" sz="1200" dirty="0"/>
          </a:p>
        </p:txBody>
      </p:sp>
      <p:sp>
        <p:nvSpPr>
          <p:cNvPr id="7" name="Shape 4"/>
          <p:cNvSpPr/>
          <p:nvPr/>
        </p:nvSpPr>
        <p:spPr>
          <a:xfrm>
            <a:off x="3512668" y="4343400"/>
            <a:ext cx="2468880" cy="868680"/>
          </a:xfrm>
          <a:prstGeom prst="roundRect">
            <a:avLst>
              <a:gd name="adj" fmla="val 8421"/>
            </a:avLst>
          </a:prstGeom>
          <a:solidFill>
            <a:srgbClr val="F7F9FC"/>
          </a:solidFill>
          <a:ln/>
          <a:effectLst>
            <a:outerShdw blurRad="76200" dist="25400" dir="5400000" algn="bl" rotWithShape="0">
              <a:srgbClr val="9AA3B2">
                <a:alpha val="25000"/>
              </a:srgbClr>
            </a:outerShdw>
          </a:effectLst>
        </p:spPr>
      </p:sp>
      <p:sp>
        <p:nvSpPr>
          <p:cNvPr id="8" name="Text 5"/>
          <p:cNvSpPr txBox="1"/>
          <p:nvPr/>
        </p:nvSpPr>
        <p:spPr>
          <a:xfrm>
            <a:off x="3649828" y="4453128"/>
            <a:ext cx="2194560" cy="685800"/>
          </a:xfrm>
          <a:prstGeom prst="rect">
            <a:avLst/>
          </a:prstGeom>
          <a:noFill/>
          <a:ln/>
        </p:spPr>
        <p:txBody>
          <a:bodyPr wrap="square" lIns="0" tIns="0" rIns="0" bIns="0" rtlCol="0" anchor="t"/>
          <a:lstStyle/>
          <a:p>
            <a:pPr marL="0" indent="0">
              <a:buNone/>
            </a:pPr>
            <a:r>
              <a:rPr lang="en-US" sz="1200" b="1" dirty="0">
                <a:solidFill>
                  <a:srgbClr val="1E2761"/>
                </a:solidFill>
                <a:latin typeface="Calibri" pitchFamily="34" charset="0"/>
                <a:ea typeface="Calibri" pitchFamily="34" charset="-122"/>
                <a:cs typeface="Calibri" pitchFamily="34" charset="-120"/>
              </a:rPr>
              <a:t>2 · Hybrid Connectivity
</a:t>
            </a:r>
            <a:r>
              <a:rPr lang="en-US" sz="1100" dirty="0">
                <a:solidFill>
                  <a:srgbClr val="4A4A57"/>
                </a:solidFill>
                <a:latin typeface="Calibri" pitchFamily="34" charset="0"/>
                <a:ea typeface="Calibri" pitchFamily="34" charset="-122"/>
                <a:cs typeface="Calibri" pitchFamily="34" charset="-120"/>
              </a:rPr>
              <a:t>Secure hand-off</a:t>
            </a:r>
            <a:endParaRPr lang="en-US" sz="1200" dirty="0"/>
          </a:p>
        </p:txBody>
      </p:sp>
      <p:sp>
        <p:nvSpPr>
          <p:cNvPr id="9" name="Shape 6"/>
          <p:cNvSpPr/>
          <p:nvPr/>
        </p:nvSpPr>
        <p:spPr>
          <a:xfrm>
            <a:off x="6210148" y="4343400"/>
            <a:ext cx="2468880" cy="868680"/>
          </a:xfrm>
          <a:prstGeom prst="roundRect">
            <a:avLst>
              <a:gd name="adj" fmla="val 8421"/>
            </a:avLst>
          </a:prstGeom>
          <a:solidFill>
            <a:srgbClr val="F7F9FC"/>
          </a:solidFill>
          <a:ln/>
          <a:effectLst>
            <a:outerShdw blurRad="76200" dist="25400" dir="5400000" algn="bl" rotWithShape="0">
              <a:srgbClr val="9AA3B2">
                <a:alpha val="25000"/>
              </a:srgbClr>
            </a:outerShdw>
          </a:effectLst>
        </p:spPr>
      </p:sp>
      <p:sp>
        <p:nvSpPr>
          <p:cNvPr id="10" name="Text 7"/>
          <p:cNvSpPr txBox="1"/>
          <p:nvPr/>
        </p:nvSpPr>
        <p:spPr>
          <a:xfrm>
            <a:off x="6347308" y="4453128"/>
            <a:ext cx="2194560" cy="685800"/>
          </a:xfrm>
          <a:prstGeom prst="rect">
            <a:avLst/>
          </a:prstGeom>
          <a:noFill/>
          <a:ln/>
        </p:spPr>
        <p:txBody>
          <a:bodyPr wrap="square" lIns="0" tIns="0" rIns="0" bIns="0" rtlCol="0" anchor="t"/>
          <a:lstStyle/>
          <a:p>
            <a:pPr marL="0" indent="0">
              <a:buNone/>
            </a:pPr>
            <a:r>
              <a:rPr lang="en-US" sz="1200" b="1" dirty="0">
                <a:solidFill>
                  <a:srgbClr val="1E2761"/>
                </a:solidFill>
                <a:latin typeface="Calibri" pitchFamily="34" charset="0"/>
                <a:ea typeface="Calibri" pitchFamily="34" charset="-122"/>
                <a:cs typeface="Calibri" pitchFamily="34" charset="-120"/>
              </a:rPr>
              <a:t>3 · Azure
</a:t>
            </a:r>
            <a:r>
              <a:rPr lang="en-US" sz="1100" dirty="0">
                <a:solidFill>
                  <a:srgbClr val="4A4A57"/>
                </a:solidFill>
                <a:latin typeface="Calibri" pitchFamily="34" charset="0"/>
                <a:ea typeface="Calibri" pitchFamily="34" charset="-122"/>
                <a:cs typeface="Calibri" pitchFamily="34" charset="-120"/>
              </a:rPr>
              <a:t>Read &amp; organize</a:t>
            </a:r>
            <a:endParaRPr lang="en-US" sz="1200" dirty="0"/>
          </a:p>
        </p:txBody>
      </p:sp>
      <p:sp>
        <p:nvSpPr>
          <p:cNvPr id="11" name="Shape 8"/>
          <p:cNvSpPr/>
          <p:nvPr/>
        </p:nvSpPr>
        <p:spPr>
          <a:xfrm>
            <a:off x="8907628" y="4343400"/>
            <a:ext cx="2468880" cy="868680"/>
          </a:xfrm>
          <a:prstGeom prst="roundRect">
            <a:avLst>
              <a:gd name="adj" fmla="val 8421"/>
            </a:avLst>
          </a:prstGeom>
          <a:solidFill>
            <a:srgbClr val="F7F9FC"/>
          </a:solidFill>
          <a:ln/>
          <a:effectLst>
            <a:outerShdw blurRad="76200" dist="25400" dir="5400000" algn="bl" rotWithShape="0">
              <a:srgbClr val="9AA3B2">
                <a:alpha val="25000"/>
              </a:srgbClr>
            </a:outerShdw>
          </a:effectLst>
        </p:spPr>
      </p:sp>
      <p:sp>
        <p:nvSpPr>
          <p:cNvPr id="12" name="Text 9"/>
          <p:cNvSpPr txBox="1"/>
          <p:nvPr/>
        </p:nvSpPr>
        <p:spPr>
          <a:xfrm>
            <a:off x="9044788" y="4453128"/>
            <a:ext cx="2194560" cy="685800"/>
          </a:xfrm>
          <a:prstGeom prst="rect">
            <a:avLst/>
          </a:prstGeom>
          <a:noFill/>
          <a:ln/>
        </p:spPr>
        <p:txBody>
          <a:bodyPr wrap="square" lIns="0" tIns="0" rIns="0" bIns="0" rtlCol="0" anchor="t"/>
          <a:lstStyle/>
          <a:p>
            <a:pPr marL="0" indent="0">
              <a:buNone/>
            </a:pPr>
            <a:r>
              <a:rPr lang="en-US" sz="1200" b="1" dirty="0">
                <a:solidFill>
                  <a:srgbClr val="1E2761"/>
                </a:solidFill>
                <a:latin typeface="Calibri" pitchFamily="34" charset="0"/>
                <a:ea typeface="Calibri" pitchFamily="34" charset="-122"/>
                <a:cs typeface="Calibri" pitchFamily="34" charset="-120"/>
              </a:rPr>
              <a:t>4 · Back On-Premises
</a:t>
            </a:r>
            <a:r>
              <a:rPr lang="en-US" sz="1100" dirty="0">
                <a:solidFill>
                  <a:srgbClr val="4A4A57"/>
                </a:solidFill>
                <a:latin typeface="Calibri" pitchFamily="34" charset="0"/>
                <a:ea typeface="Calibri" pitchFamily="34" charset="-122"/>
                <a:cs typeface="Calibri" pitchFamily="34" charset="-120"/>
              </a:rPr>
              <a:t>Invoice &amp; file</a:t>
            </a:r>
            <a:endParaRPr lang="en-US" sz="1200" dirty="0"/>
          </a:p>
        </p:txBody>
      </p:sp>
      <p:sp>
        <p:nvSpPr>
          <p:cNvPr id="13" name="Text 10"/>
          <p:cNvSpPr txBox="1"/>
          <p:nvPr/>
        </p:nvSpPr>
        <p:spPr>
          <a:xfrm>
            <a:off x="548640" y="6400800"/>
            <a:ext cx="7315200" cy="320040"/>
          </a:xfrm>
          <a:prstGeom prst="rect">
            <a:avLst/>
          </a:prstGeom>
          <a:noFill/>
          <a:ln/>
        </p:spPr>
        <p:txBody>
          <a:bodyPr wrap="square" lIns="0" tIns="0" rIns="0" bIns="0" rtlCol="0" anchor="ctr"/>
          <a:lstStyle/>
          <a:p>
            <a:pPr marL="0" indent="0">
              <a:buNone/>
            </a:pPr>
            <a:r>
              <a:rPr lang="en-US" sz="1000" dirty="0">
                <a:solidFill>
                  <a:srgbClr val="9AA3B2"/>
                </a:solidFill>
                <a:latin typeface="Calibri" pitchFamily="34" charset="0"/>
                <a:ea typeface="Calibri" pitchFamily="34" charset="-122"/>
                <a:cs typeface="Calibri" pitchFamily="34" charset="-120"/>
              </a:rPr>
              <a:t>BM&amp;G Intake Automation MVP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2631C-7308-1DF9-5FC7-82DE4DF958F5}"/>
              </a:ext>
            </a:extLst>
          </p:cNvPr>
          <p:cNvPicPr>
            <a:picLocks noChangeAspect="1"/>
          </p:cNvPicPr>
          <p:nvPr/>
        </p:nvPicPr>
        <p:blipFill>
          <a:blip r:embed="rId2"/>
          <a:stretch>
            <a:fillRect/>
          </a:stretch>
        </p:blipFill>
        <p:spPr>
          <a:xfrm>
            <a:off x="809897" y="836023"/>
            <a:ext cx="10570861" cy="4781005"/>
          </a:xfrm>
          <a:prstGeom prst="rect">
            <a:avLst/>
          </a:prstGeom>
        </p:spPr>
      </p:pic>
    </p:spTree>
    <p:extLst>
      <p:ext uri="{BB962C8B-B14F-4D97-AF65-F5344CB8AC3E}">
        <p14:creationId xmlns:p14="http://schemas.microsoft.com/office/powerpoint/2010/main" val="22870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69848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Four Stages, One Seamless Hand-off</a:t>
            </a:r>
            <a:endParaRPr lang="en-US" sz="2800" dirty="0"/>
          </a:p>
        </p:txBody>
      </p:sp>
      <p:sp>
        <p:nvSpPr>
          <p:cNvPr id="3" name="Shape 1"/>
          <p:cNvSpPr/>
          <p:nvPr/>
        </p:nvSpPr>
        <p:spPr>
          <a:xfrm>
            <a:off x="640080" y="1344168"/>
            <a:ext cx="621792" cy="621792"/>
          </a:xfrm>
          <a:prstGeom prst="ellipse">
            <a:avLst/>
          </a:prstGeom>
          <a:solidFill>
            <a:srgbClr val="1E2761"/>
          </a:solidFill>
          <a:ln/>
        </p:spPr>
      </p:sp>
      <p:sp>
        <p:nvSpPr>
          <p:cNvPr id="4" name="Text 2"/>
          <p:cNvSpPr txBox="1"/>
          <p:nvPr/>
        </p:nvSpPr>
        <p:spPr>
          <a:xfrm>
            <a:off x="640080" y="1344168"/>
            <a:ext cx="621792"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5" name="Text 3"/>
          <p:cNvSpPr txBox="1"/>
          <p:nvPr/>
        </p:nvSpPr>
        <p:spPr>
          <a:xfrm>
            <a:off x="1508760" y="1234440"/>
            <a:ext cx="9966960" cy="1261872"/>
          </a:xfrm>
          <a:prstGeom prst="rect">
            <a:avLst/>
          </a:prstGeom>
          <a:noFill/>
          <a:ln/>
        </p:spPr>
        <p:txBody>
          <a:bodyPr wrap="square" lIns="0" tIns="0" rIns="0" bIns="0" rtlCol="0" anchor="t"/>
          <a:lstStyle/>
          <a:p>
            <a:pPr marL="0" indent="0">
              <a:lnSpc>
                <a:spcPct val="115000"/>
              </a:lnSpc>
              <a:buNone/>
            </a:pPr>
            <a:r>
              <a:rPr lang="en-US" sz="1500" b="1" dirty="0">
                <a:solidFill>
                  <a:srgbClr val="1E2761"/>
                </a:solidFill>
                <a:latin typeface="Calibri" pitchFamily="34" charset="0"/>
                <a:ea typeface="Calibri" pitchFamily="34" charset="-122"/>
                <a:cs typeface="Calibri" pitchFamily="34" charset="-120"/>
              </a:rPr>
              <a:t>Lender submits, as usual
</a:t>
            </a:r>
            <a:endParaRPr lang="en-US" sz="1500" dirty="0"/>
          </a:p>
          <a:p>
            <a:pPr marL="0" indent="0">
              <a:lnSpc>
                <a:spcPct val="115000"/>
              </a:lnSpc>
              <a:buNone/>
            </a:pPr>
            <a:r>
              <a:rPr lang="en-US" sz="1250" dirty="0">
                <a:solidFill>
                  <a:srgbClr val="4A4A57"/>
                </a:solidFill>
                <a:latin typeface="Calibri" pitchFamily="34" charset="0"/>
                <a:ea typeface="Calibri" pitchFamily="34" charset="-122"/>
                <a:cs typeface="Calibri" pitchFamily="34" charset="-120"/>
              </a:rPr>
              <a:t>A lender uploads documents in JetDocs, exactly like today. The files land in a temporary folder, and our orchestration service notices the new submission right away — nobody has to go looking for it.</a:t>
            </a:r>
            <a:endParaRPr lang="en-US" sz="1500" dirty="0"/>
          </a:p>
        </p:txBody>
      </p:sp>
      <p:sp>
        <p:nvSpPr>
          <p:cNvPr id="6" name="Shape 4"/>
          <p:cNvSpPr/>
          <p:nvPr/>
        </p:nvSpPr>
        <p:spPr>
          <a:xfrm>
            <a:off x="640080" y="2715768"/>
            <a:ext cx="621792" cy="621792"/>
          </a:xfrm>
          <a:prstGeom prst="ellipse">
            <a:avLst/>
          </a:prstGeom>
          <a:solidFill>
            <a:srgbClr val="3B5BA5"/>
          </a:solidFill>
          <a:ln/>
        </p:spPr>
      </p:sp>
      <p:sp>
        <p:nvSpPr>
          <p:cNvPr id="7" name="Text 5"/>
          <p:cNvSpPr txBox="1"/>
          <p:nvPr/>
        </p:nvSpPr>
        <p:spPr>
          <a:xfrm>
            <a:off x="640080" y="2715768"/>
            <a:ext cx="621792"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8" name="Text 6"/>
          <p:cNvSpPr txBox="1"/>
          <p:nvPr/>
        </p:nvSpPr>
        <p:spPr>
          <a:xfrm>
            <a:off x="1508760" y="2606040"/>
            <a:ext cx="9966960" cy="1261872"/>
          </a:xfrm>
          <a:prstGeom prst="rect">
            <a:avLst/>
          </a:prstGeom>
          <a:noFill/>
          <a:ln/>
        </p:spPr>
        <p:txBody>
          <a:bodyPr wrap="square" lIns="0" tIns="0" rIns="0" bIns="0" rtlCol="0" anchor="t"/>
          <a:lstStyle/>
          <a:p>
            <a:pPr marL="0" indent="0">
              <a:lnSpc>
                <a:spcPct val="115000"/>
              </a:lnSpc>
              <a:buNone/>
            </a:pPr>
            <a:r>
              <a:rPr lang="en-US" sz="1500" b="1" dirty="0">
                <a:solidFill>
                  <a:srgbClr val="1E2761"/>
                </a:solidFill>
                <a:latin typeface="Calibri" pitchFamily="34" charset="0"/>
                <a:ea typeface="Calibri" pitchFamily="34" charset="-122"/>
                <a:cs typeface="Calibri" pitchFamily="34" charset="-120"/>
              </a:rPr>
              <a:t>A secure hand-off into Azure
</a:t>
            </a:r>
            <a:endParaRPr lang="en-US" sz="1500" dirty="0"/>
          </a:p>
          <a:p>
            <a:pPr marL="0" indent="0">
              <a:lnSpc>
                <a:spcPct val="115000"/>
              </a:lnSpc>
              <a:buNone/>
            </a:pPr>
            <a:r>
              <a:rPr lang="en-US" sz="1250" dirty="0">
                <a:solidFill>
                  <a:srgbClr val="4A4A57"/>
                </a:solidFill>
                <a:latin typeface="Calibri" pitchFamily="34" charset="0"/>
                <a:ea typeface="Calibri" pitchFamily="34" charset="-122"/>
                <a:cs typeface="Calibri" pitchFamily="34" charset="-120"/>
              </a:rPr>
              <a:t>The documents travel over a private, dedicated connection into Azure — never the open internet — and the service proves who it is before anything is allowed to move.</a:t>
            </a:r>
            <a:endParaRPr lang="en-US" sz="1500" dirty="0"/>
          </a:p>
        </p:txBody>
      </p:sp>
      <p:sp>
        <p:nvSpPr>
          <p:cNvPr id="9" name="Shape 7"/>
          <p:cNvSpPr/>
          <p:nvPr/>
        </p:nvSpPr>
        <p:spPr>
          <a:xfrm>
            <a:off x="640080" y="4087368"/>
            <a:ext cx="621792" cy="621792"/>
          </a:xfrm>
          <a:prstGeom prst="ellipse">
            <a:avLst/>
          </a:prstGeom>
          <a:solidFill>
            <a:srgbClr val="1E2761"/>
          </a:solidFill>
          <a:ln/>
        </p:spPr>
      </p:sp>
      <p:sp>
        <p:nvSpPr>
          <p:cNvPr id="10" name="Text 8"/>
          <p:cNvSpPr txBox="1"/>
          <p:nvPr/>
        </p:nvSpPr>
        <p:spPr>
          <a:xfrm>
            <a:off x="640080" y="4087368"/>
            <a:ext cx="621792"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1" name="Text 9"/>
          <p:cNvSpPr txBox="1"/>
          <p:nvPr/>
        </p:nvSpPr>
        <p:spPr>
          <a:xfrm>
            <a:off x="1508760" y="3977640"/>
            <a:ext cx="9966960" cy="1261872"/>
          </a:xfrm>
          <a:prstGeom prst="rect">
            <a:avLst/>
          </a:prstGeom>
          <a:noFill/>
          <a:ln/>
        </p:spPr>
        <p:txBody>
          <a:bodyPr wrap="square" lIns="0" tIns="0" rIns="0" bIns="0" rtlCol="0" anchor="t"/>
          <a:lstStyle/>
          <a:p>
            <a:pPr marL="0" indent="0">
              <a:lnSpc>
                <a:spcPct val="115000"/>
              </a:lnSpc>
              <a:buNone/>
            </a:pPr>
            <a:r>
              <a:rPr lang="en-US" sz="1500" b="1" dirty="0">
                <a:solidFill>
                  <a:srgbClr val="1E2761"/>
                </a:solidFill>
                <a:latin typeface="Calibri" pitchFamily="34" charset="0"/>
                <a:ea typeface="Calibri" pitchFamily="34" charset="-122"/>
                <a:cs typeface="Calibri" pitchFamily="34" charset="-120"/>
              </a:rPr>
              <a:t>Azure reads and makes sense of it
</a:t>
            </a:r>
            <a:endParaRPr lang="en-US" sz="1500" dirty="0"/>
          </a:p>
          <a:p>
            <a:pPr marL="0" indent="0">
              <a:lnSpc>
                <a:spcPct val="115000"/>
              </a:lnSpc>
              <a:buNone/>
            </a:pPr>
            <a:r>
              <a:rPr lang="en-US" sz="1250" dirty="0">
                <a:solidFill>
                  <a:srgbClr val="4A4A57"/>
                </a:solidFill>
                <a:latin typeface="Calibri" pitchFamily="34" charset="0"/>
                <a:ea typeface="Calibri" pitchFamily="34" charset="-122"/>
                <a:cs typeface="Calibri" pitchFamily="34" charset="-120"/>
              </a:rPr>
              <a:t>Each document is sorted by type (Note, Deed of Trust, Title Commitment, Survey, Closing Instructions), read for its text and layout, and the handful of details needed to raise an invoice are pulled out.</a:t>
            </a:r>
            <a:endParaRPr lang="en-US" sz="1500" dirty="0"/>
          </a:p>
        </p:txBody>
      </p:sp>
      <p:sp>
        <p:nvSpPr>
          <p:cNvPr id="12" name="Shape 10"/>
          <p:cNvSpPr/>
          <p:nvPr/>
        </p:nvSpPr>
        <p:spPr>
          <a:xfrm>
            <a:off x="640080" y="5458968"/>
            <a:ext cx="621792" cy="621792"/>
          </a:xfrm>
          <a:prstGeom prst="ellipse">
            <a:avLst/>
          </a:prstGeom>
          <a:solidFill>
            <a:srgbClr val="3B5BA5"/>
          </a:solidFill>
          <a:ln/>
        </p:spPr>
      </p:sp>
      <p:sp>
        <p:nvSpPr>
          <p:cNvPr id="13" name="Text 11"/>
          <p:cNvSpPr txBox="1"/>
          <p:nvPr/>
        </p:nvSpPr>
        <p:spPr>
          <a:xfrm>
            <a:off x="640080" y="5458968"/>
            <a:ext cx="621792"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4" name="Text 12"/>
          <p:cNvSpPr txBox="1"/>
          <p:nvPr/>
        </p:nvSpPr>
        <p:spPr>
          <a:xfrm>
            <a:off x="1508760" y="5349240"/>
            <a:ext cx="9966960" cy="1261872"/>
          </a:xfrm>
          <a:prstGeom prst="rect">
            <a:avLst/>
          </a:prstGeom>
          <a:noFill/>
          <a:ln/>
        </p:spPr>
        <p:txBody>
          <a:bodyPr wrap="square" lIns="0" tIns="0" rIns="0" bIns="0" rtlCol="0" anchor="t"/>
          <a:lstStyle/>
          <a:p>
            <a:pPr marL="0" indent="0">
              <a:lnSpc>
                <a:spcPct val="115000"/>
              </a:lnSpc>
              <a:buNone/>
            </a:pPr>
            <a:r>
              <a:rPr lang="en-US" sz="1500" b="1" dirty="0">
                <a:solidFill>
                  <a:srgbClr val="1E2761"/>
                </a:solidFill>
                <a:latin typeface="Calibri" pitchFamily="34" charset="0"/>
                <a:ea typeface="Calibri" pitchFamily="34" charset="-122"/>
                <a:cs typeface="Calibri" pitchFamily="34" charset="-120"/>
              </a:rPr>
              <a:t>Invoice created, files delivered home
</a:t>
            </a:r>
            <a:endParaRPr lang="en-US" sz="1500" dirty="0"/>
          </a:p>
          <a:p>
            <a:pPr marL="0" indent="0">
              <a:lnSpc>
                <a:spcPct val="115000"/>
              </a:lnSpc>
              <a:buNone/>
            </a:pPr>
            <a:r>
              <a:rPr lang="en-US" sz="1250" dirty="0">
                <a:solidFill>
                  <a:srgbClr val="4A4A57"/>
                </a:solidFill>
                <a:latin typeface="Calibri" pitchFamily="34" charset="0"/>
                <a:ea typeface="Calibri" pitchFamily="34" charset="-122"/>
                <a:cs typeface="Calibri" pitchFamily="34" charset="-120"/>
              </a:rPr>
              <a:t>With that information in hand, the system creates the transaction in LoanTrack, gets the invoice number, and uploads the original documents into EDM under that number. From here, the existing process carries on unchanged.</a:t>
            </a:r>
            <a:endParaRPr lang="en-US" sz="1500" dirty="0"/>
          </a:p>
        </p:txBody>
      </p:sp>
      <p:sp>
        <p:nvSpPr>
          <p:cNvPr id="15" name="Text 13"/>
          <p:cNvSpPr txBox="1"/>
          <p:nvPr/>
        </p:nvSpPr>
        <p:spPr>
          <a:xfrm>
            <a:off x="548640" y="6400800"/>
            <a:ext cx="7315200" cy="320040"/>
          </a:xfrm>
          <a:prstGeom prst="rect">
            <a:avLst/>
          </a:prstGeom>
          <a:noFill/>
          <a:ln/>
        </p:spPr>
        <p:txBody>
          <a:bodyPr wrap="square" lIns="0" tIns="0" rIns="0" bIns="0" rtlCol="0" anchor="ctr"/>
          <a:lstStyle/>
          <a:p>
            <a:pPr marL="0" indent="0">
              <a:buNone/>
            </a:pPr>
            <a:r>
              <a:rPr lang="en-US" sz="1000" dirty="0">
                <a:solidFill>
                  <a:srgbClr val="9AA3B2"/>
                </a:solidFill>
                <a:latin typeface="Calibri" pitchFamily="34" charset="0"/>
                <a:ea typeface="Calibri" pitchFamily="34" charset="-122"/>
                <a:cs typeface="Calibri" pitchFamily="34" charset="-120"/>
              </a:rPr>
              <a:t>BM&amp;G Intake Automation MVP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69848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It's Worth Doing</a:t>
            </a:r>
            <a:endParaRPr lang="en-US" sz="3000" dirty="0"/>
          </a:p>
        </p:txBody>
      </p:sp>
      <p:sp>
        <p:nvSpPr>
          <p:cNvPr id="3" name="Text 1"/>
          <p:cNvSpPr txBox="1"/>
          <p:nvPr/>
        </p:nvSpPr>
        <p:spPr>
          <a:xfrm>
            <a:off x="640080" y="1115568"/>
            <a:ext cx="10515600" cy="457200"/>
          </a:xfrm>
          <a:prstGeom prst="rect">
            <a:avLst/>
          </a:prstGeom>
          <a:noFill/>
          <a:ln/>
        </p:spPr>
        <p:txBody>
          <a:bodyPr wrap="square" lIns="0" tIns="0" rIns="0" bIns="0" rtlCol="0" anchor="ctr"/>
          <a:lstStyle/>
          <a:p>
            <a:pPr marL="0" indent="0">
              <a:buNone/>
            </a:pPr>
            <a:r>
              <a:rPr lang="en-US" sz="1500" dirty="0">
                <a:solidFill>
                  <a:srgbClr val="4A4A57"/>
                </a:solidFill>
                <a:latin typeface="Calibri" pitchFamily="34" charset="0"/>
                <a:ea typeface="Calibri" pitchFamily="34" charset="-122"/>
                <a:cs typeface="Calibri" pitchFamily="34" charset="-120"/>
              </a:rPr>
              <a:t>Three small shifts that add up to a much smoother start for every submission.</a:t>
            </a:r>
            <a:endParaRPr lang="en-US" sz="1500" dirty="0"/>
          </a:p>
        </p:txBody>
      </p:sp>
      <p:sp>
        <p:nvSpPr>
          <p:cNvPr id="4" name="Shape 2"/>
          <p:cNvSpPr/>
          <p:nvPr/>
        </p:nvSpPr>
        <p:spPr>
          <a:xfrm>
            <a:off x="700888" y="1965960"/>
            <a:ext cx="3383280" cy="3291840"/>
          </a:xfrm>
          <a:prstGeom prst="roundRect">
            <a:avLst>
              <a:gd name="adj" fmla="val 2778"/>
            </a:avLst>
          </a:prstGeom>
          <a:solidFill>
            <a:srgbClr val="FFFFFF"/>
          </a:solidFill>
          <a:ln/>
          <a:effectLst>
            <a:outerShdw blurRad="101600" dist="38100" dir="5400000" algn="bl" rotWithShape="0">
              <a:srgbClr val="9AA3B2">
                <a:alpha val="30000"/>
              </a:srgbClr>
            </a:outerShdw>
          </a:effectLst>
        </p:spPr>
      </p:sp>
      <p:sp>
        <p:nvSpPr>
          <p:cNvPr id="5" name="Shape 3"/>
          <p:cNvSpPr/>
          <p:nvPr/>
        </p:nvSpPr>
        <p:spPr>
          <a:xfrm>
            <a:off x="1020928" y="2286000"/>
            <a:ext cx="548640" cy="548640"/>
          </a:xfrm>
          <a:prstGeom prst="ellipse">
            <a:avLst/>
          </a:prstGeom>
          <a:solidFill>
            <a:srgbClr val="CADCFC"/>
          </a:solidFill>
          <a:ln/>
        </p:spPr>
      </p:sp>
      <p:sp>
        <p:nvSpPr>
          <p:cNvPr id="6" name="Text 4"/>
          <p:cNvSpPr txBox="1"/>
          <p:nvPr/>
        </p:nvSpPr>
        <p:spPr>
          <a:xfrm>
            <a:off x="1020928" y="2286000"/>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1020928" y="3017520"/>
            <a:ext cx="2743200" cy="777240"/>
          </a:xfrm>
          <a:prstGeom prst="rect">
            <a:avLst/>
          </a:prstGeom>
          <a:noFill/>
          <a:ln/>
        </p:spPr>
        <p:txBody>
          <a:bodyPr wrap="square" lIns="0" tIns="0" rIns="0" bIns="0" rtlCol="0" anchor="t"/>
          <a:lstStyle/>
          <a:p>
            <a:pPr marL="0" indent="0">
              <a:lnSpc>
                <a:spcPct val="110000"/>
              </a:lnSpc>
              <a:buNone/>
            </a:pPr>
            <a:r>
              <a:rPr lang="en-US" sz="1600" b="1" dirty="0">
                <a:solidFill>
                  <a:srgbClr val="1E2761"/>
                </a:solidFill>
                <a:latin typeface="Calibri" pitchFamily="34" charset="0"/>
                <a:ea typeface="Calibri" pitchFamily="34" charset="-122"/>
                <a:cs typeface="Calibri" pitchFamily="34" charset="-120"/>
              </a:rPr>
              <a:t>No more manual re-keying</a:t>
            </a:r>
            <a:endParaRPr lang="en-US" sz="1600" dirty="0"/>
          </a:p>
        </p:txBody>
      </p:sp>
      <p:sp>
        <p:nvSpPr>
          <p:cNvPr id="8" name="Text 6"/>
          <p:cNvSpPr txBox="1"/>
          <p:nvPr/>
        </p:nvSpPr>
        <p:spPr>
          <a:xfrm>
            <a:off x="1020928" y="3794760"/>
            <a:ext cx="2743200" cy="1280160"/>
          </a:xfrm>
          <a:prstGeom prst="rect">
            <a:avLst/>
          </a:prstGeom>
          <a:noFill/>
          <a:ln/>
        </p:spPr>
        <p:txBody>
          <a:bodyPr wrap="square" lIns="0" tIns="0" rIns="0" bIns="0" rtlCol="0" anchor="t"/>
          <a:lstStyle/>
          <a:p>
            <a:pPr marL="0" indent="0">
              <a:lnSpc>
                <a:spcPct val="120000"/>
              </a:lnSpc>
              <a:buNone/>
            </a:pPr>
            <a:r>
              <a:rPr lang="en-US" sz="1250" dirty="0">
                <a:solidFill>
                  <a:srgbClr val="4A4A57"/>
                </a:solidFill>
                <a:latin typeface="Calibri" pitchFamily="34" charset="0"/>
                <a:ea typeface="Calibri" pitchFamily="34" charset="-122"/>
                <a:cs typeface="Calibri" pitchFamily="34" charset="-120"/>
              </a:rPr>
              <a:t>Coordinators no longer open every document just to create an invoice number — the metadata is captured automatically.</a:t>
            </a:r>
            <a:endParaRPr lang="en-US" sz="1250" dirty="0"/>
          </a:p>
        </p:txBody>
      </p:sp>
      <p:sp>
        <p:nvSpPr>
          <p:cNvPr id="9" name="Shape 7"/>
          <p:cNvSpPr/>
          <p:nvPr/>
        </p:nvSpPr>
        <p:spPr>
          <a:xfrm>
            <a:off x="4404208" y="1965960"/>
            <a:ext cx="3383280" cy="3291840"/>
          </a:xfrm>
          <a:prstGeom prst="roundRect">
            <a:avLst>
              <a:gd name="adj" fmla="val 2778"/>
            </a:avLst>
          </a:prstGeom>
          <a:solidFill>
            <a:srgbClr val="FFFFFF"/>
          </a:solidFill>
          <a:ln/>
          <a:effectLst>
            <a:outerShdw blurRad="101600" dist="38100" dir="5400000" algn="bl" rotWithShape="0">
              <a:srgbClr val="9AA3B2">
                <a:alpha val="30000"/>
              </a:srgbClr>
            </a:outerShdw>
          </a:effectLst>
        </p:spPr>
      </p:sp>
      <p:sp>
        <p:nvSpPr>
          <p:cNvPr id="10" name="Shape 8"/>
          <p:cNvSpPr/>
          <p:nvPr/>
        </p:nvSpPr>
        <p:spPr>
          <a:xfrm>
            <a:off x="4724248" y="2286000"/>
            <a:ext cx="548640" cy="548640"/>
          </a:xfrm>
          <a:prstGeom prst="ellipse">
            <a:avLst/>
          </a:prstGeom>
          <a:solidFill>
            <a:srgbClr val="CADCFC"/>
          </a:solidFill>
          <a:ln/>
        </p:spPr>
      </p:sp>
      <p:sp>
        <p:nvSpPr>
          <p:cNvPr id="11" name="Text 9"/>
          <p:cNvSpPr txBox="1"/>
          <p:nvPr/>
        </p:nvSpPr>
        <p:spPr>
          <a:xfrm>
            <a:off x="4724248" y="2286000"/>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4724248" y="3017520"/>
            <a:ext cx="2743200" cy="777240"/>
          </a:xfrm>
          <a:prstGeom prst="rect">
            <a:avLst/>
          </a:prstGeom>
          <a:noFill/>
          <a:ln/>
        </p:spPr>
        <p:txBody>
          <a:bodyPr wrap="square" lIns="0" tIns="0" rIns="0" bIns="0" rtlCol="0" anchor="t"/>
          <a:lstStyle/>
          <a:p>
            <a:pPr marL="0" indent="0">
              <a:lnSpc>
                <a:spcPct val="110000"/>
              </a:lnSpc>
              <a:buNone/>
            </a:pPr>
            <a:r>
              <a:rPr lang="en-US" sz="1600" b="1" dirty="0">
                <a:solidFill>
                  <a:srgbClr val="1E2761"/>
                </a:solidFill>
                <a:latin typeface="Calibri" pitchFamily="34" charset="0"/>
                <a:ea typeface="Calibri" pitchFamily="34" charset="-122"/>
                <a:cs typeface="Calibri" pitchFamily="34" charset="-120"/>
              </a:rPr>
              <a:t>Faster, more consistent hand-offs</a:t>
            </a:r>
            <a:endParaRPr lang="en-US" sz="1600" dirty="0"/>
          </a:p>
        </p:txBody>
      </p:sp>
      <p:sp>
        <p:nvSpPr>
          <p:cNvPr id="13" name="Text 11"/>
          <p:cNvSpPr txBox="1"/>
          <p:nvPr/>
        </p:nvSpPr>
        <p:spPr>
          <a:xfrm>
            <a:off x="4724248" y="3794760"/>
            <a:ext cx="2743200" cy="1280160"/>
          </a:xfrm>
          <a:prstGeom prst="rect">
            <a:avLst/>
          </a:prstGeom>
          <a:noFill/>
          <a:ln/>
        </p:spPr>
        <p:txBody>
          <a:bodyPr wrap="square" lIns="0" tIns="0" rIns="0" bIns="0" rtlCol="0" anchor="t"/>
          <a:lstStyle/>
          <a:p>
            <a:pPr marL="0" indent="0">
              <a:lnSpc>
                <a:spcPct val="120000"/>
              </a:lnSpc>
              <a:buNone/>
            </a:pPr>
            <a:r>
              <a:rPr lang="en-US" sz="1250" dirty="0">
                <a:solidFill>
                  <a:srgbClr val="4A4A57"/>
                </a:solidFill>
                <a:latin typeface="Calibri" pitchFamily="34" charset="0"/>
                <a:ea typeface="Calibri" pitchFamily="34" charset="-122"/>
                <a:cs typeface="Calibri" pitchFamily="34" charset="-120"/>
              </a:rPr>
              <a:t>Classification and extraction happen in seconds and the same way every time, instead of depending on who's at the desk.</a:t>
            </a:r>
            <a:endParaRPr lang="en-US" sz="1250" dirty="0"/>
          </a:p>
        </p:txBody>
      </p:sp>
      <p:sp>
        <p:nvSpPr>
          <p:cNvPr id="14" name="Shape 12"/>
          <p:cNvSpPr/>
          <p:nvPr/>
        </p:nvSpPr>
        <p:spPr>
          <a:xfrm>
            <a:off x="8107528" y="1965960"/>
            <a:ext cx="3383280" cy="3291840"/>
          </a:xfrm>
          <a:prstGeom prst="roundRect">
            <a:avLst>
              <a:gd name="adj" fmla="val 2778"/>
            </a:avLst>
          </a:prstGeom>
          <a:solidFill>
            <a:srgbClr val="FFFFFF"/>
          </a:solidFill>
          <a:ln/>
          <a:effectLst>
            <a:outerShdw blurRad="101600" dist="38100" dir="5400000" algn="bl" rotWithShape="0">
              <a:srgbClr val="9AA3B2">
                <a:alpha val="30000"/>
              </a:srgbClr>
            </a:outerShdw>
          </a:effectLst>
        </p:spPr>
      </p:sp>
      <p:sp>
        <p:nvSpPr>
          <p:cNvPr id="15" name="Shape 13"/>
          <p:cNvSpPr/>
          <p:nvPr/>
        </p:nvSpPr>
        <p:spPr>
          <a:xfrm>
            <a:off x="8427568" y="2286000"/>
            <a:ext cx="548640" cy="548640"/>
          </a:xfrm>
          <a:prstGeom prst="ellipse">
            <a:avLst/>
          </a:prstGeom>
          <a:solidFill>
            <a:srgbClr val="CADCFC"/>
          </a:solidFill>
          <a:ln/>
        </p:spPr>
      </p:sp>
      <p:sp>
        <p:nvSpPr>
          <p:cNvPr id="16" name="Text 14"/>
          <p:cNvSpPr txBox="1"/>
          <p:nvPr/>
        </p:nvSpPr>
        <p:spPr>
          <a:xfrm>
            <a:off x="8427568" y="2286000"/>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8427568" y="3017520"/>
            <a:ext cx="2743200" cy="777240"/>
          </a:xfrm>
          <a:prstGeom prst="rect">
            <a:avLst/>
          </a:prstGeom>
          <a:noFill/>
          <a:ln/>
        </p:spPr>
        <p:txBody>
          <a:bodyPr wrap="square" lIns="0" tIns="0" rIns="0" bIns="0" rtlCol="0" anchor="t"/>
          <a:lstStyle/>
          <a:p>
            <a:pPr marL="0" indent="0">
              <a:lnSpc>
                <a:spcPct val="110000"/>
              </a:lnSpc>
              <a:buNone/>
            </a:pPr>
            <a:r>
              <a:rPr lang="en-US" sz="1600" b="1" dirty="0">
                <a:solidFill>
                  <a:srgbClr val="1E2761"/>
                </a:solidFill>
                <a:latin typeface="Calibri" pitchFamily="34" charset="0"/>
                <a:ea typeface="Calibri" pitchFamily="34" charset="-122"/>
                <a:cs typeface="Calibri" pitchFamily="34" charset="-120"/>
              </a:rPr>
              <a:t>Nothing downstream has to change</a:t>
            </a:r>
            <a:endParaRPr lang="en-US" sz="1600" dirty="0"/>
          </a:p>
        </p:txBody>
      </p:sp>
      <p:sp>
        <p:nvSpPr>
          <p:cNvPr id="18" name="Text 16"/>
          <p:cNvSpPr txBox="1"/>
          <p:nvPr/>
        </p:nvSpPr>
        <p:spPr>
          <a:xfrm>
            <a:off x="8427568" y="3794760"/>
            <a:ext cx="2743200" cy="1280160"/>
          </a:xfrm>
          <a:prstGeom prst="rect">
            <a:avLst/>
          </a:prstGeom>
          <a:noFill/>
          <a:ln/>
        </p:spPr>
        <p:txBody>
          <a:bodyPr wrap="square" lIns="0" tIns="0" rIns="0" bIns="0" rtlCol="0" anchor="t"/>
          <a:lstStyle/>
          <a:p>
            <a:pPr marL="0" indent="0">
              <a:lnSpc>
                <a:spcPct val="120000"/>
              </a:lnSpc>
              <a:buNone/>
            </a:pPr>
            <a:r>
              <a:rPr lang="en-US" sz="1250" dirty="0">
                <a:solidFill>
                  <a:srgbClr val="4A4A57"/>
                </a:solidFill>
                <a:latin typeface="Calibri" pitchFamily="34" charset="0"/>
                <a:ea typeface="Calibri" pitchFamily="34" charset="-122"/>
                <a:cs typeface="Calibri" pitchFamily="34" charset="-120"/>
              </a:rPr>
              <a:t>ClosingExpress, SecureDocs, and the MS Access queue keep working exactly as they do today — this simply feeds them faster.</a:t>
            </a:r>
            <a:endParaRPr lang="en-US" sz="1250" dirty="0"/>
          </a:p>
        </p:txBody>
      </p:sp>
      <p:sp>
        <p:nvSpPr>
          <p:cNvPr id="19" name="Text 17"/>
          <p:cNvSpPr txBox="1"/>
          <p:nvPr/>
        </p:nvSpPr>
        <p:spPr>
          <a:xfrm>
            <a:off x="548640" y="6400800"/>
            <a:ext cx="7315200" cy="320040"/>
          </a:xfrm>
          <a:prstGeom prst="rect">
            <a:avLst/>
          </a:prstGeom>
          <a:noFill/>
          <a:ln/>
        </p:spPr>
        <p:txBody>
          <a:bodyPr wrap="square" lIns="0" tIns="0" rIns="0" bIns="0" rtlCol="0" anchor="ctr"/>
          <a:lstStyle/>
          <a:p>
            <a:pPr marL="0" indent="0">
              <a:buNone/>
            </a:pPr>
            <a:r>
              <a:rPr lang="en-US" sz="1000" dirty="0">
                <a:solidFill>
                  <a:srgbClr val="9AA3B2"/>
                </a:solidFill>
                <a:latin typeface="Calibri" pitchFamily="34" charset="0"/>
                <a:ea typeface="Calibri" pitchFamily="34" charset="-122"/>
                <a:cs typeface="Calibri" pitchFamily="34" charset="-120"/>
              </a:rPr>
              <a:t>BM&amp;G Intake Automation MVP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822960" y="2286000"/>
            <a:ext cx="10515600" cy="1645920"/>
          </a:xfrm>
          <a:prstGeom prst="rect">
            <a:avLst/>
          </a:prstGeom>
          <a:noFill/>
          <a:ln/>
        </p:spPr>
        <p:txBody>
          <a:bodyPr wrap="square" lIns="0" tIns="0" rIns="0" bIns="0" rtlCol="0" anchor="ctr"/>
          <a:lstStyle/>
          <a:p>
            <a:pPr marL="0" indent="0">
              <a:lnSpc>
                <a:spcPct val="120000"/>
              </a:lnSpc>
              <a:buNone/>
            </a:pPr>
            <a:r>
              <a:rPr lang="en-US" sz="3200" b="1" dirty="0">
                <a:solidFill>
                  <a:srgbClr val="FFFFFF"/>
                </a:solidFill>
                <a:latin typeface="Cambria" pitchFamily="34" charset="0"/>
                <a:ea typeface="Cambria" pitchFamily="34" charset="-122"/>
                <a:cs typeface="Cambria" pitchFamily="34" charset="-120"/>
              </a:rPr>
              <a:t>Same Trusted Process Downstream —</a:t>
            </a:r>
            <a:endParaRPr lang="en-US" sz="3200" dirty="0"/>
          </a:p>
          <a:p>
            <a:pPr marL="0" indent="0">
              <a:lnSpc>
                <a:spcPct val="120000"/>
              </a:lnSpc>
              <a:buNone/>
            </a:pPr>
            <a:r>
              <a:rPr lang="en-US" sz="3200" b="1" dirty="0">
                <a:solidFill>
                  <a:srgbClr val="FFFFFF"/>
                </a:solidFill>
                <a:latin typeface="Cambria" pitchFamily="34" charset="0"/>
                <a:ea typeface="Cambria" pitchFamily="34" charset="-122"/>
                <a:cs typeface="Cambria" pitchFamily="34" charset="-120"/>
              </a:rPr>
              <a:t>Just a Faster Front Door</a:t>
            </a:r>
            <a:endParaRPr lang="en-US" sz="3200" dirty="0"/>
          </a:p>
        </p:txBody>
      </p:sp>
      <p:sp>
        <p:nvSpPr>
          <p:cNvPr id="3" name="Text 1"/>
          <p:cNvSpPr txBox="1"/>
          <p:nvPr/>
        </p:nvSpPr>
        <p:spPr>
          <a:xfrm>
            <a:off x="822960" y="3977640"/>
            <a:ext cx="9875520" cy="914400"/>
          </a:xfrm>
          <a:prstGeom prst="rect">
            <a:avLst/>
          </a:prstGeom>
          <a:noFill/>
          <a:ln/>
        </p:spPr>
        <p:txBody>
          <a:bodyPr wrap="square" lIns="0" tIns="0" rIns="0" bIns="0" rtlCol="0" anchor="ctr"/>
          <a:lstStyle/>
          <a:p>
            <a:pPr marL="0" indent="0">
              <a:lnSpc>
                <a:spcPct val="130000"/>
              </a:lnSpc>
              <a:buNone/>
            </a:pPr>
            <a:r>
              <a:rPr lang="en-US" sz="1600" dirty="0">
                <a:solidFill>
                  <a:srgbClr val="CADCFC"/>
                </a:solidFill>
                <a:latin typeface="Calibri" pitchFamily="34" charset="0"/>
                <a:ea typeface="Calibri" pitchFamily="34" charset="-122"/>
                <a:cs typeface="Calibri" pitchFamily="34" charset="-120"/>
              </a:rPr>
              <a:t>The MVP stops right after the EDM upload. Everything the team does today —</a:t>
            </a:r>
            <a:endParaRPr lang="en-US" sz="1600" dirty="0"/>
          </a:p>
          <a:p>
            <a:pPr marL="0" indent="0">
              <a:lnSpc>
                <a:spcPct val="130000"/>
              </a:lnSpc>
              <a:buNone/>
            </a:pPr>
            <a:r>
              <a:rPr lang="en-US" sz="1600" dirty="0">
                <a:solidFill>
                  <a:srgbClr val="CADCFC"/>
                </a:solidFill>
                <a:latin typeface="Calibri" pitchFamily="34" charset="0"/>
                <a:ea typeface="Calibri" pitchFamily="34" charset="-122"/>
                <a:cs typeface="Calibri" pitchFamily="34" charset="-120"/>
              </a:rPr>
              <a:t>queueing, examination, and release — continues exactly as it always has.</a:t>
            </a:r>
            <a:endParaRPr lang="en-US" sz="1600" dirty="0"/>
          </a:p>
        </p:txBody>
      </p:sp>
      <p:sp>
        <p:nvSpPr>
          <p:cNvPr id="4" name="Shape 2"/>
          <p:cNvSpPr/>
          <p:nvPr/>
        </p:nvSpPr>
        <p:spPr>
          <a:xfrm>
            <a:off x="822960" y="1371600"/>
            <a:ext cx="128016" cy="128016"/>
          </a:xfrm>
          <a:prstGeom prst="ellipse">
            <a:avLst/>
          </a:prstGeom>
          <a:solidFill>
            <a:srgbClr val="CADCFC"/>
          </a:solidFill>
          <a:ln/>
        </p:spPr>
      </p:sp>
      <p:sp>
        <p:nvSpPr>
          <p:cNvPr id="5" name="Text 3"/>
          <p:cNvSpPr txBox="1"/>
          <p:nvPr/>
        </p:nvSpPr>
        <p:spPr>
          <a:xfrm>
            <a:off x="1097280" y="1298448"/>
            <a:ext cx="7315200" cy="274320"/>
          </a:xfrm>
          <a:prstGeom prst="rect">
            <a:avLst/>
          </a:prstGeom>
          <a:noFill/>
          <a:ln/>
        </p:spPr>
        <p:txBody>
          <a:bodyPr wrap="square" lIns="0" tIns="0" rIns="0" bIns="0" rtlCol="0" anchor="ctr"/>
          <a:lstStyle/>
          <a:p>
            <a:pPr marL="0" indent="0">
              <a:buNone/>
            </a:pPr>
            <a:r>
              <a:rPr lang="en-US" sz="1200" kern="0" spc="100" dirty="0">
                <a:solidFill>
                  <a:srgbClr val="CADCFC"/>
                </a:solidFill>
                <a:latin typeface="Calibri" pitchFamily="34" charset="0"/>
                <a:ea typeface="Calibri" pitchFamily="34" charset="-122"/>
                <a:cs typeface="Calibri" pitchFamily="34" charset="-120"/>
              </a:rPr>
              <a:t>QUESTIONS &amp; DISCUSSION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461</Words>
  <Application>Microsoft Office PowerPoint</Application>
  <PresentationFormat>Widescreen</PresentationFormat>
  <Paragraphs>48</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Shruthi Thallani</cp:lastModifiedBy>
  <cp:revision>1</cp:revision>
  <dcterms:created xsi:type="dcterms:W3CDTF">2026-09-02T05:33:38Z</dcterms:created>
  <dcterms:modified xsi:type="dcterms:W3CDTF">2026-09-07T15:22:25Z</dcterms:modified>
</cp:coreProperties>
</file>