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21"/>
  </p:notesMasterIdLst>
  <p:handoutMasterIdLst>
    <p:handoutMasterId r:id="rId22"/>
  </p:handoutMasterIdLst>
  <p:sldIdLst>
    <p:sldId id="396" r:id="rId3"/>
    <p:sldId id="2147483403" r:id="rId4"/>
    <p:sldId id="2147483405" r:id="rId5"/>
    <p:sldId id="2147483404" r:id="rId6"/>
    <p:sldId id="2147483406" r:id="rId7"/>
    <p:sldId id="2147483407" r:id="rId8"/>
    <p:sldId id="2147483393" r:id="rId9"/>
    <p:sldId id="2147483408" r:id="rId10"/>
    <p:sldId id="2147483409" r:id="rId11"/>
    <p:sldId id="2147483410" r:id="rId12"/>
    <p:sldId id="2147483412" r:id="rId13"/>
    <p:sldId id="2147483413" r:id="rId14"/>
    <p:sldId id="2147483414" r:id="rId15"/>
    <p:sldId id="2147483399" r:id="rId16"/>
    <p:sldId id="2147481800" r:id="rId17"/>
    <p:sldId id="2147483415" r:id="rId18"/>
    <p:sldId id="2147483411" r:id="rId19"/>
    <p:sldId id="214748341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E5A912-E889-C198-35E1-604D822DDE0B}" name="Rekha Menon" initials="RM" userId="S::rekha.menon@gomoder.com::ba45a8d8-4a43-4d82-a6ba-480bac13d5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B4F0"/>
    <a:srgbClr val="FFFFFF"/>
    <a:srgbClr val="024854"/>
    <a:srgbClr val="CBCFD1"/>
    <a:srgbClr val="6DBAEF"/>
    <a:srgbClr val="212121"/>
    <a:srgbClr val="00B8BB"/>
    <a:srgbClr val="E5F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28238E-07E6-47AC-B2A0-348FF88DECDD}" v="36" dt="2026-06-09T15:54:53.0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76" y="5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7431BC-A2F7-6671-AF35-6BB62C0FE9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3A3122D-70B0-9CDA-4244-32B1C90E8D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8A21E5-D530-4EB1-B5B8-3D0D863C1B41}" type="datetimeFigureOut">
              <a:rPr lang="en-IN" smtClean="0"/>
              <a:t>10-06-2026</a:t>
            </a:fld>
            <a:endParaRPr lang="en-IN"/>
          </a:p>
        </p:txBody>
      </p:sp>
      <p:sp>
        <p:nvSpPr>
          <p:cNvPr id="4" name="Footer Placeholder 3">
            <a:extLst>
              <a:ext uri="{FF2B5EF4-FFF2-40B4-BE49-F238E27FC236}">
                <a16:creationId xmlns:a16="http://schemas.microsoft.com/office/drawing/2014/main" id="{E1479D80-B6F5-2851-FE15-653D194B7A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5A082FA-B6B9-B99E-4A90-519AA6ABA7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F9393E-B19A-438C-A84D-B6C91B18E917}" type="slidenum">
              <a:rPr lang="en-IN" smtClean="0"/>
              <a:t>‹#›</a:t>
            </a:fld>
            <a:endParaRPr lang="en-IN"/>
          </a:p>
        </p:txBody>
      </p:sp>
    </p:spTree>
    <p:extLst>
      <p:ext uri="{BB962C8B-B14F-4D97-AF65-F5344CB8AC3E}">
        <p14:creationId xmlns:p14="http://schemas.microsoft.com/office/powerpoint/2010/main" val="10301451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20148-4929-4E2D-A305-EEEA4B292340}" type="datetimeFigureOut">
              <a:rPr lang="en-IN" smtClean="0"/>
              <a:t>10-06-2026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3AE200-D045-487F-81AA-CABD74E823C8}" type="slidenum">
              <a:rPr lang="en-IN" smtClean="0"/>
              <a:t>‹#›</a:t>
            </a:fld>
            <a:endParaRPr lang="en-IN"/>
          </a:p>
        </p:txBody>
      </p:sp>
    </p:spTree>
    <p:extLst>
      <p:ext uri="{BB962C8B-B14F-4D97-AF65-F5344CB8AC3E}">
        <p14:creationId xmlns:p14="http://schemas.microsoft.com/office/powerpoint/2010/main" val="2802027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834DAD-DF98-44E2-A25C-0E8DEB5DEE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99468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16.svg"/><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Cover 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28CB7B4-0CDC-88CD-3EE2-01CA599F789E}"/>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Title 1"/>
          <p:cNvSpPr>
            <a:spLocks noGrp="1"/>
          </p:cNvSpPr>
          <p:nvPr>
            <p:ph type="ctrTitle" hasCustomPrompt="1"/>
          </p:nvPr>
        </p:nvSpPr>
        <p:spPr>
          <a:xfrm>
            <a:off x="665333" y="1386840"/>
            <a:ext cx="5161700" cy="2614342"/>
          </a:xfrm>
          <a:prstGeom prst="rect">
            <a:avLst/>
          </a:prstGeom>
        </p:spPr>
        <p:txBody>
          <a:bodyPr lIns="0" tIns="0" rIns="0" bIns="0" anchor="b" anchorCtr="0">
            <a:noAutofit/>
          </a:bodyPr>
          <a:lstStyle>
            <a:lvl1pPr algn="l">
              <a:lnSpc>
                <a:spcPct val="90000"/>
              </a:lnSpc>
              <a:defRPr sz="6000" b="0" cap="none" spc="-150" baseline="0">
                <a:solidFill>
                  <a:schemeClr val="bg2"/>
                </a:solidFill>
                <a:latin typeface="Proto Grotesk Light" panose="020B0604020202020204" charset="0"/>
              </a:defRPr>
            </a:lvl1pPr>
          </a:lstStyle>
          <a:p>
            <a:r>
              <a:rPr lang="en-US"/>
              <a:t>cover slide 1</a:t>
            </a:r>
          </a:p>
        </p:txBody>
      </p:sp>
      <p:sp>
        <p:nvSpPr>
          <p:cNvPr id="105" name="Subtitle 2"/>
          <p:cNvSpPr>
            <a:spLocks noGrp="1"/>
          </p:cNvSpPr>
          <p:nvPr>
            <p:ph type="subTitle" idx="1" hasCustomPrompt="1"/>
          </p:nvPr>
        </p:nvSpPr>
        <p:spPr>
          <a:xfrm>
            <a:off x="665333" y="4285015"/>
            <a:ext cx="5161700" cy="439384"/>
          </a:xfrm>
          <a:prstGeom prst="rect">
            <a:avLst/>
          </a:prstGeom>
        </p:spPr>
        <p:txBody>
          <a:bodyPr lIns="0" tIns="0" rIns="0" bIns="0">
            <a:noAutofit/>
          </a:bodyPr>
          <a:lstStyle>
            <a:lvl1pPr marL="0" indent="0" algn="l">
              <a:lnSpc>
                <a:spcPct val="100000"/>
              </a:lnSpc>
              <a:spcBef>
                <a:spcPts val="0"/>
              </a:spcBef>
              <a:spcAft>
                <a:spcPts val="300"/>
              </a:spcAft>
              <a:buNone/>
              <a:defRPr sz="1800">
                <a:solidFill>
                  <a:schemeClr val="bg2"/>
                </a:solidFill>
                <a:latin typeface="+mn-lt"/>
              </a:defRPr>
            </a:lvl1pPr>
            <a:lvl2pPr marL="342884" indent="0" algn="ctr">
              <a:buNone/>
              <a:defRPr sz="1500"/>
            </a:lvl2pPr>
            <a:lvl3pPr marL="685766" indent="0" algn="ctr">
              <a:buNone/>
              <a:defRPr sz="1350"/>
            </a:lvl3pPr>
            <a:lvl4pPr marL="1028649" indent="0" algn="ctr">
              <a:buNone/>
              <a:defRPr sz="1200"/>
            </a:lvl4pPr>
            <a:lvl5pPr marL="1371532" indent="0" algn="ctr">
              <a:buNone/>
              <a:defRPr sz="1200"/>
            </a:lvl5pPr>
            <a:lvl6pPr marL="1714415" indent="0" algn="ctr">
              <a:buNone/>
              <a:defRPr sz="1200"/>
            </a:lvl6pPr>
            <a:lvl7pPr marL="2057297" indent="0" algn="ctr">
              <a:buNone/>
              <a:defRPr sz="1200"/>
            </a:lvl7pPr>
            <a:lvl8pPr marL="2400180" indent="0" algn="ctr">
              <a:buNone/>
              <a:defRPr sz="1200"/>
            </a:lvl8pPr>
            <a:lvl9pPr marL="2743064" indent="0" algn="ctr">
              <a:buNone/>
              <a:defRPr sz="1200"/>
            </a:lvl9pPr>
          </a:lstStyle>
          <a:p>
            <a:r>
              <a:rPr lang="en-US"/>
              <a:t>Subtitle</a:t>
            </a:r>
          </a:p>
        </p:txBody>
      </p:sp>
      <p:pic>
        <p:nvPicPr>
          <p:cNvPr id="57" name="Graphic 56">
            <a:extLst>
              <a:ext uri="{FF2B5EF4-FFF2-40B4-BE49-F238E27FC236}">
                <a16:creationId xmlns:a16="http://schemas.microsoft.com/office/drawing/2014/main" id="{A73AE6EF-9224-03CB-2A72-AF07486208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65333" y="583777"/>
            <a:ext cx="1840252" cy="492925"/>
          </a:xfrm>
          <a:prstGeom prst="rect">
            <a:avLst/>
          </a:prstGeom>
        </p:spPr>
      </p:pic>
      <p:sp>
        <p:nvSpPr>
          <p:cNvPr id="58" name="TextBox 57">
            <a:extLst>
              <a:ext uri="{FF2B5EF4-FFF2-40B4-BE49-F238E27FC236}">
                <a16:creationId xmlns:a16="http://schemas.microsoft.com/office/drawing/2014/main" id="{E8075AB4-AFAE-1374-9C8F-60F36D95E805}"/>
              </a:ext>
            </a:extLst>
          </p:cNvPr>
          <p:cNvSpPr txBox="1"/>
          <p:nvPr userDrawn="1"/>
        </p:nvSpPr>
        <p:spPr>
          <a:xfrm>
            <a:off x="11451456" y="6200775"/>
            <a:ext cx="435742" cy="571500"/>
          </a:xfrm>
          <a:prstGeom prst="rect">
            <a:avLst/>
          </a:prstGeom>
          <a:noFill/>
        </p:spPr>
        <p:txBody>
          <a:bodyPr wrap="square" lIns="0" tIns="0" rIns="0" bIns="0" rtlCol="0" anchor="ctr" anchorCtr="0">
            <a:noAutofit/>
          </a:bodyPr>
          <a:lstStyle/>
          <a:p>
            <a:pPr algn="r"/>
            <a:fld id="{996B5273-46EB-4870-A6B0-6E7F43CBD6D0}" type="slidenum">
              <a:rPr lang="en-US" sz="1100" smtClean="0">
                <a:solidFill>
                  <a:schemeClr val="bg1"/>
                </a:solidFill>
              </a:rPr>
              <a:pPr algn="r"/>
              <a:t>‹#›</a:t>
            </a:fld>
            <a:endParaRPr lang="en-US" sz="1800">
              <a:solidFill>
                <a:schemeClr val="bg1"/>
              </a:solidFill>
            </a:endParaRPr>
          </a:p>
        </p:txBody>
      </p:sp>
      <p:cxnSp>
        <p:nvCxnSpPr>
          <p:cNvPr id="60" name="Straight Connector 59">
            <a:extLst>
              <a:ext uri="{FF2B5EF4-FFF2-40B4-BE49-F238E27FC236}">
                <a16:creationId xmlns:a16="http://schemas.microsoft.com/office/drawing/2014/main" id="{CA304669-A349-9681-5FF2-AEEB3BA02DF6}"/>
              </a:ext>
            </a:extLst>
          </p:cNvPr>
          <p:cNvCxnSpPr>
            <a:cxnSpLocks/>
          </p:cNvCxnSpPr>
          <p:nvPr userDrawn="1"/>
        </p:nvCxnSpPr>
        <p:spPr>
          <a:xfrm>
            <a:off x="665333" y="4157663"/>
            <a:ext cx="117633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1FAEB0F8-FBD7-54F4-59CD-3336E50C380A}"/>
              </a:ext>
            </a:extLst>
          </p:cNvPr>
          <p:cNvSpPr txBox="1"/>
          <p:nvPr userDrawn="1"/>
        </p:nvSpPr>
        <p:spPr>
          <a:xfrm>
            <a:off x="665333" y="6200775"/>
            <a:ext cx="3566160" cy="571500"/>
          </a:xfrm>
          <a:prstGeom prst="rect">
            <a:avLst/>
          </a:prstGeom>
          <a:noFill/>
        </p:spPr>
        <p:txBody>
          <a:bodyPr wrap="square" lIns="0" tIns="0" rIns="0" bIns="0" rtlCol="0" anchor="ctr" anchorCtr="0">
            <a:noAutofit/>
          </a:bodyPr>
          <a:lstStyle/>
          <a:p>
            <a:pPr algn="l"/>
            <a:r>
              <a:rPr lang="en-US" sz="800">
                <a:solidFill>
                  <a:schemeClr val="bg2"/>
                </a:solidFill>
              </a:rPr>
              <a:t>Copyright 2026. Confidential and Proprietary Content. All Rights Reserved.</a:t>
            </a:r>
            <a:endParaRPr lang="en-US" sz="1200">
              <a:solidFill>
                <a:schemeClr val="bg2"/>
              </a:solidFill>
            </a:endParaRPr>
          </a:p>
        </p:txBody>
      </p:sp>
      <p:pic>
        <p:nvPicPr>
          <p:cNvPr id="7" name="Graphic 6">
            <a:extLst>
              <a:ext uri="{FF2B5EF4-FFF2-40B4-BE49-F238E27FC236}">
                <a16:creationId xmlns:a16="http://schemas.microsoft.com/office/drawing/2014/main" id="{61ED402B-4CAA-B021-62CB-41CF84DBF8F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65333" y="5558970"/>
            <a:ext cx="451302" cy="477953"/>
          </a:xfrm>
          <a:prstGeom prst="rect">
            <a:avLst/>
          </a:prstGeom>
        </p:spPr>
      </p:pic>
      <p:pic>
        <p:nvPicPr>
          <p:cNvPr id="12" name="Graphic 11">
            <a:extLst>
              <a:ext uri="{FF2B5EF4-FFF2-40B4-BE49-F238E27FC236}">
                <a16:creationId xmlns:a16="http://schemas.microsoft.com/office/drawing/2014/main" id="{413C1EB8-670C-4CFF-F75D-E318955A626F}"/>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a:fillRect/>
          </a:stretch>
        </p:blipFill>
        <p:spPr>
          <a:xfrm rot="17701905">
            <a:off x="3045969" y="-156579"/>
            <a:ext cx="12320034" cy="4571278"/>
          </a:xfrm>
          <a:custGeom>
            <a:avLst/>
            <a:gdLst>
              <a:gd name="connsiteX0" fmla="*/ 7430471 w 12320034"/>
              <a:gd name="connsiteY0" fmla="*/ 0 h 4571278"/>
              <a:gd name="connsiteX1" fmla="*/ 9565177 w 12320034"/>
              <a:gd name="connsiteY1" fmla="*/ 4571278 h 4571278"/>
              <a:gd name="connsiteX2" fmla="*/ 2008214 w 12320034"/>
              <a:gd name="connsiteY2" fmla="*/ 4571278 h 4571278"/>
              <a:gd name="connsiteX3" fmla="*/ 0 w 12320034"/>
              <a:gd name="connsiteY3" fmla="*/ 270874 h 4571278"/>
              <a:gd name="connsiteX4" fmla="*/ 0 w 12320034"/>
              <a:gd name="connsiteY4" fmla="*/ 0 h 4571278"/>
              <a:gd name="connsiteX5" fmla="*/ 12320034 w 12320034"/>
              <a:gd name="connsiteY5" fmla="*/ 1 h 4571278"/>
              <a:gd name="connsiteX6" fmla="*/ 12320034 w 12320034"/>
              <a:gd name="connsiteY6" fmla="*/ 5 h 4571278"/>
              <a:gd name="connsiteX7" fmla="*/ 12320032 w 12320034"/>
              <a:gd name="connsiteY7" fmla="*/ 0 h 4571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20034" h="4571278">
                <a:moveTo>
                  <a:pt x="7430471" y="0"/>
                </a:moveTo>
                <a:lnTo>
                  <a:pt x="9565177" y="4571278"/>
                </a:lnTo>
                <a:lnTo>
                  <a:pt x="2008214" y="4571278"/>
                </a:lnTo>
                <a:lnTo>
                  <a:pt x="0" y="270874"/>
                </a:lnTo>
                <a:lnTo>
                  <a:pt x="0" y="0"/>
                </a:lnTo>
                <a:close/>
                <a:moveTo>
                  <a:pt x="12320034" y="1"/>
                </a:moveTo>
                <a:lnTo>
                  <a:pt x="12320034" y="5"/>
                </a:lnTo>
                <a:lnTo>
                  <a:pt x="12320032" y="0"/>
                </a:lnTo>
                <a:close/>
              </a:path>
            </a:pathLst>
          </a:custGeom>
        </p:spPr>
      </p:pic>
    </p:spTree>
    <p:extLst>
      <p:ext uri="{BB962C8B-B14F-4D97-AF65-F5344CB8AC3E}">
        <p14:creationId xmlns:p14="http://schemas.microsoft.com/office/powerpoint/2010/main" val="3362230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81317-9F05-4B15-B0D6-EDD0963662DA}"/>
              </a:ext>
            </a:extLst>
          </p:cNvPr>
          <p:cNvSpPr>
            <a:spLocks noGrp="1"/>
          </p:cNvSpPr>
          <p:nvPr>
            <p:ph type="title" hasCustomPrompt="1"/>
          </p:nvPr>
        </p:nvSpPr>
        <p:spPr>
          <a:xfrm>
            <a:off x="304801" y="304833"/>
            <a:ext cx="11582398" cy="477203"/>
          </a:xfrm>
        </p:spPr>
        <p:txBody>
          <a:bodyPr anchor="b" anchorCtr="0"/>
          <a:lstStyle>
            <a:lvl1pPr>
              <a:lnSpc>
                <a:spcPct val="100000"/>
              </a:lnSpc>
              <a:defRPr sz="3200" b="0">
                <a:solidFill>
                  <a:schemeClr val="tx2"/>
                </a:solidFill>
                <a:latin typeface="Proto Grotesk Light" panose="020B0604020202020204" charset="0"/>
              </a:defRPr>
            </a:lvl1pPr>
          </a:lstStyle>
          <a:p>
            <a:r>
              <a:rPr lang="en-US"/>
              <a:t>Click to edit master title style</a:t>
            </a:r>
          </a:p>
        </p:txBody>
      </p:sp>
      <p:sp>
        <p:nvSpPr>
          <p:cNvPr id="15" name="Text Placeholder 11">
            <a:extLst>
              <a:ext uri="{FF2B5EF4-FFF2-40B4-BE49-F238E27FC236}">
                <a16:creationId xmlns:a16="http://schemas.microsoft.com/office/drawing/2014/main" id="{56D48281-4D97-E5A5-A17F-597DA95D0BD2}"/>
              </a:ext>
            </a:extLst>
          </p:cNvPr>
          <p:cNvSpPr>
            <a:spLocks noGrp="1"/>
          </p:cNvSpPr>
          <p:nvPr>
            <p:ph type="body" sz="quarter" idx="11" hasCustomPrompt="1"/>
          </p:nvPr>
        </p:nvSpPr>
        <p:spPr>
          <a:xfrm>
            <a:off x="304801" y="1002787"/>
            <a:ext cx="11582398" cy="294640"/>
          </a:xfrm>
        </p:spPr>
        <p:txBody>
          <a:bodyPr anchor="t" anchorCtr="0"/>
          <a:lstStyle>
            <a:lvl1pPr marL="0" indent="0">
              <a:spcBef>
                <a:spcPts val="900"/>
              </a:spcBef>
              <a:spcAft>
                <a:spcPts val="0"/>
              </a:spcAft>
              <a:buFont typeface="Arial" panose="020B0604020202020204" pitchFamily="34" charset="0"/>
              <a:buNone/>
              <a:defRPr sz="1800" b="0">
                <a:solidFill>
                  <a:schemeClr val="bg1">
                    <a:lumMod val="50000"/>
                  </a:schemeClr>
                </a:solidFill>
                <a:latin typeface="+mj-lt"/>
              </a:defRPr>
            </a:lvl1pPr>
            <a:lvl2pPr marL="0" indent="0">
              <a:buClr>
                <a:schemeClr val="bg2"/>
              </a:buClr>
              <a:buNone/>
              <a:defRPr sz="1500">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Edit Master text styles</a:t>
            </a:r>
          </a:p>
        </p:txBody>
      </p:sp>
      <p:pic>
        <p:nvPicPr>
          <p:cNvPr id="4" name="Graphic 3">
            <a:extLst>
              <a:ext uri="{FF2B5EF4-FFF2-40B4-BE49-F238E27FC236}">
                <a16:creationId xmlns:a16="http://schemas.microsoft.com/office/drawing/2014/main" id="{EFD5B50E-3371-0E67-BE05-56D55202C7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0" y="6360966"/>
            <a:ext cx="717550" cy="192201"/>
          </a:xfrm>
          <a:prstGeom prst="rect">
            <a:avLst/>
          </a:prstGeom>
        </p:spPr>
      </p:pic>
      <p:cxnSp>
        <p:nvCxnSpPr>
          <p:cNvPr id="7" name="Straight Connector 6">
            <a:extLst>
              <a:ext uri="{FF2B5EF4-FFF2-40B4-BE49-F238E27FC236}">
                <a16:creationId xmlns:a16="http://schemas.microsoft.com/office/drawing/2014/main" id="{D3587BE9-48AA-7938-FC82-00B6261E498A}"/>
              </a:ext>
            </a:extLst>
          </p:cNvPr>
          <p:cNvCxnSpPr>
            <a:cxnSpLocks/>
          </p:cNvCxnSpPr>
          <p:nvPr userDrawn="1"/>
        </p:nvCxnSpPr>
        <p:spPr>
          <a:xfrm>
            <a:off x="304801" y="892411"/>
            <a:ext cx="115812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7BE098B1-7AEC-B9A6-676A-83BFC5AC36DD}"/>
              </a:ext>
            </a:extLst>
          </p:cNvPr>
          <p:cNvPicPr>
            <a:picLocks noChangeAspect="1"/>
          </p:cNvPicPr>
          <p:nvPr userDrawn="1"/>
        </p:nvPicPr>
        <p:blipFill>
          <a:blip r:embed="rId4">
            <a:extLst>
              <a:ext uri="{96DAC541-7B7A-43D3-8B79-37D633B846F1}">
                <asvg:svgBlip xmlns:asvg="http://schemas.microsoft.com/office/drawing/2016/SVG/main" r:embed="rId5"/>
              </a:ext>
            </a:extLst>
          </a:blip>
          <a:srcRect l="8376" r="30730" b="70983"/>
          <a:stretch>
            <a:fillRect/>
          </a:stretch>
        </p:blipFill>
        <p:spPr>
          <a:xfrm>
            <a:off x="0" y="6313341"/>
            <a:ext cx="9006841" cy="544659"/>
          </a:xfrm>
          <a:custGeom>
            <a:avLst/>
            <a:gdLst>
              <a:gd name="connsiteX0" fmla="*/ 0 w 9006841"/>
              <a:gd name="connsiteY0" fmla="*/ 0 h 544659"/>
              <a:gd name="connsiteX1" fmla="*/ 9006841 w 9006841"/>
              <a:gd name="connsiteY1" fmla="*/ 0 h 544659"/>
              <a:gd name="connsiteX2" fmla="*/ 9006841 w 9006841"/>
              <a:gd name="connsiteY2" fmla="*/ 544659 h 544659"/>
              <a:gd name="connsiteX3" fmla="*/ 0 w 9006841"/>
              <a:gd name="connsiteY3" fmla="*/ 544659 h 544659"/>
            </a:gdLst>
            <a:ahLst/>
            <a:cxnLst>
              <a:cxn ang="0">
                <a:pos x="connsiteX0" y="connsiteY0"/>
              </a:cxn>
              <a:cxn ang="0">
                <a:pos x="connsiteX1" y="connsiteY1"/>
              </a:cxn>
              <a:cxn ang="0">
                <a:pos x="connsiteX2" y="connsiteY2"/>
              </a:cxn>
              <a:cxn ang="0">
                <a:pos x="connsiteX3" y="connsiteY3"/>
              </a:cxn>
            </a:cxnLst>
            <a:rect l="l" t="t" r="r" b="b"/>
            <a:pathLst>
              <a:path w="9006841" h="544659">
                <a:moveTo>
                  <a:pt x="0" y="0"/>
                </a:moveTo>
                <a:lnTo>
                  <a:pt x="9006841" y="0"/>
                </a:lnTo>
                <a:lnTo>
                  <a:pt x="9006841" y="544659"/>
                </a:lnTo>
                <a:lnTo>
                  <a:pt x="0" y="544659"/>
                </a:lnTo>
                <a:close/>
              </a:path>
            </a:pathLst>
          </a:custGeom>
        </p:spPr>
      </p:pic>
    </p:spTree>
    <p:extLst>
      <p:ext uri="{BB962C8B-B14F-4D97-AF65-F5344CB8AC3E}">
        <p14:creationId xmlns:p14="http://schemas.microsoft.com/office/powerpoint/2010/main" val="147798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1/3 Dark Layout">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515764-B6E8-1D2F-1186-6C263A914601}"/>
              </a:ext>
            </a:extLst>
          </p:cNvPr>
          <p:cNvSpPr/>
          <p:nvPr userDrawn="1"/>
        </p:nvSpPr>
        <p:spPr>
          <a:xfrm>
            <a:off x="-1" y="0"/>
            <a:ext cx="436345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7DA6570A-DEB6-9534-31EE-72CD993649A8}"/>
              </a:ext>
            </a:extLst>
          </p:cNvPr>
          <p:cNvSpPr/>
          <p:nvPr userDrawn="1"/>
        </p:nvSpPr>
        <p:spPr>
          <a:xfrm>
            <a:off x="4304299" y="0"/>
            <a:ext cx="788770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52DE6125-71A7-044E-D494-141E7001938B}"/>
              </a:ext>
            </a:extLst>
          </p:cNvPr>
          <p:cNvSpPr/>
          <p:nvPr userDrawn="1"/>
        </p:nvSpPr>
        <p:spPr>
          <a:xfrm>
            <a:off x="4363453" y="0"/>
            <a:ext cx="782854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C780C77-98E2-7A99-934D-05DB16900109}"/>
              </a:ext>
            </a:extLst>
          </p:cNvPr>
          <p:cNvSpPr txBox="1"/>
          <p:nvPr userDrawn="1"/>
        </p:nvSpPr>
        <p:spPr>
          <a:xfrm>
            <a:off x="11451456" y="6200775"/>
            <a:ext cx="435742" cy="571500"/>
          </a:xfrm>
          <a:prstGeom prst="rect">
            <a:avLst/>
          </a:prstGeom>
          <a:noFill/>
        </p:spPr>
        <p:txBody>
          <a:bodyPr wrap="square" lIns="0" tIns="0" rIns="0" bIns="0" rtlCol="0" anchor="ctr" anchorCtr="0">
            <a:noAutofit/>
          </a:bodyPr>
          <a:lstStyle/>
          <a:p>
            <a:pPr algn="r"/>
            <a:fld id="{996B5273-46EB-4870-A6B0-6E7F43CBD6D0}" type="slidenum">
              <a:rPr lang="en-US" sz="1100" smtClean="0">
                <a:solidFill>
                  <a:schemeClr val="tx2"/>
                </a:solidFill>
              </a:rPr>
              <a:pPr algn="r"/>
              <a:t>‹#›</a:t>
            </a:fld>
            <a:endParaRPr lang="en-US" sz="1800">
              <a:solidFill>
                <a:schemeClr val="tx2"/>
              </a:solidFill>
            </a:endParaRPr>
          </a:p>
        </p:txBody>
      </p:sp>
      <p:sp>
        <p:nvSpPr>
          <p:cNvPr id="5" name="TextBox 4">
            <a:extLst>
              <a:ext uri="{FF2B5EF4-FFF2-40B4-BE49-F238E27FC236}">
                <a16:creationId xmlns:a16="http://schemas.microsoft.com/office/drawing/2014/main" id="{EB2AFCE6-BAC1-42AE-9253-4B4E6A2842B4}"/>
              </a:ext>
            </a:extLst>
          </p:cNvPr>
          <p:cNvSpPr txBox="1"/>
          <p:nvPr userDrawn="1"/>
        </p:nvSpPr>
        <p:spPr>
          <a:xfrm>
            <a:off x="7887702" y="6200775"/>
            <a:ext cx="3566160" cy="571500"/>
          </a:xfrm>
          <a:prstGeom prst="rect">
            <a:avLst/>
          </a:prstGeom>
          <a:noFill/>
        </p:spPr>
        <p:txBody>
          <a:bodyPr wrap="square" lIns="0" tIns="0" rIns="0" bIns="0" rtlCol="0" anchor="ctr" anchorCtr="0">
            <a:noAutofit/>
          </a:bodyPr>
          <a:lstStyle/>
          <a:p>
            <a:pPr algn="r"/>
            <a:r>
              <a:rPr lang="en-US" sz="800">
                <a:solidFill>
                  <a:schemeClr val="tx2"/>
                </a:solidFill>
              </a:rPr>
              <a:t>Copyright 2026. Confidential and Proprietary Content. All Rights Reserved.</a:t>
            </a:r>
            <a:endParaRPr lang="en-US" sz="1200">
              <a:solidFill>
                <a:schemeClr val="tx2"/>
              </a:solidFill>
            </a:endParaRPr>
          </a:p>
        </p:txBody>
      </p:sp>
      <p:pic>
        <p:nvPicPr>
          <p:cNvPr id="11" name="Graphic 10">
            <a:extLst>
              <a:ext uri="{FF2B5EF4-FFF2-40B4-BE49-F238E27FC236}">
                <a16:creationId xmlns:a16="http://schemas.microsoft.com/office/drawing/2014/main" id="{995180ED-FFC4-491A-13E1-E80DD16B06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0" y="6360966"/>
            <a:ext cx="717550" cy="192201"/>
          </a:xfrm>
          <a:prstGeom prst="rect">
            <a:avLst/>
          </a:prstGeom>
        </p:spPr>
      </p:pic>
      <p:pic>
        <p:nvPicPr>
          <p:cNvPr id="4" name="Picture 3">
            <a:extLst>
              <a:ext uri="{FF2B5EF4-FFF2-40B4-BE49-F238E27FC236}">
                <a16:creationId xmlns:a16="http://schemas.microsoft.com/office/drawing/2014/main" id="{ADE25467-DE4B-CBBA-DBEC-4DB6F670D978}"/>
              </a:ext>
            </a:extLst>
          </p:cNvPr>
          <p:cNvPicPr>
            <a:picLocks noChangeAspect="1"/>
          </p:cNvPicPr>
          <p:nvPr userDrawn="1"/>
        </p:nvPicPr>
        <p:blipFill>
          <a:blip r:embed="rId4"/>
          <a:srcRect t="13294" r="60255" b="30220"/>
          <a:stretch>
            <a:fillRect/>
          </a:stretch>
        </p:blipFill>
        <p:spPr>
          <a:xfrm>
            <a:off x="0" y="0"/>
            <a:ext cx="4304299" cy="2664447"/>
          </a:xfrm>
          <a:prstGeom prst="rect">
            <a:avLst/>
          </a:prstGeom>
        </p:spPr>
      </p:pic>
      <p:pic>
        <p:nvPicPr>
          <p:cNvPr id="7" name="Picture 6">
            <a:extLst>
              <a:ext uri="{FF2B5EF4-FFF2-40B4-BE49-F238E27FC236}">
                <a16:creationId xmlns:a16="http://schemas.microsoft.com/office/drawing/2014/main" id="{2811A564-BBD1-A64A-CB0A-2AB69221F03D}"/>
              </a:ext>
            </a:extLst>
          </p:cNvPr>
          <p:cNvPicPr>
            <a:picLocks noChangeAspect="1"/>
          </p:cNvPicPr>
          <p:nvPr userDrawn="1"/>
        </p:nvPicPr>
        <p:blipFill>
          <a:blip r:embed="rId5"/>
          <a:srcRect l="13441" t="14391" r="55377" b="57562"/>
          <a:stretch>
            <a:fillRect/>
          </a:stretch>
        </p:blipFill>
        <p:spPr>
          <a:xfrm>
            <a:off x="11129554" y="0"/>
            <a:ext cx="1121600" cy="1123406"/>
          </a:xfrm>
          <a:prstGeom prst="rect">
            <a:avLst/>
          </a:prstGeom>
        </p:spPr>
      </p:pic>
    </p:spTree>
    <p:extLst>
      <p:ext uri="{BB962C8B-B14F-4D97-AF65-F5344CB8AC3E}">
        <p14:creationId xmlns:p14="http://schemas.microsoft.com/office/powerpoint/2010/main" val="3892351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Dark Bk - Pink">
    <p:bg>
      <p:bgPr>
        <a:solidFill>
          <a:schemeClr val="tx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FD5B50E-3371-0E67-BE05-56D55202C7F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0" y="6360966"/>
            <a:ext cx="717550" cy="192201"/>
          </a:xfrm>
          <a:prstGeom prst="rect">
            <a:avLst/>
          </a:prstGeom>
        </p:spPr>
      </p:pic>
      <p:sp>
        <p:nvSpPr>
          <p:cNvPr id="3" name="TextBox 2">
            <a:extLst>
              <a:ext uri="{FF2B5EF4-FFF2-40B4-BE49-F238E27FC236}">
                <a16:creationId xmlns:a16="http://schemas.microsoft.com/office/drawing/2014/main" id="{8C780C77-98E2-7A99-934D-05DB16900109}"/>
              </a:ext>
            </a:extLst>
          </p:cNvPr>
          <p:cNvSpPr txBox="1"/>
          <p:nvPr userDrawn="1"/>
        </p:nvSpPr>
        <p:spPr>
          <a:xfrm>
            <a:off x="11451456" y="6200775"/>
            <a:ext cx="435742" cy="571500"/>
          </a:xfrm>
          <a:prstGeom prst="rect">
            <a:avLst/>
          </a:prstGeom>
          <a:noFill/>
        </p:spPr>
        <p:txBody>
          <a:bodyPr wrap="square" lIns="0" tIns="0" rIns="0" bIns="0" rtlCol="0" anchor="ctr" anchorCtr="0">
            <a:noAutofit/>
          </a:bodyPr>
          <a:lstStyle/>
          <a:p>
            <a:pPr algn="r"/>
            <a:fld id="{996B5273-46EB-4870-A6B0-6E7F43CBD6D0}" type="slidenum">
              <a:rPr lang="en-US" sz="1100" smtClean="0">
                <a:solidFill>
                  <a:schemeClr val="bg2"/>
                </a:solidFill>
              </a:rPr>
              <a:pPr algn="r"/>
              <a:t>‹#›</a:t>
            </a:fld>
            <a:endParaRPr lang="en-US" sz="1800">
              <a:solidFill>
                <a:schemeClr val="bg2"/>
              </a:solidFill>
            </a:endParaRPr>
          </a:p>
        </p:txBody>
      </p:sp>
      <p:sp>
        <p:nvSpPr>
          <p:cNvPr id="5" name="TextBox 4">
            <a:extLst>
              <a:ext uri="{FF2B5EF4-FFF2-40B4-BE49-F238E27FC236}">
                <a16:creationId xmlns:a16="http://schemas.microsoft.com/office/drawing/2014/main" id="{EB2AFCE6-BAC1-42AE-9253-4B4E6A2842B4}"/>
              </a:ext>
            </a:extLst>
          </p:cNvPr>
          <p:cNvSpPr txBox="1"/>
          <p:nvPr userDrawn="1"/>
        </p:nvSpPr>
        <p:spPr>
          <a:xfrm>
            <a:off x="7887702" y="6200775"/>
            <a:ext cx="3566160" cy="571500"/>
          </a:xfrm>
          <a:prstGeom prst="rect">
            <a:avLst/>
          </a:prstGeom>
          <a:noFill/>
        </p:spPr>
        <p:txBody>
          <a:bodyPr wrap="square" lIns="0" tIns="0" rIns="0" bIns="0" rtlCol="0" anchor="ctr" anchorCtr="0">
            <a:noAutofit/>
          </a:bodyPr>
          <a:lstStyle/>
          <a:p>
            <a:pPr algn="r"/>
            <a:r>
              <a:rPr lang="en-US" sz="800">
                <a:solidFill>
                  <a:schemeClr val="bg2"/>
                </a:solidFill>
              </a:rPr>
              <a:t>Copyright 2026. Confidential and Proprietary Content. All Rights Reserved.</a:t>
            </a:r>
            <a:endParaRPr lang="en-US" sz="1200">
              <a:solidFill>
                <a:schemeClr val="bg2"/>
              </a:solidFill>
            </a:endParaRPr>
          </a:p>
        </p:txBody>
      </p:sp>
      <p:pic>
        <p:nvPicPr>
          <p:cNvPr id="13" name="Graphic 12">
            <a:extLst>
              <a:ext uri="{FF2B5EF4-FFF2-40B4-BE49-F238E27FC236}">
                <a16:creationId xmlns:a16="http://schemas.microsoft.com/office/drawing/2014/main" id="{6E1B4B14-DB53-85A4-3C17-C38846517803}"/>
              </a:ext>
            </a:extLst>
          </p:cNvPr>
          <p:cNvPicPr>
            <a:picLocks noChangeAspect="1"/>
          </p:cNvPicPr>
          <p:nvPr userDrawn="1"/>
        </p:nvPicPr>
        <p:blipFill>
          <a:blip r:embed="rId4">
            <a:extLst>
              <a:ext uri="{96DAC541-7B7A-43D3-8B79-37D633B846F1}">
                <asvg:svgBlip xmlns:asvg="http://schemas.microsoft.com/office/drawing/2016/SVG/main" r:embed="rId5"/>
              </a:ext>
            </a:extLst>
          </a:blip>
          <a:srcRect l="16606" r="24990"/>
          <a:stretch>
            <a:fillRect/>
          </a:stretch>
        </p:blipFill>
        <p:spPr>
          <a:xfrm rot="18303403">
            <a:off x="3711615" y="1259450"/>
            <a:ext cx="10588064" cy="5944085"/>
          </a:xfrm>
          <a:custGeom>
            <a:avLst/>
            <a:gdLst>
              <a:gd name="connsiteX0" fmla="*/ 8377883 w 10588064"/>
              <a:gd name="connsiteY0" fmla="*/ 0 h 5944085"/>
              <a:gd name="connsiteX1" fmla="*/ 10588064 w 10588064"/>
              <a:gd name="connsiteY1" fmla="*/ 3149825 h 5944085"/>
              <a:gd name="connsiteX2" fmla="*/ 6605843 w 10588064"/>
              <a:gd name="connsiteY2" fmla="*/ 5944085 h 5944085"/>
              <a:gd name="connsiteX3" fmla="*/ 4170868 w 10588064"/>
              <a:gd name="connsiteY3" fmla="*/ 5944085 h 5944085"/>
              <a:gd name="connsiteX4" fmla="*/ 0 w 10588064"/>
              <a:gd name="connsiteY4" fmla="*/ 1 h 5944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88064" h="5944085">
                <a:moveTo>
                  <a:pt x="8377883" y="0"/>
                </a:moveTo>
                <a:lnTo>
                  <a:pt x="10588064" y="3149825"/>
                </a:lnTo>
                <a:lnTo>
                  <a:pt x="6605843" y="5944085"/>
                </a:lnTo>
                <a:lnTo>
                  <a:pt x="4170868" y="5944085"/>
                </a:lnTo>
                <a:lnTo>
                  <a:pt x="0" y="1"/>
                </a:lnTo>
                <a:close/>
              </a:path>
            </a:pathLst>
          </a:custGeom>
        </p:spPr>
      </p:pic>
      <p:pic>
        <p:nvPicPr>
          <p:cNvPr id="8" name="Graphic 7">
            <a:extLst>
              <a:ext uri="{FF2B5EF4-FFF2-40B4-BE49-F238E27FC236}">
                <a16:creationId xmlns:a16="http://schemas.microsoft.com/office/drawing/2014/main" id="{35D6A593-8ED2-F889-0331-A6788D35C97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04800" y="2161699"/>
            <a:ext cx="595086" cy="630228"/>
          </a:xfrm>
          <a:prstGeom prst="rect">
            <a:avLst/>
          </a:prstGeom>
        </p:spPr>
      </p:pic>
      <p:sp>
        <p:nvSpPr>
          <p:cNvPr id="9" name="TextBox 8">
            <a:extLst>
              <a:ext uri="{FF2B5EF4-FFF2-40B4-BE49-F238E27FC236}">
                <a16:creationId xmlns:a16="http://schemas.microsoft.com/office/drawing/2014/main" id="{1E2FC626-35AE-4A81-A6F7-0F0E1AE1E72E}"/>
              </a:ext>
            </a:extLst>
          </p:cNvPr>
          <p:cNvSpPr txBox="1"/>
          <p:nvPr userDrawn="1"/>
        </p:nvSpPr>
        <p:spPr>
          <a:xfrm>
            <a:off x="304800" y="4577951"/>
            <a:ext cx="2621280" cy="333829"/>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a:solidFill>
                  <a:srgbClr val="FFFFFF"/>
                </a:solidFill>
                <a:effectLst/>
                <a:latin typeface="Proto Grotesk Light" panose="020B0604020202020204" charset="0"/>
              </a:rPr>
              <a:t>Rethink what’s possible</a:t>
            </a:r>
            <a:endParaRPr lang="en-IN" sz="1800" b="0" i="0">
              <a:solidFill>
                <a:srgbClr val="282828"/>
              </a:solidFill>
              <a:effectLst/>
              <a:latin typeface="Proto Grotesk Light" panose="020B0604020202020204" charset="0"/>
            </a:endParaRPr>
          </a:p>
        </p:txBody>
      </p:sp>
      <p:sp>
        <p:nvSpPr>
          <p:cNvPr id="17" name="Title 3">
            <a:extLst>
              <a:ext uri="{FF2B5EF4-FFF2-40B4-BE49-F238E27FC236}">
                <a16:creationId xmlns:a16="http://schemas.microsoft.com/office/drawing/2014/main" id="{3980F63E-114E-0B3A-D765-8D45FF45FDF2}"/>
              </a:ext>
            </a:extLst>
          </p:cNvPr>
          <p:cNvSpPr>
            <a:spLocks noGrp="1"/>
          </p:cNvSpPr>
          <p:nvPr>
            <p:ph type="title" hasCustomPrompt="1"/>
          </p:nvPr>
        </p:nvSpPr>
        <p:spPr>
          <a:xfrm>
            <a:off x="304800" y="3239420"/>
            <a:ext cx="5486399" cy="809013"/>
          </a:xfrm>
        </p:spPr>
        <p:txBody>
          <a:bodyPr anchor="b"/>
          <a:lstStyle>
            <a:lvl1pPr algn="l" defTabSz="914400" rtl="0" eaLnBrk="1" latinLnBrk="0" hangingPunct="1">
              <a:lnSpc>
                <a:spcPct val="100000"/>
              </a:lnSpc>
              <a:spcBef>
                <a:spcPct val="0"/>
              </a:spcBef>
              <a:buNone/>
              <a:defRPr lang="en-IN" sz="6600" b="0" kern="1200" cap="none" baseline="0" dirty="0">
                <a:solidFill>
                  <a:schemeClr val="accent1"/>
                </a:solidFill>
                <a:latin typeface="Proto Grotesk Light" panose="020B0604020202020204" charset="0"/>
                <a:ea typeface="+mj-ea"/>
                <a:cs typeface="+mj-cs"/>
              </a:defRPr>
            </a:lvl1pPr>
          </a:lstStyle>
          <a:p>
            <a:r>
              <a:rPr lang="en-US"/>
              <a:t>Thank You</a:t>
            </a:r>
            <a:endParaRPr lang="en-IN"/>
          </a:p>
        </p:txBody>
      </p:sp>
      <p:cxnSp>
        <p:nvCxnSpPr>
          <p:cNvPr id="18" name="Straight Connector 17">
            <a:extLst>
              <a:ext uri="{FF2B5EF4-FFF2-40B4-BE49-F238E27FC236}">
                <a16:creationId xmlns:a16="http://schemas.microsoft.com/office/drawing/2014/main" id="{2B09C2AD-1611-67E1-AE37-3CFB25106FB4}"/>
              </a:ext>
            </a:extLst>
          </p:cNvPr>
          <p:cNvCxnSpPr>
            <a:cxnSpLocks/>
          </p:cNvCxnSpPr>
          <p:nvPr userDrawn="1"/>
        </p:nvCxnSpPr>
        <p:spPr>
          <a:xfrm>
            <a:off x="304801" y="4313192"/>
            <a:ext cx="1396999"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8763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799" y="266699"/>
            <a:ext cx="11582401" cy="792843"/>
          </a:xfrm>
          <a:prstGeom prst="rect">
            <a:avLst/>
          </a:prstGeom>
        </p:spPr>
        <p:txBody>
          <a:bodyPr vert="horz" lIns="0" tIns="0" rIns="0" bIns="0" rtlCol="0" anchor="ctr" anchorCtr="0">
            <a:noAutofit/>
          </a:bodyPr>
          <a:lstStyle/>
          <a:p>
            <a:r>
              <a:rPr lang="en-US"/>
              <a:t>click to edit master title style </a:t>
            </a:r>
          </a:p>
        </p:txBody>
      </p:sp>
      <p:sp>
        <p:nvSpPr>
          <p:cNvPr id="4" name="Text Placeholder 3">
            <a:extLst>
              <a:ext uri="{FF2B5EF4-FFF2-40B4-BE49-F238E27FC236}">
                <a16:creationId xmlns:a16="http://schemas.microsoft.com/office/drawing/2014/main" id="{64EA8DB1-B4DD-4F3D-9CAB-994462C51D17}"/>
              </a:ext>
            </a:extLst>
          </p:cNvPr>
          <p:cNvSpPr>
            <a:spLocks noGrp="1"/>
          </p:cNvSpPr>
          <p:nvPr>
            <p:ph type="body" idx="1"/>
          </p:nvPr>
        </p:nvSpPr>
        <p:spPr>
          <a:xfrm>
            <a:off x="304800" y="1219200"/>
            <a:ext cx="11582398" cy="4412343"/>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D641B0E-CDE6-4F1D-B3A5-7CEDD4AA3405}"/>
              </a:ext>
            </a:extLst>
          </p:cNvPr>
          <p:cNvSpPr>
            <a:spLocks noGrp="1"/>
          </p:cNvSpPr>
          <p:nvPr>
            <p:ph type="ftr" sz="quarter" idx="3"/>
          </p:nvPr>
        </p:nvSpPr>
        <p:spPr>
          <a:xfrm>
            <a:off x="304796" y="5768975"/>
            <a:ext cx="11582408" cy="365125"/>
          </a:xfrm>
          <a:prstGeom prst="rect">
            <a:avLst/>
          </a:prstGeom>
        </p:spPr>
        <p:txBody>
          <a:bodyPr vert="horz" lIns="0" tIns="0" rIns="0" bIns="0" rtlCol="0" anchor="b"/>
          <a:lstStyle>
            <a:lvl1pPr algn="l">
              <a:defRPr sz="1000">
                <a:solidFill>
                  <a:schemeClr val="tx2">
                    <a:lumMod val="60000"/>
                    <a:lumOff val="40000"/>
                  </a:schemeClr>
                </a:solidFill>
              </a:defRPr>
            </a:lvl1pPr>
          </a:lstStyle>
          <a:p>
            <a:endParaRPr lang="en-US"/>
          </a:p>
        </p:txBody>
      </p:sp>
      <p:pic>
        <p:nvPicPr>
          <p:cNvPr id="9" name="Graphic 8">
            <a:extLst>
              <a:ext uri="{FF2B5EF4-FFF2-40B4-BE49-F238E27FC236}">
                <a16:creationId xmlns:a16="http://schemas.microsoft.com/office/drawing/2014/main" id="{9DB58D54-62BA-3048-C199-63276A9DAE0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04800" y="6360966"/>
            <a:ext cx="717550" cy="192201"/>
          </a:xfrm>
          <a:prstGeom prst="rect">
            <a:avLst/>
          </a:prstGeom>
        </p:spPr>
      </p:pic>
      <p:sp>
        <p:nvSpPr>
          <p:cNvPr id="10" name="TextBox 9">
            <a:extLst>
              <a:ext uri="{FF2B5EF4-FFF2-40B4-BE49-F238E27FC236}">
                <a16:creationId xmlns:a16="http://schemas.microsoft.com/office/drawing/2014/main" id="{6205EFCA-9F1A-BA6D-727E-2263C79944EA}"/>
              </a:ext>
            </a:extLst>
          </p:cNvPr>
          <p:cNvSpPr txBox="1"/>
          <p:nvPr userDrawn="1"/>
        </p:nvSpPr>
        <p:spPr>
          <a:xfrm>
            <a:off x="11451456" y="6200775"/>
            <a:ext cx="435742" cy="571500"/>
          </a:xfrm>
          <a:prstGeom prst="rect">
            <a:avLst/>
          </a:prstGeom>
          <a:noFill/>
        </p:spPr>
        <p:txBody>
          <a:bodyPr wrap="square" lIns="0" tIns="0" rIns="0" bIns="0" rtlCol="0" anchor="ctr" anchorCtr="0">
            <a:noAutofit/>
          </a:bodyPr>
          <a:lstStyle/>
          <a:p>
            <a:pPr algn="r"/>
            <a:fld id="{996B5273-46EB-4870-A6B0-6E7F43CBD6D0}" type="slidenum">
              <a:rPr lang="en-US" sz="1100" smtClean="0">
                <a:solidFill>
                  <a:schemeClr val="tx2"/>
                </a:solidFill>
              </a:rPr>
              <a:pPr algn="r"/>
              <a:t>‹#›</a:t>
            </a:fld>
            <a:endParaRPr lang="en-US" sz="1800">
              <a:solidFill>
                <a:schemeClr val="tx2"/>
              </a:solidFill>
            </a:endParaRPr>
          </a:p>
        </p:txBody>
      </p:sp>
      <p:sp>
        <p:nvSpPr>
          <p:cNvPr id="8" name="TextBox 7">
            <a:extLst>
              <a:ext uri="{FF2B5EF4-FFF2-40B4-BE49-F238E27FC236}">
                <a16:creationId xmlns:a16="http://schemas.microsoft.com/office/drawing/2014/main" id="{85A7D176-92CE-EFF3-ADAF-A5C9EC68517C}"/>
              </a:ext>
            </a:extLst>
          </p:cNvPr>
          <p:cNvSpPr txBox="1"/>
          <p:nvPr userDrawn="1"/>
        </p:nvSpPr>
        <p:spPr>
          <a:xfrm>
            <a:off x="7887702" y="6200775"/>
            <a:ext cx="3566160" cy="571500"/>
          </a:xfrm>
          <a:prstGeom prst="rect">
            <a:avLst/>
          </a:prstGeom>
          <a:noFill/>
        </p:spPr>
        <p:txBody>
          <a:bodyPr wrap="square" lIns="0" tIns="0" rIns="0" bIns="0" rtlCol="0" anchor="ctr" anchorCtr="0">
            <a:noAutofit/>
          </a:bodyPr>
          <a:lstStyle/>
          <a:p>
            <a:pPr algn="r"/>
            <a:r>
              <a:rPr lang="en-US" sz="800">
                <a:solidFill>
                  <a:schemeClr val="tx2"/>
                </a:solidFill>
              </a:rPr>
              <a:t>Copyright 2026. Confidential and Proprietary Content. All Rights Reserved.</a:t>
            </a:r>
            <a:endParaRPr lang="en-US" sz="1200">
              <a:solidFill>
                <a:schemeClr val="tx2"/>
              </a:solidFill>
            </a:endParaRPr>
          </a:p>
        </p:txBody>
      </p:sp>
    </p:spTree>
    <p:extLst>
      <p:ext uri="{BB962C8B-B14F-4D97-AF65-F5344CB8AC3E}">
        <p14:creationId xmlns:p14="http://schemas.microsoft.com/office/powerpoint/2010/main" val="4208934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Lst>
  <p:hf sldNum="0" hdr="0" ftr="0" dt="0"/>
  <p:txStyles>
    <p:titleStyle>
      <a:lvl1pPr algn="l" defTabSz="914400" rtl="0" eaLnBrk="1" latinLnBrk="0" hangingPunct="1">
        <a:lnSpc>
          <a:spcPct val="90000"/>
        </a:lnSpc>
        <a:spcBef>
          <a:spcPct val="0"/>
        </a:spcBef>
        <a:buNone/>
        <a:defRPr sz="4000" b="0" kern="1200" cap="none" baseline="0">
          <a:solidFill>
            <a:schemeClr val="tx2"/>
          </a:solidFill>
          <a:latin typeface="+mn-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2"/>
          </a:solidFill>
          <a:latin typeface="+mn-lt"/>
          <a:ea typeface="+mn-ea"/>
          <a:cs typeface="+mn-cs"/>
        </a:defRPr>
      </a:lvl1pPr>
      <a:lvl2pPr marL="182880" indent="-18288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kern="1200">
          <a:solidFill>
            <a:schemeClr val="tx2"/>
          </a:solidFill>
          <a:latin typeface="+mn-lt"/>
          <a:ea typeface="+mn-ea"/>
          <a:cs typeface="+mn-cs"/>
        </a:defRPr>
      </a:lvl2pPr>
      <a:lvl3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5486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2">
            <a:lumMod val="60000"/>
            <a:lumOff val="40000"/>
          </a:schemeClr>
        </a:buClr>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799" y="266699"/>
            <a:ext cx="11582401" cy="792843"/>
          </a:xfrm>
          <a:prstGeom prst="rect">
            <a:avLst/>
          </a:prstGeom>
        </p:spPr>
        <p:txBody>
          <a:bodyPr vert="horz" lIns="0" tIns="0" rIns="0" bIns="0" rtlCol="0" anchor="ctr" anchorCtr="0">
            <a:noAutofit/>
          </a:bodyPr>
          <a:lstStyle/>
          <a:p>
            <a:r>
              <a:rPr lang="en-US"/>
              <a:t>click to edit master title style </a:t>
            </a:r>
          </a:p>
        </p:txBody>
      </p:sp>
      <p:sp>
        <p:nvSpPr>
          <p:cNvPr id="4" name="Text Placeholder 3">
            <a:extLst>
              <a:ext uri="{FF2B5EF4-FFF2-40B4-BE49-F238E27FC236}">
                <a16:creationId xmlns:a16="http://schemas.microsoft.com/office/drawing/2014/main" id="{64EA8DB1-B4DD-4F3D-9CAB-994462C51D17}"/>
              </a:ext>
            </a:extLst>
          </p:cNvPr>
          <p:cNvSpPr>
            <a:spLocks noGrp="1"/>
          </p:cNvSpPr>
          <p:nvPr>
            <p:ph type="body" idx="1"/>
          </p:nvPr>
        </p:nvSpPr>
        <p:spPr>
          <a:xfrm>
            <a:off x="304800" y="1219200"/>
            <a:ext cx="11582398" cy="4412343"/>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D641B0E-CDE6-4F1D-B3A5-7CEDD4AA3405}"/>
              </a:ext>
            </a:extLst>
          </p:cNvPr>
          <p:cNvSpPr>
            <a:spLocks noGrp="1"/>
          </p:cNvSpPr>
          <p:nvPr>
            <p:ph type="ftr" sz="quarter" idx="3"/>
          </p:nvPr>
        </p:nvSpPr>
        <p:spPr>
          <a:xfrm>
            <a:off x="304796" y="5768975"/>
            <a:ext cx="11582408" cy="365125"/>
          </a:xfrm>
          <a:prstGeom prst="rect">
            <a:avLst/>
          </a:prstGeom>
        </p:spPr>
        <p:txBody>
          <a:bodyPr vert="horz" lIns="0" tIns="0" rIns="0" bIns="0" rtlCol="0" anchor="b"/>
          <a:lstStyle>
            <a:lvl1pPr algn="l">
              <a:defRPr sz="1000">
                <a:solidFill>
                  <a:schemeClr val="tx2">
                    <a:lumMod val="60000"/>
                    <a:lumOff val="40000"/>
                  </a:schemeClr>
                </a:solidFill>
              </a:defRPr>
            </a:lvl1pPr>
          </a:lstStyle>
          <a:p>
            <a:endParaRPr lang="en-US"/>
          </a:p>
        </p:txBody>
      </p:sp>
      <p:pic>
        <p:nvPicPr>
          <p:cNvPr id="9" name="Graphic 8">
            <a:extLst>
              <a:ext uri="{FF2B5EF4-FFF2-40B4-BE49-F238E27FC236}">
                <a16:creationId xmlns:a16="http://schemas.microsoft.com/office/drawing/2014/main" id="{9DB58D54-62BA-3048-C199-63276A9DAE0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04800" y="6360966"/>
            <a:ext cx="717550" cy="192201"/>
          </a:xfrm>
          <a:prstGeom prst="rect">
            <a:avLst/>
          </a:prstGeom>
        </p:spPr>
      </p:pic>
      <p:sp>
        <p:nvSpPr>
          <p:cNvPr id="10" name="TextBox 9">
            <a:extLst>
              <a:ext uri="{FF2B5EF4-FFF2-40B4-BE49-F238E27FC236}">
                <a16:creationId xmlns:a16="http://schemas.microsoft.com/office/drawing/2014/main" id="{6205EFCA-9F1A-BA6D-727E-2263C79944EA}"/>
              </a:ext>
            </a:extLst>
          </p:cNvPr>
          <p:cNvSpPr txBox="1"/>
          <p:nvPr userDrawn="1"/>
        </p:nvSpPr>
        <p:spPr>
          <a:xfrm>
            <a:off x="11451456" y="6200775"/>
            <a:ext cx="435742" cy="571500"/>
          </a:xfrm>
          <a:prstGeom prst="rect">
            <a:avLst/>
          </a:prstGeom>
          <a:noFill/>
        </p:spPr>
        <p:txBody>
          <a:bodyPr wrap="square" lIns="0" tIns="0" rIns="0" bIns="0" rtlCol="0" anchor="ctr" anchorCtr="0">
            <a:noAutofit/>
          </a:bodyPr>
          <a:lstStyle/>
          <a:p>
            <a:pPr algn="r"/>
            <a:fld id="{996B5273-46EB-4870-A6B0-6E7F43CBD6D0}" type="slidenum">
              <a:rPr lang="en-US" sz="1100" smtClean="0">
                <a:solidFill>
                  <a:schemeClr val="tx2"/>
                </a:solidFill>
              </a:rPr>
              <a:pPr algn="r"/>
              <a:t>‹#›</a:t>
            </a:fld>
            <a:endParaRPr lang="en-US" sz="1800">
              <a:solidFill>
                <a:schemeClr val="tx2"/>
              </a:solidFill>
            </a:endParaRPr>
          </a:p>
        </p:txBody>
      </p:sp>
      <p:sp>
        <p:nvSpPr>
          <p:cNvPr id="8" name="TextBox 7">
            <a:extLst>
              <a:ext uri="{FF2B5EF4-FFF2-40B4-BE49-F238E27FC236}">
                <a16:creationId xmlns:a16="http://schemas.microsoft.com/office/drawing/2014/main" id="{85A7D176-92CE-EFF3-ADAF-A5C9EC68517C}"/>
              </a:ext>
            </a:extLst>
          </p:cNvPr>
          <p:cNvSpPr txBox="1"/>
          <p:nvPr userDrawn="1"/>
        </p:nvSpPr>
        <p:spPr>
          <a:xfrm>
            <a:off x="7887702" y="6200775"/>
            <a:ext cx="3566160" cy="571500"/>
          </a:xfrm>
          <a:prstGeom prst="rect">
            <a:avLst/>
          </a:prstGeom>
          <a:noFill/>
        </p:spPr>
        <p:txBody>
          <a:bodyPr wrap="square" lIns="0" tIns="0" rIns="0" bIns="0" rtlCol="0" anchor="ctr" anchorCtr="0">
            <a:noAutofit/>
          </a:bodyPr>
          <a:lstStyle/>
          <a:p>
            <a:pPr algn="r"/>
            <a:r>
              <a:rPr lang="en-US" sz="800">
                <a:solidFill>
                  <a:schemeClr val="tx2"/>
                </a:solidFill>
              </a:rPr>
              <a:t>Copyright 2026. Confidential and Proprietary Content. All Rights Reserved.</a:t>
            </a:r>
            <a:endParaRPr lang="en-US" sz="1200">
              <a:solidFill>
                <a:schemeClr val="tx2"/>
              </a:solidFill>
            </a:endParaRPr>
          </a:p>
        </p:txBody>
      </p:sp>
    </p:spTree>
    <p:extLst>
      <p:ext uri="{BB962C8B-B14F-4D97-AF65-F5344CB8AC3E}">
        <p14:creationId xmlns:p14="http://schemas.microsoft.com/office/powerpoint/2010/main" val="1182510740"/>
      </p:ext>
    </p:extLst>
  </p:cSld>
  <p:clrMap bg1="lt1" tx1="dk1" bg2="lt2" tx2="dk2" accent1="accent1" accent2="accent2" accent3="accent3" accent4="accent4" accent5="accent5" accent6="accent6" hlink="hlink" folHlink="folHlink"/>
  <p:sldLayoutIdLst>
    <p:sldLayoutId id="2147483680" r:id="rId1"/>
  </p:sldLayoutIdLst>
  <p:hf sldNum="0" hdr="0" ftr="0" dt="0"/>
  <p:txStyles>
    <p:titleStyle>
      <a:lvl1pPr algn="l" defTabSz="914400" rtl="0" eaLnBrk="1" latinLnBrk="0" hangingPunct="1">
        <a:lnSpc>
          <a:spcPct val="90000"/>
        </a:lnSpc>
        <a:spcBef>
          <a:spcPct val="0"/>
        </a:spcBef>
        <a:buNone/>
        <a:defRPr sz="4000" b="0" kern="1200" cap="none" baseline="0">
          <a:solidFill>
            <a:schemeClr val="tx2"/>
          </a:solidFill>
          <a:latin typeface="+mn-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a:solidFill>
            <a:schemeClr val="tx2"/>
          </a:solidFill>
          <a:latin typeface="+mn-lt"/>
          <a:ea typeface="+mn-ea"/>
          <a:cs typeface="+mn-cs"/>
        </a:defRPr>
      </a:lvl1pPr>
      <a:lvl2pPr marL="182880" indent="-18288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800" kern="1200">
          <a:solidFill>
            <a:schemeClr val="tx2"/>
          </a:solidFill>
          <a:latin typeface="+mn-lt"/>
          <a:ea typeface="+mn-ea"/>
          <a:cs typeface="+mn-cs"/>
        </a:defRPr>
      </a:lvl2pPr>
      <a:lvl3pPr marL="365760" indent="-182880"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2"/>
          </a:solidFill>
          <a:latin typeface="+mn-lt"/>
          <a:ea typeface="+mn-ea"/>
          <a:cs typeface="+mn-cs"/>
        </a:defRPr>
      </a:lvl3pPr>
      <a:lvl4pPr marL="548640" indent="-18288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2"/>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2">
            <a:lumMod val="60000"/>
            <a:lumOff val="40000"/>
          </a:schemeClr>
        </a:buClr>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4674" y="1043268"/>
            <a:ext cx="6287558" cy="2864005"/>
          </a:xfrm>
        </p:spPr>
        <p:txBody>
          <a:bodyPr/>
          <a:lstStyle/>
          <a:p>
            <a:r>
              <a:rPr lang="en-IN" sz="4400" b="1">
                <a:solidFill>
                  <a:schemeClr val="bg1"/>
                </a:solidFill>
              </a:rPr>
              <a:t>Mortgage Examination Intelligence Platform</a:t>
            </a:r>
          </a:p>
        </p:txBody>
      </p:sp>
      <p:sp>
        <p:nvSpPr>
          <p:cNvPr id="4" name="TextBox 3">
            <a:extLst>
              <a:ext uri="{FF2B5EF4-FFF2-40B4-BE49-F238E27FC236}">
                <a16:creationId xmlns:a16="http://schemas.microsoft.com/office/drawing/2014/main" id="{3ECCBBE4-581E-F18F-2154-3C4F427B84BA}"/>
              </a:ext>
            </a:extLst>
          </p:cNvPr>
          <p:cNvSpPr txBox="1"/>
          <p:nvPr/>
        </p:nvSpPr>
        <p:spPr>
          <a:xfrm>
            <a:off x="563386" y="4250845"/>
            <a:ext cx="9429643" cy="430887"/>
          </a:xfrm>
          <a:prstGeom prst="rect">
            <a:avLst/>
          </a:prstGeom>
          <a:noFill/>
        </p:spPr>
        <p:txBody>
          <a:bodyPr wrap="square">
            <a:spAutoFit/>
          </a:bodyPr>
          <a:lstStyle/>
          <a:p>
            <a:r>
              <a:rPr lang="en-IN">
                <a:solidFill>
                  <a:schemeClr val="bg1"/>
                </a:solidFill>
              </a:rPr>
              <a:t>Prepared for: BM&amp;G</a:t>
            </a:r>
            <a:endParaRPr lang="en-IN" sz="600" b="1">
              <a:solidFill>
                <a:schemeClr val="bg1"/>
              </a:solidFill>
            </a:endParaRPr>
          </a:p>
          <a:p>
            <a:endParaRPr lang="en-IN" sz="400" b="1">
              <a:solidFill>
                <a:schemeClr val="bg1"/>
              </a:solidFill>
            </a:endParaRPr>
          </a:p>
        </p:txBody>
      </p:sp>
      <p:sp>
        <p:nvSpPr>
          <p:cNvPr id="6" name="Rectangle 5">
            <a:extLst>
              <a:ext uri="{FF2B5EF4-FFF2-40B4-BE49-F238E27FC236}">
                <a16:creationId xmlns:a16="http://schemas.microsoft.com/office/drawing/2014/main" id="{BC83BAFD-95C0-B26C-B2DF-21CF19A235F3}"/>
              </a:ext>
            </a:extLst>
          </p:cNvPr>
          <p:cNvSpPr/>
          <p:nvPr/>
        </p:nvSpPr>
        <p:spPr>
          <a:xfrm>
            <a:off x="563386" y="5174175"/>
            <a:ext cx="2715768"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a:t>June 2026</a:t>
            </a:r>
            <a:endParaRPr lang="en-IN" sz="1200"/>
          </a:p>
        </p:txBody>
      </p:sp>
      <p:sp>
        <p:nvSpPr>
          <p:cNvPr id="3" name="Text 6">
            <a:extLst>
              <a:ext uri="{FF2B5EF4-FFF2-40B4-BE49-F238E27FC236}">
                <a16:creationId xmlns:a16="http://schemas.microsoft.com/office/drawing/2014/main" id="{DD74A6D2-D04B-8798-0967-5D99706EE978}"/>
              </a:ext>
            </a:extLst>
          </p:cNvPr>
          <p:cNvSpPr/>
          <p:nvPr/>
        </p:nvSpPr>
        <p:spPr>
          <a:xfrm>
            <a:off x="665333" y="4925255"/>
            <a:ext cx="5486400" cy="274320"/>
          </a:xfrm>
          <a:prstGeom prst="rect">
            <a:avLst/>
          </a:prstGeom>
          <a:noFill/>
          <a:ln/>
        </p:spPr>
        <p:txBody>
          <a:bodyPr wrap="square" lIns="0" tIns="0" rIns="0" bIns="0" rtlCol="0" anchor="ctr"/>
          <a:lstStyle/>
          <a:p>
            <a:pPr marL="0" indent="0">
              <a:buNone/>
            </a:pPr>
            <a:r>
              <a:rPr lang="en-US" sz="1400">
                <a:solidFill>
                  <a:srgbClr val="00B8BB"/>
                </a:solidFill>
                <a:latin typeface="GT America" pitchFamily="34" charset="0"/>
                <a:ea typeface="GT America" pitchFamily="34" charset="-122"/>
                <a:cs typeface="GT America" pitchFamily="34" charset="-120"/>
              </a:rPr>
              <a:t>Modernization Proposal</a:t>
            </a:r>
            <a:endParaRPr lang="en-US" sz="1400"/>
          </a:p>
        </p:txBody>
      </p:sp>
    </p:spTree>
    <p:extLst>
      <p:ext uri="{BB962C8B-B14F-4D97-AF65-F5344CB8AC3E}">
        <p14:creationId xmlns:p14="http://schemas.microsoft.com/office/powerpoint/2010/main" val="158815272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118C-8E04-F8F9-65F3-230374ED2C3D}"/>
            </a:ext>
          </a:extLst>
        </p:cNvPr>
        <p:cNvGrpSpPr/>
        <p:nvPr/>
      </p:nvGrpSpPr>
      <p:grpSpPr>
        <a:xfrm>
          <a:off x="0" y="0"/>
          <a:ext cx="0" cy="0"/>
          <a:chOff x="0" y="0"/>
          <a:chExt cx="0" cy="0"/>
        </a:xfrm>
      </p:grpSpPr>
      <p:sp>
        <p:nvSpPr>
          <p:cNvPr id="103" name="Rectangle 102">
            <a:extLst>
              <a:ext uri="{FF2B5EF4-FFF2-40B4-BE49-F238E27FC236}">
                <a16:creationId xmlns:a16="http://schemas.microsoft.com/office/drawing/2014/main" id="{3C374954-E8E8-34D5-B2B3-8344CCB34465}"/>
              </a:ext>
            </a:extLst>
          </p:cNvPr>
          <p:cNvSpPr/>
          <p:nvPr/>
        </p:nvSpPr>
        <p:spPr>
          <a:xfrm>
            <a:off x="4299284" y="1889132"/>
            <a:ext cx="7892716" cy="17652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9DEB56FA-FD8D-641B-DF88-CAF3827C9649}"/>
              </a:ext>
            </a:extLst>
          </p:cNvPr>
          <p:cNvSpPr/>
          <p:nvPr/>
        </p:nvSpPr>
        <p:spPr>
          <a:xfrm>
            <a:off x="-1" y="0"/>
            <a:ext cx="4299285" cy="2676525"/>
          </a:xfrm>
          <a:prstGeom prst="roundRect">
            <a:avLst>
              <a:gd name="adj" fmla="val 0"/>
            </a:avLst>
          </a:prstGeom>
          <a:solidFill>
            <a:srgbClr val="212121">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CBB20092-59B5-4F31-E684-C03E9EC59E79}"/>
              </a:ext>
            </a:extLst>
          </p:cNvPr>
          <p:cNvSpPr>
            <a:spLocks noGrp="1"/>
          </p:cNvSpPr>
          <p:nvPr>
            <p:ph type="title" idx="4294967295"/>
          </p:nvPr>
        </p:nvSpPr>
        <p:spPr>
          <a:xfrm>
            <a:off x="271848" y="539108"/>
            <a:ext cx="3096127" cy="997196"/>
          </a:xfrm>
        </p:spPr>
        <p:txBody>
          <a:bodyPr wrap="square">
            <a:spAutoFit/>
          </a:bodyPr>
          <a:lstStyle/>
          <a:p>
            <a:r>
              <a:rPr lang="en-US" sz="3600" b="1">
                <a:solidFill>
                  <a:schemeClr val="bg1"/>
                </a:solidFill>
                <a:latin typeface="+mj-lt"/>
              </a:rPr>
              <a:t>Solution Overview</a:t>
            </a:r>
          </a:p>
        </p:txBody>
      </p:sp>
      <p:sp>
        <p:nvSpPr>
          <p:cNvPr id="10" name="TextBox 9">
            <a:extLst>
              <a:ext uri="{FF2B5EF4-FFF2-40B4-BE49-F238E27FC236}">
                <a16:creationId xmlns:a16="http://schemas.microsoft.com/office/drawing/2014/main" id="{C3DE06FB-C63B-1FBF-0961-AF0FB66D380A}"/>
              </a:ext>
            </a:extLst>
          </p:cNvPr>
          <p:cNvSpPr txBox="1"/>
          <p:nvPr/>
        </p:nvSpPr>
        <p:spPr>
          <a:xfrm>
            <a:off x="175360" y="2295115"/>
            <a:ext cx="4020409" cy="1777410"/>
          </a:xfrm>
          <a:prstGeom prst="rect">
            <a:avLst/>
          </a:prstGeom>
          <a:noFill/>
        </p:spPr>
        <p:txBody>
          <a:bodyPr wrap="square">
            <a:spAutoFit/>
          </a:bodyPr>
          <a:lstStyle/>
          <a:p>
            <a:pPr defTabSz="457200" fontAlgn="base">
              <a:spcBef>
                <a:spcPct val="0"/>
              </a:spcBef>
              <a:spcAft>
                <a:spcPts val="250"/>
              </a:spcAft>
              <a:defRPr/>
            </a:pPr>
            <a:r>
              <a:rPr lang="en-US" sz="1200" b="1">
                <a:solidFill>
                  <a:schemeClr val="accent1"/>
                </a:solidFill>
              </a:rPr>
              <a:t>BM&amp;G Business:</a:t>
            </a:r>
          </a:p>
          <a:p>
            <a:pPr defTabSz="457200" fontAlgn="base">
              <a:spcBef>
                <a:spcPct val="0"/>
              </a:spcBef>
              <a:defRPr/>
            </a:pPr>
            <a:r>
              <a:rPr lang="en-US" sz="1200">
                <a:solidFill>
                  <a:prstClr val="white"/>
                </a:solidFill>
              </a:rPr>
              <a:t>BM&amp;G provides legally mandated mortgage closing document examination to approximately 300 lender clients across Texas and adjacent states. Examination constitutes 80–90% of the firm's total workload. The top 45 lenders account for approximately 80% of total business volume.</a:t>
            </a:r>
          </a:p>
          <a:p>
            <a:pPr marL="112713" indent="-112713" defTabSz="457200" fontAlgn="base">
              <a:spcBef>
                <a:spcPct val="0"/>
              </a:spcBef>
              <a:buFont typeface="Arial" panose="020B0604020202020204" pitchFamily="34" charset="0"/>
              <a:buChar char="•"/>
              <a:defRPr/>
            </a:pPr>
            <a:endParaRPr lang="en-US" sz="1200">
              <a:solidFill>
                <a:prstClr val="white"/>
              </a:solidFill>
            </a:endParaRPr>
          </a:p>
          <a:p>
            <a:pPr marL="112713" indent="-112713" defTabSz="457200" fontAlgn="base">
              <a:spcBef>
                <a:spcPct val="0"/>
              </a:spcBef>
              <a:buFont typeface="Arial" panose="020B0604020202020204" pitchFamily="34" charset="0"/>
              <a:buChar char="•"/>
              <a:defRPr/>
            </a:pPr>
            <a:endParaRPr lang="en-US" sz="1200">
              <a:solidFill>
                <a:prstClr val="white"/>
              </a:solidFill>
            </a:endParaRPr>
          </a:p>
          <a:p>
            <a:pPr marL="112713" indent="-112713" defTabSz="457200" fontAlgn="base">
              <a:spcBef>
                <a:spcPct val="0"/>
              </a:spcBef>
              <a:buFont typeface="Arial" panose="020B0604020202020204" pitchFamily="34" charset="0"/>
              <a:buChar char="•"/>
              <a:defRPr/>
            </a:pPr>
            <a:endParaRPr lang="en-US" sz="1200">
              <a:solidFill>
                <a:prstClr val="white"/>
              </a:solidFill>
            </a:endParaRPr>
          </a:p>
        </p:txBody>
      </p:sp>
      <p:sp>
        <p:nvSpPr>
          <p:cNvPr id="20" name="TextBox 19">
            <a:extLst>
              <a:ext uri="{FF2B5EF4-FFF2-40B4-BE49-F238E27FC236}">
                <a16:creationId xmlns:a16="http://schemas.microsoft.com/office/drawing/2014/main" id="{B7CC5E4F-348C-23F8-731A-7C5D1F95954F}"/>
              </a:ext>
            </a:extLst>
          </p:cNvPr>
          <p:cNvSpPr txBox="1"/>
          <p:nvPr/>
        </p:nvSpPr>
        <p:spPr>
          <a:xfrm>
            <a:off x="4515850" y="236875"/>
            <a:ext cx="7341635" cy="1015663"/>
          </a:xfrm>
          <a:prstGeom prst="rect">
            <a:avLst/>
          </a:prstGeom>
          <a:noFill/>
        </p:spPr>
        <p:txBody>
          <a:bodyPr wrap="square">
            <a:spAutoFit/>
          </a:bodyPr>
          <a:lstStyle/>
          <a:p>
            <a:r>
              <a:rPr lang="en-US" sz="1200"/>
              <a:t>A fixed-team, phased delivery program across 30 weeks and 15 sprints to replace BM&amp;G's entire legacy examination stack with a purpose-built, AI-native Mortgage Examination Intelligence Platform. AI does the work humans currently do manually - reading documents, extracting data, cross-referencing fields, and flagging rule violations. Legal Assistants focus their judgment on exception review and QC sign-off. This is not a digitization of the current workflow. It is a fundamental re-architecture of how examination work gets done.</a:t>
            </a:r>
          </a:p>
        </p:txBody>
      </p:sp>
      <p:cxnSp>
        <p:nvCxnSpPr>
          <p:cNvPr id="61" name="Straight Arrow Connector 60">
            <a:extLst>
              <a:ext uri="{FF2B5EF4-FFF2-40B4-BE49-F238E27FC236}">
                <a16:creationId xmlns:a16="http://schemas.microsoft.com/office/drawing/2014/main" id="{AFCFC3C0-C095-9571-FC84-9570D87F8AB6}"/>
              </a:ext>
            </a:extLst>
          </p:cNvPr>
          <p:cNvCxnSpPr>
            <a:cxnSpLocks/>
          </p:cNvCxnSpPr>
          <p:nvPr/>
        </p:nvCxnSpPr>
        <p:spPr>
          <a:xfrm>
            <a:off x="5611447" y="5420192"/>
            <a:ext cx="6142927" cy="0"/>
          </a:xfrm>
          <a:prstGeom prst="straightConnector1">
            <a:avLst/>
          </a:prstGeom>
          <a:ln>
            <a:solidFill>
              <a:schemeClr val="bg1">
                <a:lumMod val="65000"/>
              </a:schemeClr>
            </a:solidFill>
            <a:tailEnd type="none"/>
          </a:ln>
        </p:spPr>
        <p:style>
          <a:lnRef idx="1">
            <a:schemeClr val="accent1"/>
          </a:lnRef>
          <a:fillRef idx="0">
            <a:schemeClr val="accent1"/>
          </a:fillRef>
          <a:effectRef idx="0">
            <a:schemeClr val="accent1"/>
          </a:effectRef>
          <a:fontRef idx="minor">
            <a:schemeClr val="tx1"/>
          </a:fontRef>
        </p:style>
      </p:cxnSp>
      <p:sp>
        <p:nvSpPr>
          <p:cNvPr id="62" name="Rectangle: Top Corners Rounded 61">
            <a:extLst>
              <a:ext uri="{FF2B5EF4-FFF2-40B4-BE49-F238E27FC236}">
                <a16:creationId xmlns:a16="http://schemas.microsoft.com/office/drawing/2014/main" id="{D7B27044-6254-F61D-1FA8-6F1645F9C987}"/>
              </a:ext>
            </a:extLst>
          </p:cNvPr>
          <p:cNvSpPr/>
          <p:nvPr/>
        </p:nvSpPr>
        <p:spPr>
          <a:xfrm>
            <a:off x="4948656" y="5191524"/>
            <a:ext cx="781138" cy="998313"/>
          </a:xfrm>
          <a:prstGeom prst="round2SameRect">
            <a:avLst>
              <a:gd name="adj1" fmla="val 0"/>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1200">
                <a:solidFill>
                  <a:prstClr val="white"/>
                </a:solidFill>
              </a:rPr>
              <a:t>Project Manager</a:t>
            </a:r>
          </a:p>
          <a:p>
            <a:pPr lvl="0" algn="ctr">
              <a:defRPr/>
            </a:pPr>
            <a:r>
              <a:rPr lang="en-US" sz="1200">
                <a:solidFill>
                  <a:schemeClr val="bg1"/>
                </a:solidFill>
              </a:rPr>
              <a:t>1</a:t>
            </a:r>
            <a:endParaRPr lang="en-US" sz="1400">
              <a:solidFill>
                <a:schemeClr val="bg1"/>
              </a:solidFill>
            </a:endParaRPr>
          </a:p>
        </p:txBody>
      </p:sp>
      <p:grpSp>
        <p:nvGrpSpPr>
          <p:cNvPr id="73" name="Group 72">
            <a:extLst>
              <a:ext uri="{FF2B5EF4-FFF2-40B4-BE49-F238E27FC236}">
                <a16:creationId xmlns:a16="http://schemas.microsoft.com/office/drawing/2014/main" id="{A28F465F-37DF-AF19-F026-B516645D348A}"/>
              </a:ext>
            </a:extLst>
          </p:cNvPr>
          <p:cNvGrpSpPr/>
          <p:nvPr/>
        </p:nvGrpSpPr>
        <p:grpSpPr>
          <a:xfrm>
            <a:off x="10194367" y="3821840"/>
            <a:ext cx="1668387" cy="640080"/>
            <a:chOff x="10184166" y="3814041"/>
            <a:chExt cx="1668387" cy="640080"/>
          </a:xfrm>
        </p:grpSpPr>
        <p:sp>
          <p:nvSpPr>
            <p:cNvPr id="81" name="TextBox 80">
              <a:extLst>
                <a:ext uri="{FF2B5EF4-FFF2-40B4-BE49-F238E27FC236}">
                  <a16:creationId xmlns:a16="http://schemas.microsoft.com/office/drawing/2014/main" id="{E93B64E7-B136-9487-41B4-405D6306DC2E}"/>
                </a:ext>
              </a:extLst>
            </p:cNvPr>
            <p:cNvSpPr txBox="1"/>
            <p:nvPr/>
          </p:nvSpPr>
          <p:spPr>
            <a:xfrm>
              <a:off x="10458487" y="3823179"/>
              <a:ext cx="1173184" cy="630942"/>
            </a:xfrm>
            <a:prstGeom prst="rect">
              <a:avLst/>
            </a:prstGeom>
            <a:noFill/>
          </p:spPr>
          <p:txBody>
            <a:bodyPr wrap="square">
              <a:spAutoFit/>
            </a:bodyPr>
            <a:lstStyle/>
            <a:p>
              <a:r>
                <a:rPr lang="en-US" sz="1200" b="1">
                  <a:solidFill>
                    <a:schemeClr val="accent2"/>
                  </a:solidFill>
                </a:rPr>
                <a:t>Dedicated Team:</a:t>
              </a:r>
              <a:r>
                <a:rPr lang="en-US" sz="1200"/>
                <a:t> </a:t>
              </a:r>
            </a:p>
            <a:p>
              <a:r>
                <a:rPr lang="en-US" sz="1100"/>
                <a:t>6.5 FTEs</a:t>
              </a:r>
            </a:p>
          </p:txBody>
        </p:sp>
        <p:sp>
          <p:nvSpPr>
            <p:cNvPr id="82" name="Rectangle: Rounded Corners 81">
              <a:extLst>
                <a:ext uri="{FF2B5EF4-FFF2-40B4-BE49-F238E27FC236}">
                  <a16:creationId xmlns:a16="http://schemas.microsoft.com/office/drawing/2014/main" id="{1EB8261C-C2B9-639B-B121-36E0329EEF97}"/>
                </a:ext>
              </a:extLst>
            </p:cNvPr>
            <p:cNvSpPr/>
            <p:nvPr/>
          </p:nvSpPr>
          <p:spPr>
            <a:xfrm rot="5400000">
              <a:off x="10744040" y="3345607"/>
              <a:ext cx="640080" cy="1576947"/>
            </a:xfrm>
            <a:prstGeom prst="roundRect">
              <a:avLst>
                <a:gd name="adj" fmla="val 12153"/>
              </a:avLst>
            </a:prstGeom>
            <a:no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0" name="Group 89">
              <a:extLst>
                <a:ext uri="{FF2B5EF4-FFF2-40B4-BE49-F238E27FC236}">
                  <a16:creationId xmlns:a16="http://schemas.microsoft.com/office/drawing/2014/main" id="{11F70BB8-64C7-8432-D9B1-47AFE29C334D}"/>
                </a:ext>
              </a:extLst>
            </p:cNvPr>
            <p:cNvGrpSpPr/>
            <p:nvPr/>
          </p:nvGrpSpPr>
          <p:grpSpPr>
            <a:xfrm>
              <a:off x="10184166" y="3916749"/>
              <a:ext cx="182880" cy="182880"/>
              <a:chOff x="4515851" y="2241060"/>
              <a:chExt cx="1187940" cy="1187940"/>
            </a:xfrm>
          </p:grpSpPr>
          <p:sp>
            <p:nvSpPr>
              <p:cNvPr id="91" name="Oval 90">
                <a:extLst>
                  <a:ext uri="{FF2B5EF4-FFF2-40B4-BE49-F238E27FC236}">
                    <a16:creationId xmlns:a16="http://schemas.microsoft.com/office/drawing/2014/main" id="{E92561B5-971A-5FD0-15E8-E6BA59F95C29}"/>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92" name="Oval 91">
                <a:extLst>
                  <a:ext uri="{FF2B5EF4-FFF2-40B4-BE49-F238E27FC236}">
                    <a16:creationId xmlns:a16="http://schemas.microsoft.com/office/drawing/2014/main" id="{C2E79C66-FD0A-B342-D598-2EAA32C17B32}"/>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grpSp>
      <p:sp>
        <p:nvSpPr>
          <p:cNvPr id="94" name="TextBox 93">
            <a:extLst>
              <a:ext uri="{FF2B5EF4-FFF2-40B4-BE49-F238E27FC236}">
                <a16:creationId xmlns:a16="http://schemas.microsoft.com/office/drawing/2014/main" id="{0CF64F3B-46CA-BB57-1C99-9FC0FDA0DB66}"/>
              </a:ext>
            </a:extLst>
          </p:cNvPr>
          <p:cNvSpPr txBox="1"/>
          <p:nvPr/>
        </p:nvSpPr>
        <p:spPr>
          <a:xfrm>
            <a:off x="4839352" y="4816965"/>
            <a:ext cx="1792036" cy="276999"/>
          </a:xfrm>
          <a:prstGeom prst="rect">
            <a:avLst/>
          </a:prstGeom>
          <a:noFill/>
        </p:spPr>
        <p:txBody>
          <a:bodyPr wrap="square">
            <a:spAutoFit/>
          </a:bodyPr>
          <a:lstStyle/>
          <a:p>
            <a:r>
              <a:rPr lang="en-US" sz="1200" b="1">
                <a:solidFill>
                  <a:schemeClr val="accent2"/>
                </a:solidFill>
              </a:rPr>
              <a:t>Delivery Team:</a:t>
            </a:r>
            <a:r>
              <a:rPr lang="en-US" sz="1200"/>
              <a:t> </a:t>
            </a:r>
          </a:p>
        </p:txBody>
      </p:sp>
      <p:sp>
        <p:nvSpPr>
          <p:cNvPr id="95" name="Rectangle: Rounded Corners 94">
            <a:extLst>
              <a:ext uri="{FF2B5EF4-FFF2-40B4-BE49-F238E27FC236}">
                <a16:creationId xmlns:a16="http://schemas.microsoft.com/office/drawing/2014/main" id="{3DFABCA9-E6A0-E64A-B2FD-C214AB704AED}"/>
              </a:ext>
            </a:extLst>
          </p:cNvPr>
          <p:cNvSpPr/>
          <p:nvPr/>
        </p:nvSpPr>
        <p:spPr>
          <a:xfrm rot="5400000">
            <a:off x="7406025" y="1927038"/>
            <a:ext cx="1659092" cy="7243827"/>
          </a:xfrm>
          <a:prstGeom prst="roundRect">
            <a:avLst>
              <a:gd name="adj" fmla="val 3931"/>
            </a:avLst>
          </a:prstGeom>
          <a:no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96" name="Group 95">
            <a:extLst>
              <a:ext uri="{FF2B5EF4-FFF2-40B4-BE49-F238E27FC236}">
                <a16:creationId xmlns:a16="http://schemas.microsoft.com/office/drawing/2014/main" id="{29599D50-A748-8FB2-257F-3D7B2A4DF2F0}"/>
              </a:ext>
            </a:extLst>
          </p:cNvPr>
          <p:cNvGrpSpPr/>
          <p:nvPr/>
        </p:nvGrpSpPr>
        <p:grpSpPr>
          <a:xfrm>
            <a:off x="4529117" y="4869856"/>
            <a:ext cx="182880" cy="182880"/>
            <a:chOff x="4515851" y="2241060"/>
            <a:chExt cx="1187940" cy="1187940"/>
          </a:xfrm>
        </p:grpSpPr>
        <p:sp>
          <p:nvSpPr>
            <p:cNvPr id="97" name="Oval 96">
              <a:extLst>
                <a:ext uri="{FF2B5EF4-FFF2-40B4-BE49-F238E27FC236}">
                  <a16:creationId xmlns:a16="http://schemas.microsoft.com/office/drawing/2014/main" id="{B7E20277-E0A6-FC37-9602-D5F7FB3DDF16}"/>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98" name="Oval 97">
              <a:extLst>
                <a:ext uri="{FF2B5EF4-FFF2-40B4-BE49-F238E27FC236}">
                  <a16:creationId xmlns:a16="http://schemas.microsoft.com/office/drawing/2014/main" id="{FB92E214-186C-7E7F-ADC3-1F50CC4C1BA5}"/>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21" name="TextBox 20">
            <a:extLst>
              <a:ext uri="{FF2B5EF4-FFF2-40B4-BE49-F238E27FC236}">
                <a16:creationId xmlns:a16="http://schemas.microsoft.com/office/drawing/2014/main" id="{FAB8BF3B-F89A-4BE2-C833-BEDC60350C09}"/>
              </a:ext>
            </a:extLst>
          </p:cNvPr>
          <p:cNvSpPr txBox="1"/>
          <p:nvPr/>
        </p:nvSpPr>
        <p:spPr>
          <a:xfrm>
            <a:off x="7331759" y="5171979"/>
            <a:ext cx="2207556" cy="261610"/>
          </a:xfrm>
          <a:prstGeom prst="rect">
            <a:avLst/>
          </a:prstGeom>
          <a:noFill/>
        </p:spPr>
        <p:txBody>
          <a:bodyPr wrap="square">
            <a:spAutoFit/>
          </a:bodyPr>
          <a:lstStyle/>
          <a:p>
            <a:pPr algn="ctr"/>
            <a:r>
              <a:rPr lang="en-US" sz="1050" i="1"/>
              <a:t>Dedicated POD for BM&amp;G</a:t>
            </a:r>
          </a:p>
        </p:txBody>
      </p:sp>
      <p:sp>
        <p:nvSpPr>
          <p:cNvPr id="23" name="Text 9">
            <a:extLst>
              <a:ext uri="{FF2B5EF4-FFF2-40B4-BE49-F238E27FC236}">
                <a16:creationId xmlns:a16="http://schemas.microsoft.com/office/drawing/2014/main" id="{ACDEFA2E-FE31-4FEC-0B4E-CF11A1CC4634}"/>
              </a:ext>
            </a:extLst>
          </p:cNvPr>
          <p:cNvSpPr/>
          <p:nvPr/>
        </p:nvSpPr>
        <p:spPr>
          <a:xfrm>
            <a:off x="4606057" y="1353213"/>
            <a:ext cx="7145687" cy="309717"/>
          </a:xfrm>
          <a:prstGeom prst="rect">
            <a:avLst/>
          </a:prstGeom>
          <a:solidFill>
            <a:schemeClr val="accent2"/>
          </a:solidFill>
          <a:ln/>
        </p:spPr>
        <p:txBody>
          <a:bodyPr wrap="square" lIns="0" tIns="0" rIns="0" bIns="0" rtlCol="0" anchor="ctr"/>
          <a:lstStyle/>
          <a:p>
            <a:pPr marL="0" indent="0" algn="ctr">
              <a:buNone/>
            </a:pPr>
            <a:r>
              <a:rPr lang="en-US" sz="1000" b="1" i="1">
                <a:solidFill>
                  <a:schemeClr val="bg1"/>
                </a:solidFill>
                <a:latin typeface="GT America" pitchFamily="34" charset="0"/>
                <a:ea typeface="GT America" pitchFamily="34" charset="-122"/>
                <a:cs typeface="GT America" pitchFamily="34" charset="-120"/>
              </a:rPr>
              <a:t>A platform where AI extracts, rules validate, and Legal Assistants review exceptions - not data entry forms.</a:t>
            </a:r>
            <a:endParaRPr lang="en-US" sz="1000" b="1">
              <a:solidFill>
                <a:schemeClr val="bg1"/>
              </a:solidFill>
            </a:endParaRPr>
          </a:p>
        </p:txBody>
      </p:sp>
      <p:sp>
        <p:nvSpPr>
          <p:cNvPr id="65" name="Rectangle: Top Corners Rounded 64">
            <a:extLst>
              <a:ext uri="{FF2B5EF4-FFF2-40B4-BE49-F238E27FC236}">
                <a16:creationId xmlns:a16="http://schemas.microsoft.com/office/drawing/2014/main" id="{9BE08DC5-72EE-BD72-E143-94CC32A1ACE8}"/>
              </a:ext>
            </a:extLst>
          </p:cNvPr>
          <p:cNvSpPr/>
          <p:nvPr/>
        </p:nvSpPr>
        <p:spPr>
          <a:xfrm>
            <a:off x="5830751" y="5647077"/>
            <a:ext cx="781137" cy="538746"/>
          </a:xfrm>
          <a:prstGeom prst="round2SameRect">
            <a:avLst>
              <a:gd name="adj1" fmla="val 0"/>
              <a:gd name="adj2" fmla="val 0"/>
            </a:avLst>
          </a:prstGeom>
          <a:solidFill>
            <a:schemeClr val="bg1"/>
          </a:solidFill>
          <a:ln w="3175">
            <a:solidFill>
              <a:schemeClr val="accent1"/>
            </a:solidFill>
          </a:ln>
          <a:effectLst>
            <a:outerShdw blurRad="1016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GT America Lt"/>
              <a:ea typeface="+mn-ea"/>
              <a:cs typeface="+mn-cs"/>
            </a:endParaRPr>
          </a:p>
        </p:txBody>
      </p:sp>
      <p:sp>
        <p:nvSpPr>
          <p:cNvPr id="66" name="TextBox 65">
            <a:extLst>
              <a:ext uri="{FF2B5EF4-FFF2-40B4-BE49-F238E27FC236}">
                <a16:creationId xmlns:a16="http://schemas.microsoft.com/office/drawing/2014/main" id="{B0B0E162-FB0A-73BD-6EAC-5494D57ED18A}"/>
              </a:ext>
            </a:extLst>
          </p:cNvPr>
          <p:cNvSpPr txBox="1"/>
          <p:nvPr/>
        </p:nvSpPr>
        <p:spPr>
          <a:xfrm>
            <a:off x="6094856" y="5794751"/>
            <a:ext cx="517032" cy="276999"/>
          </a:xfrm>
          <a:prstGeom prst="rect">
            <a:avLst/>
          </a:prstGeom>
          <a:noFill/>
        </p:spPr>
        <p:txBody>
          <a:bodyPr wrap="square" lIns="0" tIns="0" rIns="0" bIns="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a:ln>
                  <a:noFill/>
                </a:ln>
                <a:solidFill>
                  <a:srgbClr val="212121"/>
                </a:solidFill>
                <a:effectLst/>
                <a:uLnTx/>
                <a:uFillTx/>
                <a:latin typeface="GT America Lt"/>
                <a:ea typeface="+mn-ea"/>
                <a:cs typeface="+mn-cs"/>
              </a:rPr>
              <a:t>Tech Lead / Architect</a:t>
            </a:r>
          </a:p>
        </p:txBody>
      </p:sp>
      <p:sp>
        <p:nvSpPr>
          <p:cNvPr id="67" name="TextBox 66">
            <a:extLst>
              <a:ext uri="{FF2B5EF4-FFF2-40B4-BE49-F238E27FC236}">
                <a16:creationId xmlns:a16="http://schemas.microsoft.com/office/drawing/2014/main" id="{EEC9DD4F-B600-2F85-9EA5-6C850F4392E4}"/>
              </a:ext>
            </a:extLst>
          </p:cNvPr>
          <p:cNvSpPr txBox="1"/>
          <p:nvPr/>
        </p:nvSpPr>
        <p:spPr>
          <a:xfrm>
            <a:off x="5866250" y="5727610"/>
            <a:ext cx="195693" cy="377679"/>
          </a:xfrm>
          <a:prstGeom prst="rect">
            <a:avLst/>
          </a:prstGeom>
          <a:noFill/>
        </p:spPr>
        <p:txBody>
          <a:bodyPr vert="horz"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defRPr>
            </a:lvl1pPr>
          </a:lstStyle>
          <a:p>
            <a:pPr algn="ctr"/>
            <a:r>
              <a:rPr lang="en-US" sz="1200" b="0">
                <a:solidFill>
                  <a:schemeClr val="tx1"/>
                </a:solidFill>
                <a:latin typeface="+mj-lt"/>
              </a:rPr>
              <a:t>0.5</a:t>
            </a:r>
          </a:p>
        </p:txBody>
      </p:sp>
      <p:sp>
        <p:nvSpPr>
          <p:cNvPr id="68" name="Rectangle: Top Corners Rounded 67">
            <a:extLst>
              <a:ext uri="{FF2B5EF4-FFF2-40B4-BE49-F238E27FC236}">
                <a16:creationId xmlns:a16="http://schemas.microsoft.com/office/drawing/2014/main" id="{28DF5E3F-0FBD-07D5-E78C-91ECFCC8F05E}"/>
              </a:ext>
            </a:extLst>
          </p:cNvPr>
          <p:cNvSpPr/>
          <p:nvPr/>
        </p:nvSpPr>
        <p:spPr>
          <a:xfrm>
            <a:off x="6682550" y="5653262"/>
            <a:ext cx="781137" cy="528748"/>
          </a:xfrm>
          <a:prstGeom prst="round2SameRect">
            <a:avLst>
              <a:gd name="adj1" fmla="val 0"/>
              <a:gd name="adj2" fmla="val 0"/>
            </a:avLst>
          </a:prstGeom>
          <a:solidFill>
            <a:schemeClr val="bg1"/>
          </a:solidFill>
          <a:ln w="3175">
            <a:solidFill>
              <a:schemeClr val="accent1"/>
            </a:solidFill>
          </a:ln>
          <a:effectLst>
            <a:outerShdw blurRad="1016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GT America Lt"/>
              <a:ea typeface="+mn-ea"/>
              <a:cs typeface="+mn-cs"/>
            </a:endParaRPr>
          </a:p>
        </p:txBody>
      </p:sp>
      <p:sp>
        <p:nvSpPr>
          <p:cNvPr id="71" name="Rectangle: Top Corners Rounded 70">
            <a:extLst>
              <a:ext uri="{FF2B5EF4-FFF2-40B4-BE49-F238E27FC236}">
                <a16:creationId xmlns:a16="http://schemas.microsoft.com/office/drawing/2014/main" id="{E9443934-4673-DD4D-2C77-ABAEECA6B7D9}"/>
              </a:ext>
            </a:extLst>
          </p:cNvPr>
          <p:cNvSpPr/>
          <p:nvPr/>
        </p:nvSpPr>
        <p:spPr>
          <a:xfrm>
            <a:off x="7534350" y="5653262"/>
            <a:ext cx="781137" cy="528748"/>
          </a:xfrm>
          <a:prstGeom prst="round2SameRect">
            <a:avLst>
              <a:gd name="adj1" fmla="val 0"/>
              <a:gd name="adj2" fmla="val 0"/>
            </a:avLst>
          </a:prstGeom>
          <a:solidFill>
            <a:schemeClr val="bg1"/>
          </a:solidFill>
          <a:ln w="3175">
            <a:solidFill>
              <a:schemeClr val="accent1"/>
            </a:solidFill>
          </a:ln>
          <a:effectLst>
            <a:outerShdw blurRad="1016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GT America Lt"/>
              <a:ea typeface="+mn-ea"/>
              <a:cs typeface="+mn-cs"/>
            </a:endParaRPr>
          </a:p>
        </p:txBody>
      </p:sp>
      <p:sp>
        <p:nvSpPr>
          <p:cNvPr id="74" name="Rectangle: Top Corners Rounded 73">
            <a:extLst>
              <a:ext uri="{FF2B5EF4-FFF2-40B4-BE49-F238E27FC236}">
                <a16:creationId xmlns:a16="http://schemas.microsoft.com/office/drawing/2014/main" id="{6F0A876C-B55F-768C-EC0E-404E13DC4AB9}"/>
              </a:ext>
            </a:extLst>
          </p:cNvPr>
          <p:cNvSpPr/>
          <p:nvPr/>
        </p:nvSpPr>
        <p:spPr>
          <a:xfrm>
            <a:off x="8386149" y="5653299"/>
            <a:ext cx="781137" cy="528750"/>
          </a:xfrm>
          <a:prstGeom prst="round2SameRect">
            <a:avLst>
              <a:gd name="adj1" fmla="val 0"/>
              <a:gd name="adj2" fmla="val 0"/>
            </a:avLst>
          </a:prstGeom>
          <a:solidFill>
            <a:schemeClr val="bg1"/>
          </a:solidFill>
          <a:ln w="3175">
            <a:solidFill>
              <a:schemeClr val="accent1"/>
            </a:solidFill>
          </a:ln>
          <a:effectLst>
            <a:outerShdw blurRad="1016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GT America Lt"/>
              <a:ea typeface="+mn-ea"/>
              <a:cs typeface="+mn-cs"/>
            </a:endParaRPr>
          </a:p>
        </p:txBody>
      </p:sp>
      <p:sp>
        <p:nvSpPr>
          <p:cNvPr id="49" name="Rectangle: Top Corners Rounded 48">
            <a:extLst>
              <a:ext uri="{FF2B5EF4-FFF2-40B4-BE49-F238E27FC236}">
                <a16:creationId xmlns:a16="http://schemas.microsoft.com/office/drawing/2014/main" id="{F0CB16F7-BA30-3824-FE86-4CD26F910BD0}"/>
              </a:ext>
            </a:extLst>
          </p:cNvPr>
          <p:cNvSpPr/>
          <p:nvPr/>
        </p:nvSpPr>
        <p:spPr>
          <a:xfrm>
            <a:off x="9247414" y="5653262"/>
            <a:ext cx="781137" cy="528748"/>
          </a:xfrm>
          <a:prstGeom prst="round2SameRect">
            <a:avLst>
              <a:gd name="adj1" fmla="val 0"/>
              <a:gd name="adj2" fmla="val 0"/>
            </a:avLst>
          </a:prstGeom>
          <a:solidFill>
            <a:schemeClr val="bg1"/>
          </a:solidFill>
          <a:ln w="3175">
            <a:solidFill>
              <a:schemeClr val="accent1"/>
            </a:solidFill>
          </a:ln>
          <a:effectLst>
            <a:outerShdw blurRad="1016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GT America Lt"/>
              <a:ea typeface="+mn-ea"/>
              <a:cs typeface="+mn-cs"/>
            </a:endParaRPr>
          </a:p>
        </p:txBody>
      </p:sp>
      <p:sp>
        <p:nvSpPr>
          <p:cNvPr id="55" name="Rectangle: Top Corners Rounded 54">
            <a:extLst>
              <a:ext uri="{FF2B5EF4-FFF2-40B4-BE49-F238E27FC236}">
                <a16:creationId xmlns:a16="http://schemas.microsoft.com/office/drawing/2014/main" id="{5787DA96-EF8A-A312-891C-84CD36F2C40C}"/>
              </a:ext>
            </a:extLst>
          </p:cNvPr>
          <p:cNvSpPr/>
          <p:nvPr/>
        </p:nvSpPr>
        <p:spPr>
          <a:xfrm>
            <a:off x="10099213" y="5653299"/>
            <a:ext cx="781137" cy="528750"/>
          </a:xfrm>
          <a:prstGeom prst="round2SameRect">
            <a:avLst>
              <a:gd name="adj1" fmla="val 0"/>
              <a:gd name="adj2" fmla="val 0"/>
            </a:avLst>
          </a:prstGeom>
          <a:solidFill>
            <a:schemeClr val="bg1"/>
          </a:solidFill>
          <a:ln w="3175">
            <a:solidFill>
              <a:schemeClr val="accent1"/>
            </a:solidFill>
          </a:ln>
          <a:effectLst>
            <a:outerShdw blurRad="1016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GT America Lt"/>
              <a:ea typeface="+mn-ea"/>
              <a:cs typeface="+mn-cs"/>
            </a:endParaRPr>
          </a:p>
        </p:txBody>
      </p:sp>
      <p:sp>
        <p:nvSpPr>
          <p:cNvPr id="60" name="TextBox 59">
            <a:extLst>
              <a:ext uri="{FF2B5EF4-FFF2-40B4-BE49-F238E27FC236}">
                <a16:creationId xmlns:a16="http://schemas.microsoft.com/office/drawing/2014/main" id="{970D27A5-74FE-D960-009D-D469301250D6}"/>
              </a:ext>
            </a:extLst>
          </p:cNvPr>
          <p:cNvSpPr txBox="1"/>
          <p:nvPr/>
        </p:nvSpPr>
        <p:spPr>
          <a:xfrm>
            <a:off x="6019422" y="6020952"/>
            <a:ext cx="623032" cy="200055"/>
          </a:xfrm>
          <a:prstGeom prst="rect">
            <a:avLst/>
          </a:prstGeom>
          <a:noFill/>
        </p:spPr>
        <p:txBody>
          <a:bodyPr wrap="square" anchor="ctr">
            <a:spAutoFit/>
          </a:bodyPr>
          <a:lstStyle/>
          <a:p>
            <a:r>
              <a:rPr lang="en-US" sz="700" i="1">
                <a:solidFill>
                  <a:srgbClr val="8F8E87"/>
                </a:solidFill>
                <a:latin typeface="GT America" pitchFamily="34" charset="0"/>
                <a:ea typeface="GT America" pitchFamily="34" charset="-122"/>
                <a:cs typeface="GT America" pitchFamily="34" charset="-120"/>
              </a:rPr>
              <a:t>Part-time</a:t>
            </a:r>
            <a:endParaRPr lang="en-IN" sz="700" i="1"/>
          </a:p>
        </p:txBody>
      </p:sp>
      <p:sp>
        <p:nvSpPr>
          <p:cNvPr id="63" name="TextBox 62">
            <a:extLst>
              <a:ext uri="{FF2B5EF4-FFF2-40B4-BE49-F238E27FC236}">
                <a16:creationId xmlns:a16="http://schemas.microsoft.com/office/drawing/2014/main" id="{9A408476-D889-F9FE-A316-31DC629ED489}"/>
              </a:ext>
            </a:extLst>
          </p:cNvPr>
          <p:cNvSpPr txBox="1"/>
          <p:nvPr/>
        </p:nvSpPr>
        <p:spPr>
          <a:xfrm>
            <a:off x="6923537" y="5731161"/>
            <a:ext cx="560198" cy="415498"/>
          </a:xfrm>
          <a:prstGeom prst="rect">
            <a:avLst/>
          </a:prstGeom>
          <a:noFill/>
        </p:spPr>
        <p:txBody>
          <a:bodyPr wrap="square" lIns="0" tIns="0" rIns="0" bIns="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a:ln>
                  <a:noFill/>
                </a:ln>
                <a:solidFill>
                  <a:srgbClr val="212121"/>
                </a:solidFill>
                <a:effectLst/>
                <a:uLnTx/>
                <a:uFillTx/>
                <a:latin typeface="GT America Lt"/>
                <a:ea typeface="+mn-ea"/>
                <a:cs typeface="+mn-cs"/>
              </a:rPr>
              <a:t>Senior Full Stack Engineer</a:t>
            </a:r>
          </a:p>
        </p:txBody>
      </p:sp>
      <p:sp>
        <p:nvSpPr>
          <p:cNvPr id="77" name="TextBox 76">
            <a:extLst>
              <a:ext uri="{FF2B5EF4-FFF2-40B4-BE49-F238E27FC236}">
                <a16:creationId xmlns:a16="http://schemas.microsoft.com/office/drawing/2014/main" id="{B8B49F9B-4DB1-7550-CAB9-810A6CA8D644}"/>
              </a:ext>
            </a:extLst>
          </p:cNvPr>
          <p:cNvSpPr txBox="1"/>
          <p:nvPr/>
        </p:nvSpPr>
        <p:spPr>
          <a:xfrm>
            <a:off x="6724132" y="5727610"/>
            <a:ext cx="169701" cy="377679"/>
          </a:xfrm>
          <a:prstGeom prst="rect">
            <a:avLst/>
          </a:prstGeom>
          <a:noFill/>
        </p:spPr>
        <p:txBody>
          <a:bodyPr vert="horz"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defRPr>
            </a:lvl1pPr>
          </a:lstStyle>
          <a:p>
            <a:pPr algn="ctr"/>
            <a:r>
              <a:rPr lang="en-US" sz="1200" b="0">
                <a:solidFill>
                  <a:schemeClr val="tx1"/>
                </a:solidFill>
                <a:latin typeface="+mj-lt"/>
              </a:rPr>
              <a:t>1</a:t>
            </a:r>
          </a:p>
        </p:txBody>
      </p:sp>
      <p:sp>
        <p:nvSpPr>
          <p:cNvPr id="78" name="TextBox 77">
            <a:extLst>
              <a:ext uri="{FF2B5EF4-FFF2-40B4-BE49-F238E27FC236}">
                <a16:creationId xmlns:a16="http://schemas.microsoft.com/office/drawing/2014/main" id="{1DB4A0DF-AF64-3627-4379-DD85A4F85D9A}"/>
              </a:ext>
            </a:extLst>
          </p:cNvPr>
          <p:cNvSpPr txBox="1"/>
          <p:nvPr/>
        </p:nvSpPr>
        <p:spPr>
          <a:xfrm>
            <a:off x="7791442" y="5731161"/>
            <a:ext cx="517032" cy="415498"/>
          </a:xfrm>
          <a:prstGeom prst="rect">
            <a:avLst/>
          </a:prstGeom>
          <a:noFill/>
        </p:spPr>
        <p:txBody>
          <a:bodyPr wrap="square" lIns="0" tIns="0" rIns="0" bIns="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a:ln>
                  <a:noFill/>
                </a:ln>
                <a:solidFill>
                  <a:srgbClr val="212121"/>
                </a:solidFill>
                <a:effectLst/>
                <a:uLnTx/>
                <a:uFillTx/>
                <a:latin typeface="GT America Lt"/>
                <a:ea typeface="+mn-ea"/>
                <a:cs typeface="+mn-cs"/>
              </a:rPr>
              <a:t>Mid-Level Full Stack Engineer</a:t>
            </a:r>
          </a:p>
        </p:txBody>
      </p:sp>
      <p:sp>
        <p:nvSpPr>
          <p:cNvPr id="79" name="TextBox 78">
            <a:extLst>
              <a:ext uri="{FF2B5EF4-FFF2-40B4-BE49-F238E27FC236}">
                <a16:creationId xmlns:a16="http://schemas.microsoft.com/office/drawing/2014/main" id="{E3CC8E19-2B9C-82B7-1145-2CA1F4DB0C85}"/>
              </a:ext>
            </a:extLst>
          </p:cNvPr>
          <p:cNvSpPr txBox="1"/>
          <p:nvPr/>
        </p:nvSpPr>
        <p:spPr>
          <a:xfrm>
            <a:off x="7574381" y="5727610"/>
            <a:ext cx="169701" cy="377679"/>
          </a:xfrm>
          <a:prstGeom prst="rect">
            <a:avLst/>
          </a:prstGeom>
          <a:noFill/>
        </p:spPr>
        <p:txBody>
          <a:bodyPr vert="horz"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defRPr>
            </a:lvl1pPr>
          </a:lstStyle>
          <a:p>
            <a:pPr algn="ctr"/>
            <a:r>
              <a:rPr lang="en-US" sz="1200" b="0">
                <a:solidFill>
                  <a:schemeClr val="tx1"/>
                </a:solidFill>
                <a:latin typeface="+mj-lt"/>
              </a:rPr>
              <a:t>1</a:t>
            </a:r>
          </a:p>
        </p:txBody>
      </p:sp>
      <p:sp>
        <p:nvSpPr>
          <p:cNvPr id="80" name="TextBox 79">
            <a:extLst>
              <a:ext uri="{FF2B5EF4-FFF2-40B4-BE49-F238E27FC236}">
                <a16:creationId xmlns:a16="http://schemas.microsoft.com/office/drawing/2014/main" id="{69266391-AE60-AFAF-D13E-DF05B07E5BA2}"/>
              </a:ext>
            </a:extLst>
          </p:cNvPr>
          <p:cNvSpPr txBox="1"/>
          <p:nvPr/>
        </p:nvSpPr>
        <p:spPr>
          <a:xfrm>
            <a:off x="8622037" y="5725501"/>
            <a:ext cx="517032" cy="415498"/>
          </a:xfrm>
          <a:prstGeom prst="rect">
            <a:avLst/>
          </a:prstGeom>
          <a:noFill/>
        </p:spPr>
        <p:txBody>
          <a:bodyPr wrap="square" lIns="0" tIns="0" rIns="0" bIns="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a:ln>
                  <a:noFill/>
                </a:ln>
                <a:solidFill>
                  <a:srgbClr val="212121"/>
                </a:solidFill>
                <a:effectLst/>
                <a:uLnTx/>
                <a:uFillTx/>
                <a:latin typeface="GT America Lt"/>
                <a:ea typeface="+mn-ea"/>
                <a:cs typeface="+mn-cs"/>
              </a:rPr>
              <a:t>Senior React Developer</a:t>
            </a:r>
          </a:p>
        </p:txBody>
      </p:sp>
      <p:sp>
        <p:nvSpPr>
          <p:cNvPr id="99" name="TextBox 98">
            <a:extLst>
              <a:ext uri="{FF2B5EF4-FFF2-40B4-BE49-F238E27FC236}">
                <a16:creationId xmlns:a16="http://schemas.microsoft.com/office/drawing/2014/main" id="{639C04D8-3E5B-3BC3-B16D-03B23FCD4566}"/>
              </a:ext>
            </a:extLst>
          </p:cNvPr>
          <p:cNvSpPr txBox="1"/>
          <p:nvPr/>
        </p:nvSpPr>
        <p:spPr>
          <a:xfrm>
            <a:off x="8428581" y="5727610"/>
            <a:ext cx="169701" cy="377679"/>
          </a:xfrm>
          <a:prstGeom prst="rect">
            <a:avLst/>
          </a:prstGeom>
          <a:noFill/>
        </p:spPr>
        <p:txBody>
          <a:bodyPr vert="horz"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defRPr>
            </a:lvl1pPr>
          </a:lstStyle>
          <a:p>
            <a:pPr algn="ctr"/>
            <a:r>
              <a:rPr lang="en-US" sz="1200" b="0">
                <a:solidFill>
                  <a:schemeClr val="tx1"/>
                </a:solidFill>
                <a:latin typeface="+mj-lt"/>
              </a:rPr>
              <a:t>1</a:t>
            </a:r>
          </a:p>
        </p:txBody>
      </p:sp>
      <p:sp>
        <p:nvSpPr>
          <p:cNvPr id="100" name="TextBox 99">
            <a:extLst>
              <a:ext uri="{FF2B5EF4-FFF2-40B4-BE49-F238E27FC236}">
                <a16:creationId xmlns:a16="http://schemas.microsoft.com/office/drawing/2014/main" id="{8E246146-3768-0A1C-4633-C1383086E933}"/>
              </a:ext>
            </a:extLst>
          </p:cNvPr>
          <p:cNvSpPr txBox="1"/>
          <p:nvPr/>
        </p:nvSpPr>
        <p:spPr>
          <a:xfrm>
            <a:off x="9495609" y="5725501"/>
            <a:ext cx="517032" cy="415498"/>
          </a:xfrm>
          <a:prstGeom prst="rect">
            <a:avLst/>
          </a:prstGeom>
          <a:noFill/>
        </p:spPr>
        <p:txBody>
          <a:bodyPr wrap="square" lIns="0" tIns="0" rIns="0" bIns="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a:ln>
                  <a:noFill/>
                </a:ln>
                <a:solidFill>
                  <a:srgbClr val="212121"/>
                </a:solidFill>
                <a:effectLst/>
                <a:uLnTx/>
                <a:uFillTx/>
                <a:latin typeface="GT America Lt"/>
                <a:ea typeface="+mn-ea"/>
                <a:cs typeface="+mn-cs"/>
              </a:rPr>
              <a:t>Senior Business Analyst</a:t>
            </a:r>
          </a:p>
        </p:txBody>
      </p:sp>
      <p:sp>
        <p:nvSpPr>
          <p:cNvPr id="101" name="TextBox 100">
            <a:extLst>
              <a:ext uri="{FF2B5EF4-FFF2-40B4-BE49-F238E27FC236}">
                <a16:creationId xmlns:a16="http://schemas.microsoft.com/office/drawing/2014/main" id="{FCC05FD1-13CC-DD57-48EE-598CC6722186}"/>
              </a:ext>
            </a:extLst>
          </p:cNvPr>
          <p:cNvSpPr txBox="1"/>
          <p:nvPr/>
        </p:nvSpPr>
        <p:spPr>
          <a:xfrm>
            <a:off x="9292995" y="5727610"/>
            <a:ext cx="169701" cy="377679"/>
          </a:xfrm>
          <a:prstGeom prst="rect">
            <a:avLst/>
          </a:prstGeom>
          <a:noFill/>
        </p:spPr>
        <p:txBody>
          <a:bodyPr vert="horz"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defRPr>
            </a:lvl1pPr>
          </a:lstStyle>
          <a:p>
            <a:pPr algn="ctr"/>
            <a:r>
              <a:rPr lang="en-US" sz="1200" b="0">
                <a:solidFill>
                  <a:schemeClr val="tx1"/>
                </a:solidFill>
                <a:latin typeface="+mj-lt"/>
              </a:rPr>
              <a:t>1</a:t>
            </a:r>
          </a:p>
        </p:txBody>
      </p:sp>
      <p:sp>
        <p:nvSpPr>
          <p:cNvPr id="102" name="TextBox 101">
            <a:extLst>
              <a:ext uri="{FF2B5EF4-FFF2-40B4-BE49-F238E27FC236}">
                <a16:creationId xmlns:a16="http://schemas.microsoft.com/office/drawing/2014/main" id="{2E692E19-CDF0-FEDA-148E-A0DB60B5BAF7}"/>
              </a:ext>
            </a:extLst>
          </p:cNvPr>
          <p:cNvSpPr txBox="1"/>
          <p:nvPr/>
        </p:nvSpPr>
        <p:spPr>
          <a:xfrm>
            <a:off x="10363318" y="5794751"/>
            <a:ext cx="517032" cy="276999"/>
          </a:xfrm>
          <a:prstGeom prst="rect">
            <a:avLst/>
          </a:prstGeom>
          <a:noFill/>
        </p:spPr>
        <p:txBody>
          <a:bodyPr wrap="square" lIns="0" tIns="0" rIns="0" bIns="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a:ln>
                  <a:noFill/>
                </a:ln>
                <a:solidFill>
                  <a:srgbClr val="212121"/>
                </a:solidFill>
                <a:effectLst/>
                <a:uLnTx/>
                <a:uFillTx/>
                <a:latin typeface="GT America Lt"/>
                <a:ea typeface="+mn-ea"/>
                <a:cs typeface="+mn-cs"/>
              </a:rPr>
              <a:t>Senior QA Engineer</a:t>
            </a:r>
          </a:p>
        </p:txBody>
      </p:sp>
      <p:sp>
        <p:nvSpPr>
          <p:cNvPr id="107" name="TextBox 106">
            <a:extLst>
              <a:ext uri="{FF2B5EF4-FFF2-40B4-BE49-F238E27FC236}">
                <a16:creationId xmlns:a16="http://schemas.microsoft.com/office/drawing/2014/main" id="{8611CCE2-43BC-7F14-F8D3-B67327EEAFC3}"/>
              </a:ext>
            </a:extLst>
          </p:cNvPr>
          <p:cNvSpPr txBox="1"/>
          <p:nvPr/>
        </p:nvSpPr>
        <p:spPr>
          <a:xfrm>
            <a:off x="10122968" y="5727610"/>
            <a:ext cx="207437" cy="377679"/>
          </a:xfrm>
          <a:prstGeom prst="rect">
            <a:avLst/>
          </a:prstGeom>
          <a:noFill/>
        </p:spPr>
        <p:txBody>
          <a:bodyPr vert="horz"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defRPr>
            </a:lvl1pPr>
          </a:lstStyle>
          <a:p>
            <a:pPr algn="ctr"/>
            <a:r>
              <a:rPr lang="en-US" sz="1200" b="0">
                <a:solidFill>
                  <a:schemeClr val="tx1"/>
                </a:solidFill>
                <a:latin typeface="+mj-lt"/>
              </a:rPr>
              <a:t>0.5</a:t>
            </a:r>
          </a:p>
        </p:txBody>
      </p:sp>
      <p:sp>
        <p:nvSpPr>
          <p:cNvPr id="109" name="Rectangle: Top Corners Rounded 108">
            <a:extLst>
              <a:ext uri="{FF2B5EF4-FFF2-40B4-BE49-F238E27FC236}">
                <a16:creationId xmlns:a16="http://schemas.microsoft.com/office/drawing/2014/main" id="{381BE9F4-D4F5-21CA-99B0-EE558EAFC045}"/>
              </a:ext>
            </a:extLst>
          </p:cNvPr>
          <p:cNvSpPr/>
          <p:nvPr/>
        </p:nvSpPr>
        <p:spPr>
          <a:xfrm>
            <a:off x="10951012" y="5653299"/>
            <a:ext cx="781137" cy="528750"/>
          </a:xfrm>
          <a:prstGeom prst="round2SameRect">
            <a:avLst>
              <a:gd name="adj1" fmla="val 0"/>
              <a:gd name="adj2" fmla="val 0"/>
            </a:avLst>
          </a:prstGeom>
          <a:solidFill>
            <a:schemeClr val="bg1"/>
          </a:solidFill>
          <a:ln w="3175">
            <a:solidFill>
              <a:schemeClr val="accent1"/>
            </a:solidFill>
          </a:ln>
          <a:effectLst>
            <a:outerShdw blurRad="1016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tIns="182880" rtlCol="0" anchor="t"/>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GT America Lt"/>
              <a:ea typeface="+mn-ea"/>
              <a:cs typeface="+mn-cs"/>
            </a:endParaRPr>
          </a:p>
        </p:txBody>
      </p:sp>
      <p:sp>
        <p:nvSpPr>
          <p:cNvPr id="110" name="TextBox 109">
            <a:extLst>
              <a:ext uri="{FF2B5EF4-FFF2-40B4-BE49-F238E27FC236}">
                <a16:creationId xmlns:a16="http://schemas.microsoft.com/office/drawing/2014/main" id="{CCD3BB23-2D22-54CF-5580-57644FF4FC4E}"/>
              </a:ext>
            </a:extLst>
          </p:cNvPr>
          <p:cNvSpPr txBox="1"/>
          <p:nvPr/>
        </p:nvSpPr>
        <p:spPr>
          <a:xfrm>
            <a:off x="11224643" y="5794751"/>
            <a:ext cx="517032" cy="276999"/>
          </a:xfrm>
          <a:prstGeom prst="rect">
            <a:avLst/>
          </a:prstGeom>
          <a:noFill/>
        </p:spPr>
        <p:txBody>
          <a:bodyPr wrap="square" lIns="0" tIns="0" rIns="0" bIns="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i="0" u="none" strike="noStrike" kern="1200" cap="none" spc="0" normalizeH="0" baseline="0" noProof="0">
                <a:ln>
                  <a:noFill/>
                </a:ln>
                <a:solidFill>
                  <a:srgbClr val="212121"/>
                </a:solidFill>
                <a:effectLst/>
                <a:uLnTx/>
                <a:uFillTx/>
                <a:latin typeface="GT America Lt"/>
                <a:ea typeface="+mn-ea"/>
                <a:cs typeface="+mn-cs"/>
              </a:rPr>
              <a:t>DevOps Engineer</a:t>
            </a:r>
          </a:p>
        </p:txBody>
      </p:sp>
      <p:sp>
        <p:nvSpPr>
          <p:cNvPr id="111" name="TextBox 110">
            <a:extLst>
              <a:ext uri="{FF2B5EF4-FFF2-40B4-BE49-F238E27FC236}">
                <a16:creationId xmlns:a16="http://schemas.microsoft.com/office/drawing/2014/main" id="{63C1177A-99CE-675A-4C2A-E87276078F66}"/>
              </a:ext>
            </a:extLst>
          </p:cNvPr>
          <p:cNvSpPr txBox="1"/>
          <p:nvPr/>
        </p:nvSpPr>
        <p:spPr>
          <a:xfrm>
            <a:off x="10984293" y="5727610"/>
            <a:ext cx="207437" cy="377679"/>
          </a:xfrm>
          <a:prstGeom prst="rect">
            <a:avLst/>
          </a:prstGeom>
          <a:noFill/>
        </p:spPr>
        <p:txBody>
          <a:bodyPr vert="horz"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defRPr>
            </a:lvl1pPr>
          </a:lstStyle>
          <a:p>
            <a:pPr algn="ctr"/>
            <a:r>
              <a:rPr lang="en-US" sz="1200" b="0">
                <a:solidFill>
                  <a:schemeClr val="tx1"/>
                </a:solidFill>
                <a:latin typeface="+mj-lt"/>
              </a:rPr>
              <a:t>0.5</a:t>
            </a:r>
          </a:p>
        </p:txBody>
      </p:sp>
      <p:sp>
        <p:nvSpPr>
          <p:cNvPr id="115" name="TextBox 114">
            <a:extLst>
              <a:ext uri="{FF2B5EF4-FFF2-40B4-BE49-F238E27FC236}">
                <a16:creationId xmlns:a16="http://schemas.microsoft.com/office/drawing/2014/main" id="{6C89F438-1230-B9DA-6EDB-E5C393EB9923}"/>
              </a:ext>
            </a:extLst>
          </p:cNvPr>
          <p:cNvSpPr txBox="1"/>
          <p:nvPr/>
        </p:nvSpPr>
        <p:spPr>
          <a:xfrm>
            <a:off x="11128712" y="6020952"/>
            <a:ext cx="623032" cy="200055"/>
          </a:xfrm>
          <a:prstGeom prst="rect">
            <a:avLst/>
          </a:prstGeom>
          <a:noFill/>
        </p:spPr>
        <p:txBody>
          <a:bodyPr wrap="square" anchor="ctr">
            <a:spAutoFit/>
          </a:bodyPr>
          <a:lstStyle/>
          <a:p>
            <a:r>
              <a:rPr lang="en-US" sz="700" i="1">
                <a:solidFill>
                  <a:srgbClr val="8F8E87"/>
                </a:solidFill>
                <a:latin typeface="GT America" pitchFamily="34" charset="0"/>
                <a:ea typeface="GT America" pitchFamily="34" charset="-122"/>
                <a:cs typeface="GT America" pitchFamily="34" charset="-120"/>
              </a:rPr>
              <a:t>Part-time</a:t>
            </a:r>
            <a:endParaRPr lang="en-IN" sz="700" i="1"/>
          </a:p>
        </p:txBody>
      </p:sp>
      <p:sp>
        <p:nvSpPr>
          <p:cNvPr id="117" name="TextBox 116">
            <a:extLst>
              <a:ext uri="{FF2B5EF4-FFF2-40B4-BE49-F238E27FC236}">
                <a16:creationId xmlns:a16="http://schemas.microsoft.com/office/drawing/2014/main" id="{A842CDED-56C1-782B-848C-B1C4CB15BE94}"/>
              </a:ext>
            </a:extLst>
          </p:cNvPr>
          <p:cNvSpPr txBox="1"/>
          <p:nvPr/>
        </p:nvSpPr>
        <p:spPr>
          <a:xfrm>
            <a:off x="4529117" y="1932960"/>
            <a:ext cx="4927466" cy="276999"/>
          </a:xfrm>
          <a:prstGeom prst="rect">
            <a:avLst/>
          </a:prstGeom>
          <a:noFill/>
        </p:spPr>
        <p:txBody>
          <a:bodyPr wrap="square">
            <a:spAutoFit/>
          </a:bodyPr>
          <a:lstStyle/>
          <a:p>
            <a:pPr defTabSz="457200" fontAlgn="base">
              <a:spcBef>
                <a:spcPct val="0"/>
              </a:spcBef>
              <a:spcAft>
                <a:spcPts val="250"/>
              </a:spcAft>
              <a:defRPr/>
            </a:pPr>
            <a:r>
              <a:rPr lang="en-US" sz="1200" b="1">
                <a:solidFill>
                  <a:schemeClr val="accent1"/>
                </a:solidFill>
              </a:rPr>
              <a:t>Following are key outcomes from Moder Solutions </a:t>
            </a:r>
          </a:p>
        </p:txBody>
      </p:sp>
      <p:sp>
        <p:nvSpPr>
          <p:cNvPr id="121" name="TextBox 120">
            <a:extLst>
              <a:ext uri="{FF2B5EF4-FFF2-40B4-BE49-F238E27FC236}">
                <a16:creationId xmlns:a16="http://schemas.microsoft.com/office/drawing/2014/main" id="{AF7BC691-2598-7602-CD09-90A68C2362BA}"/>
              </a:ext>
            </a:extLst>
          </p:cNvPr>
          <p:cNvSpPr txBox="1"/>
          <p:nvPr/>
        </p:nvSpPr>
        <p:spPr>
          <a:xfrm>
            <a:off x="4564754" y="2203738"/>
            <a:ext cx="7341634" cy="1384995"/>
          </a:xfrm>
          <a:prstGeom prst="rect">
            <a:avLst/>
          </a:prstGeom>
          <a:noFill/>
        </p:spPr>
        <p:txBody>
          <a:bodyPr wrap="square">
            <a:spAutoFit/>
          </a:bodyPr>
          <a:lstStyle/>
          <a:p>
            <a:pPr marL="285750" indent="-285750">
              <a:buFont typeface="Arial" panose="020B0604020202020204" pitchFamily="34" charset="0"/>
              <a:buChar char="•"/>
            </a:pPr>
            <a:r>
              <a:rPr lang="en-US" sz="1200"/>
              <a:t>Full legacy stack retired  LoanTrack (Silverlight), JetDocs (ASP.NET), MS Access, and ClosingExpress replaced</a:t>
            </a:r>
          </a:p>
          <a:p>
            <a:pPr marL="285750" indent="-285750">
              <a:buFont typeface="Arial" panose="020B0604020202020204" pitchFamily="34" charset="0"/>
              <a:buChar char="•"/>
            </a:pPr>
            <a:r>
              <a:rPr lang="en-US" sz="1200"/>
              <a:t>AI extracts approximately 140 data fields from every closing package automatically, with confidence scoring</a:t>
            </a:r>
          </a:p>
          <a:p>
            <a:pPr marL="285750" indent="-285750">
              <a:buFont typeface="Arial" panose="020B0604020202020204" pitchFamily="34" charset="0"/>
              <a:buChar char="•"/>
            </a:pPr>
            <a:r>
              <a:rPr lang="en-US" sz="1200"/>
              <a:t>Legal Assistants review exceptions, not data entry forms - average handling time materially reduced</a:t>
            </a:r>
          </a:p>
          <a:p>
            <a:pPr marL="285750" indent="-285750">
              <a:buFont typeface="Arial" panose="020B0604020202020204" pitchFamily="34" charset="0"/>
              <a:buChar char="•"/>
            </a:pPr>
            <a:r>
              <a:rPr lang="en-US" sz="1200"/>
              <a:t>Dynamic queue with multi-office, multi-POD routing and real-time SLA monitoring replaces MS Access</a:t>
            </a:r>
          </a:p>
          <a:p>
            <a:pPr marL="285750" indent="-285750">
              <a:buFont typeface="Arial" panose="020B0604020202020204" pitchFamily="34" charset="0"/>
              <a:buChar char="•"/>
            </a:pPr>
            <a:r>
              <a:rPr lang="en-US" sz="1200"/>
              <a:t>Modern authenticated lender portal replaces JetDocs, supporting all five submission types</a:t>
            </a:r>
          </a:p>
          <a:p>
            <a:pPr marL="285750" indent="-285750">
              <a:buFont typeface="Arial" panose="020B0604020202020204" pitchFamily="34" charset="0"/>
              <a:buChar char="•"/>
            </a:pPr>
            <a:r>
              <a:rPr lang="en-US" sz="1200"/>
              <a:t>AI-ready platform foundation built from day one - AI activation is a future decision, not a re-engineering project</a:t>
            </a:r>
          </a:p>
          <a:p>
            <a:pPr marL="285750" indent="-285750">
              <a:buFont typeface="Arial" panose="020B0604020202020204" pitchFamily="34" charset="0"/>
              <a:buChar char="•"/>
            </a:pPr>
            <a:r>
              <a:rPr lang="en-US" sz="1200"/>
              <a:t>Delivered by a fixed team of 6.5 people over 30 weeks using AI-assisted engineering practices</a:t>
            </a:r>
          </a:p>
        </p:txBody>
      </p:sp>
      <p:cxnSp>
        <p:nvCxnSpPr>
          <p:cNvPr id="6" name="Straight Arrow Connector 5">
            <a:extLst>
              <a:ext uri="{FF2B5EF4-FFF2-40B4-BE49-F238E27FC236}">
                <a16:creationId xmlns:a16="http://schemas.microsoft.com/office/drawing/2014/main" id="{C9CEAEDE-F1C0-CDBB-B521-347B58912D94}"/>
              </a:ext>
            </a:extLst>
          </p:cNvPr>
          <p:cNvCxnSpPr>
            <a:endCxn id="65" idx="3"/>
          </p:cNvCxnSpPr>
          <p:nvPr/>
        </p:nvCxnSpPr>
        <p:spPr>
          <a:xfrm>
            <a:off x="6221319" y="5420192"/>
            <a:ext cx="1" cy="22688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3EC8CEE-EB2D-222E-7FA5-CC1EA62A94ED}"/>
              </a:ext>
            </a:extLst>
          </p:cNvPr>
          <p:cNvCxnSpPr/>
          <p:nvPr/>
        </p:nvCxnSpPr>
        <p:spPr>
          <a:xfrm>
            <a:off x="7103412" y="5420192"/>
            <a:ext cx="1" cy="22688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041A052-9472-0BBB-D509-8828D7AD69C7}"/>
              </a:ext>
            </a:extLst>
          </p:cNvPr>
          <p:cNvCxnSpPr/>
          <p:nvPr/>
        </p:nvCxnSpPr>
        <p:spPr>
          <a:xfrm>
            <a:off x="7920184" y="5420192"/>
            <a:ext cx="1" cy="22688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56B2514-8A25-8B9D-6753-CDAB0EC4B5B5}"/>
              </a:ext>
            </a:extLst>
          </p:cNvPr>
          <p:cNvCxnSpPr>
            <a:cxnSpLocks/>
            <a:endCxn id="74" idx="3"/>
          </p:cNvCxnSpPr>
          <p:nvPr/>
        </p:nvCxnSpPr>
        <p:spPr>
          <a:xfrm>
            <a:off x="8776387" y="5417082"/>
            <a:ext cx="331" cy="236217"/>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D5FCBA5-0D73-095D-A0BB-8C3A13C11EE2}"/>
              </a:ext>
            </a:extLst>
          </p:cNvPr>
          <p:cNvCxnSpPr>
            <a:cxnSpLocks/>
            <a:endCxn id="49" idx="3"/>
          </p:cNvCxnSpPr>
          <p:nvPr/>
        </p:nvCxnSpPr>
        <p:spPr>
          <a:xfrm>
            <a:off x="9631630" y="5420192"/>
            <a:ext cx="0" cy="233070"/>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7EE82CE-0955-1E59-B72D-9FC7D9A96029}"/>
              </a:ext>
            </a:extLst>
          </p:cNvPr>
          <p:cNvCxnSpPr>
            <a:cxnSpLocks/>
            <a:endCxn id="55" idx="3"/>
          </p:cNvCxnSpPr>
          <p:nvPr/>
        </p:nvCxnSpPr>
        <p:spPr>
          <a:xfrm>
            <a:off x="10479986" y="5412424"/>
            <a:ext cx="0" cy="24087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9CAAA02-A1C5-C471-E4D8-9E34E2573AE3}"/>
              </a:ext>
            </a:extLst>
          </p:cNvPr>
          <p:cNvCxnSpPr/>
          <p:nvPr/>
        </p:nvCxnSpPr>
        <p:spPr>
          <a:xfrm>
            <a:off x="11333322" y="5420192"/>
            <a:ext cx="1" cy="226885"/>
          </a:xfrm>
          <a:prstGeom prst="straightConnector1">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93" name="Group 92">
            <a:extLst>
              <a:ext uri="{FF2B5EF4-FFF2-40B4-BE49-F238E27FC236}">
                <a16:creationId xmlns:a16="http://schemas.microsoft.com/office/drawing/2014/main" id="{A332E3E8-89F5-561C-7D99-47F61C11D723}"/>
              </a:ext>
            </a:extLst>
          </p:cNvPr>
          <p:cNvGrpSpPr/>
          <p:nvPr/>
        </p:nvGrpSpPr>
        <p:grpSpPr>
          <a:xfrm>
            <a:off x="8309350" y="3821841"/>
            <a:ext cx="1668387" cy="640080"/>
            <a:chOff x="8393404" y="3814042"/>
            <a:chExt cx="1668387" cy="640080"/>
          </a:xfrm>
        </p:grpSpPr>
        <p:sp>
          <p:nvSpPr>
            <p:cNvPr id="45" name="TextBox 44">
              <a:extLst>
                <a:ext uri="{FF2B5EF4-FFF2-40B4-BE49-F238E27FC236}">
                  <a16:creationId xmlns:a16="http://schemas.microsoft.com/office/drawing/2014/main" id="{D11F177E-7B0E-50E2-0755-35DE341C5D69}"/>
                </a:ext>
              </a:extLst>
            </p:cNvPr>
            <p:cNvSpPr txBox="1"/>
            <p:nvPr/>
          </p:nvSpPr>
          <p:spPr>
            <a:xfrm>
              <a:off x="8667725" y="3823180"/>
              <a:ext cx="1019274" cy="630942"/>
            </a:xfrm>
            <a:prstGeom prst="rect">
              <a:avLst/>
            </a:prstGeom>
            <a:noFill/>
          </p:spPr>
          <p:txBody>
            <a:bodyPr wrap="square">
              <a:spAutoFit/>
            </a:bodyPr>
            <a:lstStyle/>
            <a:p>
              <a:r>
                <a:rPr lang="en-US" sz="1200" b="1">
                  <a:solidFill>
                    <a:schemeClr val="accent2"/>
                  </a:solidFill>
                </a:rPr>
                <a:t>Staged Rollout:</a:t>
              </a:r>
              <a:r>
                <a:rPr lang="en-US" sz="1200"/>
                <a:t> </a:t>
              </a:r>
            </a:p>
            <a:p>
              <a:r>
                <a:rPr lang="en-US" sz="1100"/>
                <a:t>3 Phases</a:t>
              </a:r>
            </a:p>
          </p:txBody>
        </p:sp>
        <p:sp>
          <p:nvSpPr>
            <p:cNvPr id="47" name="Rectangle: Rounded Corners 46">
              <a:extLst>
                <a:ext uri="{FF2B5EF4-FFF2-40B4-BE49-F238E27FC236}">
                  <a16:creationId xmlns:a16="http://schemas.microsoft.com/office/drawing/2014/main" id="{868B9ECF-BAF5-9E63-FF28-6BC455E646EF}"/>
                </a:ext>
              </a:extLst>
            </p:cNvPr>
            <p:cNvSpPr/>
            <p:nvPr/>
          </p:nvSpPr>
          <p:spPr>
            <a:xfrm rot="5400000">
              <a:off x="8953278" y="3345608"/>
              <a:ext cx="640080" cy="1576947"/>
            </a:xfrm>
            <a:prstGeom prst="roundRect">
              <a:avLst>
                <a:gd name="adj" fmla="val 12153"/>
              </a:avLst>
            </a:prstGeom>
            <a:no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8" name="Group 47">
              <a:extLst>
                <a:ext uri="{FF2B5EF4-FFF2-40B4-BE49-F238E27FC236}">
                  <a16:creationId xmlns:a16="http://schemas.microsoft.com/office/drawing/2014/main" id="{CC70E177-701B-1549-F74E-2447C15F4303}"/>
                </a:ext>
              </a:extLst>
            </p:cNvPr>
            <p:cNvGrpSpPr/>
            <p:nvPr/>
          </p:nvGrpSpPr>
          <p:grpSpPr>
            <a:xfrm>
              <a:off x="8393404" y="3916750"/>
              <a:ext cx="182880" cy="182880"/>
              <a:chOff x="4515851" y="2241060"/>
              <a:chExt cx="1187940" cy="1187940"/>
            </a:xfrm>
          </p:grpSpPr>
          <p:sp>
            <p:nvSpPr>
              <p:cNvPr id="50" name="Oval 49">
                <a:extLst>
                  <a:ext uri="{FF2B5EF4-FFF2-40B4-BE49-F238E27FC236}">
                    <a16:creationId xmlns:a16="http://schemas.microsoft.com/office/drawing/2014/main" id="{91578B40-11F9-C65A-4C06-C5515E06867F}"/>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51" name="Oval 50">
                <a:extLst>
                  <a:ext uri="{FF2B5EF4-FFF2-40B4-BE49-F238E27FC236}">
                    <a16:creationId xmlns:a16="http://schemas.microsoft.com/office/drawing/2014/main" id="{48B8F240-487A-2357-D685-008A0092E6CF}"/>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grpSp>
      <p:grpSp>
        <p:nvGrpSpPr>
          <p:cNvPr id="75" name="Group 74">
            <a:extLst>
              <a:ext uri="{FF2B5EF4-FFF2-40B4-BE49-F238E27FC236}">
                <a16:creationId xmlns:a16="http://schemas.microsoft.com/office/drawing/2014/main" id="{C96F37B3-7336-AE78-7D32-DF2BB3AD7A98}"/>
              </a:ext>
            </a:extLst>
          </p:cNvPr>
          <p:cNvGrpSpPr/>
          <p:nvPr/>
        </p:nvGrpSpPr>
        <p:grpSpPr>
          <a:xfrm>
            <a:off x="4539318" y="3821841"/>
            <a:ext cx="1668387" cy="640080"/>
            <a:chOff x="4529117" y="3814042"/>
            <a:chExt cx="1668387" cy="640080"/>
          </a:xfrm>
        </p:grpSpPr>
        <p:sp>
          <p:nvSpPr>
            <p:cNvPr id="52" name="TextBox 51">
              <a:extLst>
                <a:ext uri="{FF2B5EF4-FFF2-40B4-BE49-F238E27FC236}">
                  <a16:creationId xmlns:a16="http://schemas.microsoft.com/office/drawing/2014/main" id="{649FFFE0-E47D-9774-38B7-DDB3C574576C}"/>
                </a:ext>
              </a:extLst>
            </p:cNvPr>
            <p:cNvSpPr txBox="1"/>
            <p:nvPr/>
          </p:nvSpPr>
          <p:spPr>
            <a:xfrm>
              <a:off x="4803437" y="3823180"/>
              <a:ext cx="1348895" cy="630942"/>
            </a:xfrm>
            <a:prstGeom prst="rect">
              <a:avLst/>
            </a:prstGeom>
            <a:noFill/>
          </p:spPr>
          <p:txBody>
            <a:bodyPr wrap="square">
              <a:spAutoFit/>
            </a:bodyPr>
            <a:lstStyle/>
            <a:p>
              <a:r>
                <a:rPr lang="en-US" sz="1200" b="1">
                  <a:solidFill>
                    <a:schemeClr val="accent2"/>
                  </a:solidFill>
                </a:rPr>
                <a:t>Program Duration:</a:t>
              </a:r>
              <a:r>
                <a:rPr lang="en-US" sz="1200"/>
                <a:t> </a:t>
              </a:r>
            </a:p>
            <a:p>
              <a:r>
                <a:rPr lang="en-US" sz="1100"/>
                <a:t>30 Weeks</a:t>
              </a:r>
            </a:p>
          </p:txBody>
        </p:sp>
        <p:sp>
          <p:nvSpPr>
            <p:cNvPr id="53" name="Rectangle: Rounded Corners 52">
              <a:extLst>
                <a:ext uri="{FF2B5EF4-FFF2-40B4-BE49-F238E27FC236}">
                  <a16:creationId xmlns:a16="http://schemas.microsoft.com/office/drawing/2014/main" id="{EF07545E-393F-1D26-5614-86B1BA675193}"/>
                </a:ext>
              </a:extLst>
            </p:cNvPr>
            <p:cNvSpPr/>
            <p:nvPr/>
          </p:nvSpPr>
          <p:spPr>
            <a:xfrm rot="5400000">
              <a:off x="5088991" y="3345608"/>
              <a:ext cx="640080" cy="1576947"/>
            </a:xfrm>
            <a:prstGeom prst="roundRect">
              <a:avLst>
                <a:gd name="adj" fmla="val 12153"/>
              </a:avLst>
            </a:prstGeom>
            <a:no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4" name="Group 53">
              <a:extLst>
                <a:ext uri="{FF2B5EF4-FFF2-40B4-BE49-F238E27FC236}">
                  <a16:creationId xmlns:a16="http://schemas.microsoft.com/office/drawing/2014/main" id="{7498A80A-39F2-9A26-660D-B410A2B46994}"/>
                </a:ext>
              </a:extLst>
            </p:cNvPr>
            <p:cNvGrpSpPr/>
            <p:nvPr/>
          </p:nvGrpSpPr>
          <p:grpSpPr>
            <a:xfrm>
              <a:off x="4529117" y="3916750"/>
              <a:ext cx="182880" cy="182880"/>
              <a:chOff x="4515851" y="2241060"/>
              <a:chExt cx="1187940" cy="1187940"/>
            </a:xfrm>
          </p:grpSpPr>
          <p:sp>
            <p:nvSpPr>
              <p:cNvPr id="56" name="Oval 55">
                <a:extLst>
                  <a:ext uri="{FF2B5EF4-FFF2-40B4-BE49-F238E27FC236}">
                    <a16:creationId xmlns:a16="http://schemas.microsoft.com/office/drawing/2014/main" id="{FC135CF1-FA66-4B4E-A12D-C283EDA8493C}"/>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57" name="Oval 56">
                <a:extLst>
                  <a:ext uri="{FF2B5EF4-FFF2-40B4-BE49-F238E27FC236}">
                    <a16:creationId xmlns:a16="http://schemas.microsoft.com/office/drawing/2014/main" id="{C58CA945-68C6-036E-62F8-EAAA3A5AEFD0}"/>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grpSp>
      <p:grpSp>
        <p:nvGrpSpPr>
          <p:cNvPr id="76" name="Group 75">
            <a:extLst>
              <a:ext uri="{FF2B5EF4-FFF2-40B4-BE49-F238E27FC236}">
                <a16:creationId xmlns:a16="http://schemas.microsoft.com/office/drawing/2014/main" id="{70B74B3C-1DE2-5B66-0F16-D8574413AAAC}"/>
              </a:ext>
            </a:extLst>
          </p:cNvPr>
          <p:cNvGrpSpPr/>
          <p:nvPr/>
        </p:nvGrpSpPr>
        <p:grpSpPr>
          <a:xfrm>
            <a:off x="6424334" y="3821842"/>
            <a:ext cx="1668387" cy="640080"/>
            <a:chOff x="6373216" y="3814043"/>
            <a:chExt cx="1668387" cy="640080"/>
          </a:xfrm>
        </p:grpSpPr>
        <p:sp>
          <p:nvSpPr>
            <p:cNvPr id="58" name="TextBox 57">
              <a:extLst>
                <a:ext uri="{FF2B5EF4-FFF2-40B4-BE49-F238E27FC236}">
                  <a16:creationId xmlns:a16="http://schemas.microsoft.com/office/drawing/2014/main" id="{0FAC3FFE-F9DA-4A89-B4B0-F86842169FDD}"/>
                </a:ext>
              </a:extLst>
            </p:cNvPr>
            <p:cNvSpPr txBox="1"/>
            <p:nvPr/>
          </p:nvSpPr>
          <p:spPr>
            <a:xfrm>
              <a:off x="6647536" y="3823181"/>
              <a:ext cx="1272647" cy="630942"/>
            </a:xfrm>
            <a:prstGeom prst="rect">
              <a:avLst/>
            </a:prstGeom>
            <a:noFill/>
          </p:spPr>
          <p:txBody>
            <a:bodyPr wrap="square">
              <a:spAutoFit/>
            </a:bodyPr>
            <a:lstStyle/>
            <a:p>
              <a:r>
                <a:rPr lang="en-US" sz="1200" b="1">
                  <a:solidFill>
                    <a:schemeClr val="accent2"/>
                  </a:solidFill>
                </a:rPr>
                <a:t>Delivery Cadence:</a:t>
              </a:r>
              <a:r>
                <a:rPr lang="en-US" sz="1200"/>
                <a:t> </a:t>
              </a:r>
            </a:p>
            <a:p>
              <a:r>
                <a:rPr lang="en-US" sz="1100"/>
                <a:t>15 Sprints</a:t>
              </a:r>
            </a:p>
          </p:txBody>
        </p:sp>
        <p:sp>
          <p:nvSpPr>
            <p:cNvPr id="64" name="Rectangle: Rounded Corners 63">
              <a:extLst>
                <a:ext uri="{FF2B5EF4-FFF2-40B4-BE49-F238E27FC236}">
                  <a16:creationId xmlns:a16="http://schemas.microsoft.com/office/drawing/2014/main" id="{0D7718E6-4C29-DD78-F59C-88F26FFA1E8D}"/>
                </a:ext>
              </a:extLst>
            </p:cNvPr>
            <p:cNvSpPr/>
            <p:nvPr/>
          </p:nvSpPr>
          <p:spPr>
            <a:xfrm rot="5400000">
              <a:off x="6933090" y="3345609"/>
              <a:ext cx="640080" cy="1576947"/>
            </a:xfrm>
            <a:prstGeom prst="roundRect">
              <a:avLst>
                <a:gd name="adj" fmla="val 12153"/>
              </a:avLst>
            </a:prstGeom>
            <a:noFill/>
            <a:ln w="63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9" name="Group 68">
              <a:extLst>
                <a:ext uri="{FF2B5EF4-FFF2-40B4-BE49-F238E27FC236}">
                  <a16:creationId xmlns:a16="http://schemas.microsoft.com/office/drawing/2014/main" id="{54D78719-4505-2353-4809-48AF7A65B5B6}"/>
                </a:ext>
              </a:extLst>
            </p:cNvPr>
            <p:cNvGrpSpPr/>
            <p:nvPr/>
          </p:nvGrpSpPr>
          <p:grpSpPr>
            <a:xfrm>
              <a:off x="6373216" y="3916751"/>
              <a:ext cx="182880" cy="182880"/>
              <a:chOff x="4515851" y="2241060"/>
              <a:chExt cx="1187940" cy="1187940"/>
            </a:xfrm>
          </p:grpSpPr>
          <p:sp>
            <p:nvSpPr>
              <p:cNvPr id="70" name="Oval 69">
                <a:extLst>
                  <a:ext uri="{FF2B5EF4-FFF2-40B4-BE49-F238E27FC236}">
                    <a16:creationId xmlns:a16="http://schemas.microsoft.com/office/drawing/2014/main" id="{1E49B72C-E074-030C-BB11-0882FCD2A990}"/>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72" name="Oval 71">
                <a:extLst>
                  <a:ext uri="{FF2B5EF4-FFF2-40B4-BE49-F238E27FC236}">
                    <a16:creationId xmlns:a16="http://schemas.microsoft.com/office/drawing/2014/main" id="{C303EA23-DE12-5868-C94A-ECB039F0E62E}"/>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grpSp>
      <p:sp>
        <p:nvSpPr>
          <p:cNvPr id="104" name="TextBox 103">
            <a:extLst>
              <a:ext uri="{FF2B5EF4-FFF2-40B4-BE49-F238E27FC236}">
                <a16:creationId xmlns:a16="http://schemas.microsoft.com/office/drawing/2014/main" id="{886ABBC4-2544-7FA6-CBC5-AE9562E847C2}"/>
              </a:ext>
            </a:extLst>
          </p:cNvPr>
          <p:cNvSpPr txBox="1"/>
          <p:nvPr/>
        </p:nvSpPr>
        <p:spPr>
          <a:xfrm>
            <a:off x="183681" y="3997510"/>
            <a:ext cx="4020409" cy="1638910"/>
          </a:xfrm>
          <a:prstGeom prst="rect">
            <a:avLst/>
          </a:prstGeom>
          <a:noFill/>
        </p:spPr>
        <p:txBody>
          <a:bodyPr wrap="square">
            <a:spAutoFit/>
          </a:bodyPr>
          <a:lstStyle/>
          <a:p>
            <a:pPr defTabSz="457200" fontAlgn="base">
              <a:spcBef>
                <a:spcPct val="0"/>
              </a:spcBef>
              <a:spcAft>
                <a:spcPts val="250"/>
              </a:spcAft>
              <a:defRPr/>
            </a:pPr>
            <a:r>
              <a:rPr lang="en-US" sz="1200" b="1">
                <a:solidFill>
                  <a:schemeClr val="accent1"/>
                </a:solidFill>
              </a:rPr>
              <a:t>Key Challenges:</a:t>
            </a:r>
            <a:endParaRPr lang="en-US" altLang="en-US" sz="1200">
              <a:solidFill>
                <a:schemeClr val="bg1"/>
              </a:solidFill>
            </a:endParaRPr>
          </a:p>
          <a:p>
            <a:pPr marL="171450" lvl="0" indent="-171450" eaLnBrk="0" fontAlgn="base" hangingPunct="0">
              <a:spcBef>
                <a:spcPct val="0"/>
              </a:spcBef>
              <a:spcAft>
                <a:spcPct val="0"/>
              </a:spcAft>
              <a:buFont typeface="Arial" panose="020B0604020202020204" pitchFamily="34" charset="0"/>
              <a:buChar char="•"/>
            </a:pPr>
            <a:r>
              <a:rPr lang="en-US" altLang="en-US" sz="1200">
                <a:solidFill>
                  <a:schemeClr val="bg1"/>
                </a:solidFill>
              </a:rPr>
              <a:t>Six disconnected systems with no integration at any boundary </a:t>
            </a:r>
          </a:p>
          <a:p>
            <a:pPr marL="171450" lvl="0" indent="-171450" eaLnBrk="0" fontAlgn="base" hangingPunct="0">
              <a:spcBef>
                <a:spcPct val="0"/>
              </a:spcBef>
              <a:spcAft>
                <a:spcPct val="0"/>
              </a:spcAft>
              <a:buFont typeface="Arial" panose="020B0604020202020204" pitchFamily="34" charset="0"/>
              <a:buChar char="•"/>
            </a:pPr>
            <a:r>
              <a:rPr lang="en-US" altLang="en-US" sz="1200">
                <a:solidFill>
                  <a:schemeClr val="bg1"/>
                </a:solidFill>
              </a:rPr>
              <a:t>Legal Assistants hand-key approximately 140 fields per file </a:t>
            </a:r>
          </a:p>
          <a:p>
            <a:pPr marL="171450" lvl="0" indent="-171450" eaLnBrk="0" fontAlgn="base" hangingPunct="0">
              <a:spcBef>
                <a:spcPct val="0"/>
              </a:spcBef>
              <a:spcAft>
                <a:spcPct val="0"/>
              </a:spcAft>
              <a:buFont typeface="Arial" panose="020B0604020202020204" pitchFamily="34" charset="0"/>
              <a:buChar char="•"/>
            </a:pPr>
            <a:r>
              <a:rPr lang="en-US" altLang="en-US" sz="1200">
                <a:solidFill>
                  <a:schemeClr val="bg1"/>
                </a:solidFill>
              </a:rPr>
              <a:t>Rework rates up to 60% on some accounts due to missing documents discovered mid-review </a:t>
            </a:r>
          </a:p>
          <a:p>
            <a:pPr marL="171450" lvl="0" indent="-171450" eaLnBrk="0" fontAlgn="base" hangingPunct="0">
              <a:spcBef>
                <a:spcPct val="0"/>
              </a:spcBef>
              <a:spcAft>
                <a:spcPct val="0"/>
              </a:spcAft>
              <a:buFont typeface="Arial" panose="020B0604020202020204" pitchFamily="34" charset="0"/>
              <a:buChar char="•"/>
            </a:pPr>
            <a:r>
              <a:rPr lang="en-US" altLang="en-US" sz="1200">
                <a:solidFill>
                  <a:schemeClr val="bg1"/>
                </a:solidFill>
              </a:rPr>
              <a:t>No real-time SLA visibility - operational status requires asking someone </a:t>
            </a:r>
          </a:p>
        </p:txBody>
      </p:sp>
      <p:cxnSp>
        <p:nvCxnSpPr>
          <p:cNvPr id="108" name="Straight Connector 107">
            <a:extLst>
              <a:ext uri="{FF2B5EF4-FFF2-40B4-BE49-F238E27FC236}">
                <a16:creationId xmlns:a16="http://schemas.microsoft.com/office/drawing/2014/main" id="{43A6A55A-D1BB-5642-4756-A126AF551E0C}"/>
              </a:ext>
            </a:extLst>
          </p:cNvPr>
          <p:cNvCxnSpPr/>
          <p:nvPr/>
        </p:nvCxnSpPr>
        <p:spPr>
          <a:xfrm>
            <a:off x="271848" y="3868373"/>
            <a:ext cx="38282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009575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DFA068A-B9A2-2404-7A4C-10FE3C853226}"/>
              </a:ext>
            </a:extLst>
          </p:cNvPr>
          <p:cNvSpPr/>
          <p:nvPr/>
        </p:nvSpPr>
        <p:spPr>
          <a:xfrm>
            <a:off x="5829301" y="2081802"/>
            <a:ext cx="6057898" cy="396518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AEC8B8B7-A5C6-BE9B-BF3F-E2A735933F2E}"/>
              </a:ext>
            </a:extLst>
          </p:cNvPr>
          <p:cNvSpPr/>
          <p:nvPr/>
        </p:nvSpPr>
        <p:spPr>
          <a:xfrm>
            <a:off x="304800" y="2081802"/>
            <a:ext cx="5219669" cy="396518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61EAFD6-1A18-8728-A74C-E6A8360816DB}"/>
              </a:ext>
            </a:extLst>
          </p:cNvPr>
          <p:cNvSpPr>
            <a:spLocks noGrp="1"/>
          </p:cNvSpPr>
          <p:nvPr>
            <p:ph type="title"/>
          </p:nvPr>
        </p:nvSpPr>
        <p:spPr/>
        <p:txBody>
          <a:bodyPr/>
          <a:lstStyle/>
          <a:p>
            <a:r>
              <a:rPr lang="en-IN"/>
              <a:t>Business Understanding &amp; Current-State Challenges</a:t>
            </a:r>
          </a:p>
        </p:txBody>
      </p:sp>
      <p:sp>
        <p:nvSpPr>
          <p:cNvPr id="5" name="TextBox 4">
            <a:extLst>
              <a:ext uri="{FF2B5EF4-FFF2-40B4-BE49-F238E27FC236}">
                <a16:creationId xmlns:a16="http://schemas.microsoft.com/office/drawing/2014/main" id="{71C92C45-3C31-2835-4B25-58E5BD32209E}"/>
              </a:ext>
            </a:extLst>
          </p:cNvPr>
          <p:cNvSpPr txBox="1"/>
          <p:nvPr/>
        </p:nvSpPr>
        <p:spPr>
          <a:xfrm>
            <a:off x="304801" y="1011223"/>
            <a:ext cx="11582398" cy="646331"/>
          </a:xfrm>
          <a:prstGeom prst="rect">
            <a:avLst/>
          </a:prstGeom>
          <a:noFill/>
        </p:spPr>
        <p:txBody>
          <a:bodyPr wrap="square">
            <a:spAutoFit/>
          </a:bodyPr>
          <a:lstStyle/>
          <a:p>
            <a:pPr>
              <a:spcBef>
                <a:spcPts val="400"/>
              </a:spcBef>
              <a:spcAft>
                <a:spcPts val="400"/>
              </a:spcAft>
              <a:buNone/>
            </a:pPr>
            <a:r>
              <a:rPr lang="en-IN" sz="1200">
                <a:solidFill>
                  <a:srgbClr val="263238"/>
                </a:solidFill>
                <a:effectLst/>
                <a:ea typeface="Arial" panose="020B0604020202020204" pitchFamily="34" charset="0"/>
              </a:rPr>
              <a:t>BM&amp;G provides mortgage closing document examination and review services to lenders operating in Texas and adjacent states. Under Texas law, an attorney must review loan closing documents - making this a legally mandated, high-volume service. The firm serves approximately 300 lender clients, with the top 45 lenders accounting for around 80% of total business volume. Examination - reviewing documents and delivering a supplemental closing package - constitutes 80–90% of the firm’s total workload</a:t>
            </a:r>
            <a:r>
              <a:rPr lang="en-IN" sz="1100">
                <a:solidFill>
                  <a:srgbClr val="263238"/>
                </a:solidFill>
                <a:effectLst/>
                <a:ea typeface="Arial" panose="020B0604020202020204" pitchFamily="34" charset="0"/>
              </a:rPr>
              <a:t>.</a:t>
            </a:r>
          </a:p>
        </p:txBody>
      </p:sp>
      <p:sp>
        <p:nvSpPr>
          <p:cNvPr id="9" name="TextBox 8">
            <a:extLst>
              <a:ext uri="{FF2B5EF4-FFF2-40B4-BE49-F238E27FC236}">
                <a16:creationId xmlns:a16="http://schemas.microsoft.com/office/drawing/2014/main" id="{5AA6D2DC-E4B6-C395-FA4E-B59FE24689F0}"/>
              </a:ext>
            </a:extLst>
          </p:cNvPr>
          <p:cNvSpPr txBox="1"/>
          <p:nvPr/>
        </p:nvSpPr>
        <p:spPr>
          <a:xfrm>
            <a:off x="349145" y="2507888"/>
            <a:ext cx="4822963" cy="2857192"/>
          </a:xfrm>
          <a:prstGeom prst="rect">
            <a:avLst/>
          </a:prstGeom>
          <a:noFill/>
        </p:spPr>
        <p:txBody>
          <a:bodyPr wrap="square">
            <a:spAutoFit/>
          </a:bodyPr>
          <a:lstStyle/>
          <a:p>
            <a:pPr>
              <a:spcBef>
                <a:spcPts val="400"/>
              </a:spcBef>
              <a:spcAft>
                <a:spcPts val="400"/>
              </a:spcAft>
              <a:buNone/>
            </a:pPr>
            <a:r>
              <a:rPr lang="en-IN" sz="1200">
                <a:solidFill>
                  <a:srgbClr val="263238"/>
                </a:solidFill>
                <a:effectLst/>
                <a:ea typeface="Arial" panose="020B0604020202020204" pitchFamily="34" charset="0"/>
              </a:rPr>
              <a:t>The examination process flows through three stages: Intake, Processing, and Release. Each transition between stages is currently a manual human step with no automation at any boundary.</a:t>
            </a:r>
          </a:p>
          <a:p>
            <a:pPr marL="342900" lvl="0" indent="-342900">
              <a:spcBef>
                <a:spcPts val="200"/>
              </a:spcBef>
              <a:spcAft>
                <a:spcPts val="200"/>
              </a:spcAft>
              <a:buFont typeface="Arial" panose="020B0604020202020204" pitchFamily="34" charset="0"/>
              <a:buChar char="•"/>
            </a:pPr>
            <a:r>
              <a:rPr lang="en-IN" sz="1200">
                <a:solidFill>
                  <a:srgbClr val="263238"/>
                </a:solidFill>
                <a:effectLst/>
                <a:ea typeface="Arial" panose="020B0604020202020204" pitchFamily="34" charset="0"/>
              </a:rPr>
              <a:t>Intake: Lender uploads documents via JetDocs. Staff manually creates a transaction in LoanTrack, assigns an invoice number, uploads documents to EDM, and places the file in the MS Access queue.</a:t>
            </a:r>
          </a:p>
          <a:p>
            <a:pPr marL="342900" lvl="0" indent="-342900">
              <a:spcBef>
                <a:spcPts val="200"/>
              </a:spcBef>
              <a:spcAft>
                <a:spcPts val="200"/>
              </a:spcAft>
              <a:buFont typeface="Arial" panose="020B0604020202020204" pitchFamily="34" charset="0"/>
              <a:buChar char="•"/>
            </a:pPr>
            <a:r>
              <a:rPr lang="en-IN" sz="1200">
                <a:solidFill>
                  <a:srgbClr val="263238"/>
                </a:solidFill>
                <a:effectLst/>
                <a:ea typeface="Arial" panose="020B0604020202020204" pitchFamily="34" charset="0"/>
              </a:rPr>
              <a:t>Processing: A Legal Assistant picks up the file from the Access queue. They open ClosingExpress, manually read every document in the closing package, and enter approximately 140 data fields across seven input screens. They then perform a stare-and-compare review against the Review 1 checklist.</a:t>
            </a:r>
          </a:p>
          <a:p>
            <a:pPr marL="342900" lvl="0" indent="-342900">
              <a:spcBef>
                <a:spcPts val="200"/>
              </a:spcBef>
              <a:spcAft>
                <a:spcPts val="200"/>
              </a:spcAft>
              <a:buFont typeface="Arial" panose="020B0604020202020204" pitchFamily="34" charset="0"/>
              <a:buChar char="•"/>
            </a:pPr>
            <a:r>
              <a:rPr lang="en-IN" sz="1200">
                <a:solidFill>
                  <a:srgbClr val="263238"/>
                </a:solidFill>
                <a:effectLst/>
                <a:ea typeface="Arial" panose="020B0604020202020204" pitchFamily="34" charset="0"/>
              </a:rPr>
              <a:t>Release: The Legal Assistant generates the supplemental closing package via ClosingExpress and delivers it through SecureDocs to the lender or title agent.</a:t>
            </a:r>
          </a:p>
        </p:txBody>
      </p:sp>
      <p:sp>
        <p:nvSpPr>
          <p:cNvPr id="10" name="TextBox 9">
            <a:extLst>
              <a:ext uri="{FF2B5EF4-FFF2-40B4-BE49-F238E27FC236}">
                <a16:creationId xmlns:a16="http://schemas.microsoft.com/office/drawing/2014/main" id="{E1C7A26F-FEB2-E5F0-459E-650C99900531}"/>
              </a:ext>
            </a:extLst>
          </p:cNvPr>
          <p:cNvSpPr txBox="1"/>
          <p:nvPr/>
        </p:nvSpPr>
        <p:spPr>
          <a:xfrm>
            <a:off x="5922034" y="2507888"/>
            <a:ext cx="5667343" cy="3406061"/>
          </a:xfrm>
          <a:prstGeom prst="rect">
            <a:avLst/>
          </a:prstGeom>
          <a:noFill/>
        </p:spPr>
        <p:txBody>
          <a:bodyPr wrap="square">
            <a:spAutoFit/>
          </a:bodyPr>
          <a:lstStyle/>
          <a:p>
            <a:pPr>
              <a:spcBef>
                <a:spcPts val="1600"/>
              </a:spcBef>
              <a:spcAft>
                <a:spcPts val="600"/>
              </a:spcAft>
            </a:pPr>
            <a:r>
              <a:rPr lang="en-US" sz="1200">
                <a:solidFill>
                  <a:srgbClr val="263238"/>
                </a:solidFill>
                <a:effectLst/>
                <a:ea typeface="Arial" panose="020B0604020202020204" pitchFamily="34" charset="0"/>
              </a:rPr>
              <a:t>The following challenges were identified through discovery sessions, system documentation review, and analysis of the examination process spreadsheet:</a:t>
            </a:r>
            <a:r>
              <a:rPr lang="en-IN" sz="1200">
                <a:solidFill>
                  <a:srgbClr val="263238"/>
                </a:solidFill>
                <a:effectLst/>
                <a:ea typeface="Arial" panose="020B0604020202020204" pitchFamily="34" charset="0"/>
              </a:rPr>
              <a:t> </a:t>
            </a:r>
          </a:p>
          <a:p>
            <a:pPr marL="342900" lvl="0" indent="-342900">
              <a:spcBef>
                <a:spcPts val="200"/>
              </a:spcBef>
              <a:spcAft>
                <a:spcPts val="200"/>
              </a:spcAft>
              <a:buFont typeface="Arial" panose="020B0604020202020204" pitchFamily="34" charset="0"/>
              <a:buChar char="•"/>
            </a:pPr>
            <a:r>
              <a:rPr lang="en-US" sz="1200">
                <a:solidFill>
                  <a:srgbClr val="263238"/>
                </a:solidFill>
                <a:effectLst/>
                <a:ea typeface="Arial" panose="020B0604020202020204" pitchFamily="34" charset="0"/>
              </a:rPr>
              <a:t>No integration at any system boundary. Every stage transition is a manual human step, introducing lag and error risk.</a:t>
            </a:r>
          </a:p>
          <a:p>
            <a:pPr marL="342900" lvl="0" indent="-342900">
              <a:spcBef>
                <a:spcPts val="200"/>
              </a:spcBef>
              <a:spcAft>
                <a:spcPts val="200"/>
              </a:spcAft>
              <a:buFont typeface="Arial" panose="020B0604020202020204" pitchFamily="34" charset="0"/>
              <a:buChar char="•"/>
            </a:pPr>
            <a:r>
              <a:rPr lang="en-US" sz="1200">
                <a:solidFill>
                  <a:srgbClr val="263238"/>
                </a:solidFill>
                <a:effectLst/>
                <a:ea typeface="Arial" panose="020B0604020202020204" pitchFamily="34" charset="0"/>
              </a:rPr>
              <a:t>Legacy technology stack. LoanTrack runs on end-of-life Silverlight. JetDocs is aging ASP.NET. MS Access is not a production workflow system.</a:t>
            </a:r>
          </a:p>
          <a:p>
            <a:pPr marL="342900" lvl="0" indent="-342900">
              <a:spcBef>
                <a:spcPts val="200"/>
              </a:spcBef>
              <a:spcAft>
                <a:spcPts val="200"/>
              </a:spcAft>
              <a:buFont typeface="Arial" panose="020B0604020202020204" pitchFamily="34" charset="0"/>
              <a:buChar char="•"/>
            </a:pPr>
            <a:r>
              <a:rPr lang="en-US" sz="1200">
                <a:solidFill>
                  <a:srgbClr val="263238"/>
                </a:solidFill>
                <a:effectLst/>
                <a:ea typeface="Arial" panose="020B0604020202020204" pitchFamily="34" charset="0"/>
              </a:rPr>
              <a:t>Manual data extraction. Legal Assistants hand-key approximately 140 fields per file from six document types. This is the primary driver of handling time.</a:t>
            </a:r>
          </a:p>
          <a:p>
            <a:pPr marL="342900" lvl="0" indent="-342900">
              <a:spcBef>
                <a:spcPts val="200"/>
              </a:spcBef>
              <a:spcAft>
                <a:spcPts val="200"/>
              </a:spcAft>
              <a:buFont typeface="Arial" panose="020B0604020202020204" pitchFamily="34" charset="0"/>
              <a:buChar char="•"/>
            </a:pPr>
            <a:r>
              <a:rPr lang="en-US" sz="1200">
                <a:solidFill>
                  <a:srgbClr val="263238"/>
                </a:solidFill>
                <a:effectLst/>
                <a:ea typeface="Arial" panose="020B0604020202020204" pitchFamily="34" charset="0"/>
              </a:rPr>
              <a:t>Rework rates up to 60% on some accounts. Missing or incomplete documents are not detected at intake - they are discovered by the examiner mid-review, triggering manual email chains.</a:t>
            </a:r>
          </a:p>
          <a:p>
            <a:pPr marL="342900" lvl="0" indent="-342900">
              <a:spcBef>
                <a:spcPts val="200"/>
              </a:spcBef>
              <a:spcAft>
                <a:spcPts val="200"/>
              </a:spcAft>
              <a:buFont typeface="Arial" panose="020B0604020202020204" pitchFamily="34" charset="0"/>
              <a:buChar char="•"/>
            </a:pPr>
            <a:r>
              <a:rPr lang="en-US" sz="1200">
                <a:solidFill>
                  <a:srgbClr val="263238"/>
                </a:solidFill>
                <a:effectLst/>
                <a:ea typeface="Arial" panose="020B0604020202020204" pitchFamily="34" charset="0"/>
              </a:rPr>
              <a:t>Zero operational visibility. No real-time SLA dashboard. No queue analytics. Management cannot see the current state of operations without asking someone.</a:t>
            </a:r>
          </a:p>
          <a:p>
            <a:pPr marL="342900" lvl="0" indent="-342900">
              <a:spcBef>
                <a:spcPts val="200"/>
              </a:spcBef>
              <a:spcAft>
                <a:spcPts val="200"/>
              </a:spcAft>
              <a:buFont typeface="Arial" panose="020B0604020202020204" pitchFamily="34" charset="0"/>
              <a:buChar char="•"/>
            </a:pPr>
            <a:r>
              <a:rPr lang="en-US" sz="1200">
                <a:solidFill>
                  <a:srgbClr val="263238"/>
                </a:solidFill>
                <a:effectLst/>
                <a:ea typeface="Arial" panose="020B0604020202020204" pitchFamily="34" charset="0"/>
              </a:rPr>
              <a:t>Single developer dependency. All custom systems are maintained by one internal developer. Any change, fix, or integration requires a single person with no documented backup.</a:t>
            </a:r>
          </a:p>
        </p:txBody>
      </p:sp>
      <p:sp>
        <p:nvSpPr>
          <p:cNvPr id="15" name="TextBox 14">
            <a:extLst>
              <a:ext uri="{FF2B5EF4-FFF2-40B4-BE49-F238E27FC236}">
                <a16:creationId xmlns:a16="http://schemas.microsoft.com/office/drawing/2014/main" id="{3F50C95A-06F2-1143-0933-6E7215BC3C31}"/>
              </a:ext>
            </a:extLst>
          </p:cNvPr>
          <p:cNvSpPr txBox="1"/>
          <p:nvPr/>
        </p:nvSpPr>
        <p:spPr>
          <a:xfrm>
            <a:off x="5829270" y="2014316"/>
            <a:ext cx="6038925" cy="369332"/>
          </a:xfrm>
          <a:prstGeom prst="rect">
            <a:avLst/>
          </a:prstGeom>
          <a:solidFill>
            <a:schemeClr val="accent1"/>
          </a:solidFill>
        </p:spPr>
        <p:txBody>
          <a:bodyPr wrap="square">
            <a:spAutoFit/>
          </a:bodyPr>
          <a:lstStyle/>
          <a:p>
            <a:pPr>
              <a:spcBef>
                <a:spcPts val="1600"/>
              </a:spcBef>
              <a:spcAft>
                <a:spcPts val="600"/>
              </a:spcAft>
            </a:pPr>
            <a:r>
              <a:rPr lang="en-IN" b="1">
                <a:solidFill>
                  <a:schemeClr val="bg1"/>
                </a:solidFill>
              </a:rPr>
              <a:t> Current-State Challenges</a:t>
            </a:r>
          </a:p>
        </p:txBody>
      </p:sp>
      <p:sp>
        <p:nvSpPr>
          <p:cNvPr id="16" name="TextBox 15">
            <a:extLst>
              <a:ext uri="{FF2B5EF4-FFF2-40B4-BE49-F238E27FC236}">
                <a16:creationId xmlns:a16="http://schemas.microsoft.com/office/drawing/2014/main" id="{62E4D023-7854-3462-EE5C-0CDD011E5F01}"/>
              </a:ext>
            </a:extLst>
          </p:cNvPr>
          <p:cNvSpPr txBox="1"/>
          <p:nvPr/>
        </p:nvSpPr>
        <p:spPr>
          <a:xfrm>
            <a:off x="323805" y="2010937"/>
            <a:ext cx="5200664" cy="369332"/>
          </a:xfrm>
          <a:prstGeom prst="rect">
            <a:avLst/>
          </a:prstGeom>
          <a:solidFill>
            <a:schemeClr val="accent2"/>
          </a:solidFill>
        </p:spPr>
        <p:txBody>
          <a:bodyPr wrap="square">
            <a:spAutoFit/>
          </a:bodyPr>
          <a:lstStyle/>
          <a:p>
            <a:pPr>
              <a:spcBef>
                <a:spcPts val="1600"/>
              </a:spcBef>
              <a:spcAft>
                <a:spcPts val="600"/>
              </a:spcAft>
            </a:pPr>
            <a:r>
              <a:rPr lang="en-IN" b="1">
                <a:solidFill>
                  <a:schemeClr val="bg1"/>
                </a:solidFill>
              </a:rPr>
              <a:t>Current Operational Workflow</a:t>
            </a:r>
          </a:p>
        </p:txBody>
      </p:sp>
    </p:spTree>
    <p:extLst>
      <p:ext uri="{BB962C8B-B14F-4D97-AF65-F5344CB8AC3E}">
        <p14:creationId xmlns:p14="http://schemas.microsoft.com/office/powerpoint/2010/main" val="82519355"/>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8E22E-E04A-859F-475A-88DDA6D6E64F}"/>
              </a:ext>
            </a:extLst>
          </p:cNvPr>
          <p:cNvSpPr>
            <a:spLocks noGrp="1"/>
          </p:cNvSpPr>
          <p:nvPr>
            <p:ph type="title"/>
          </p:nvPr>
        </p:nvSpPr>
        <p:spPr/>
        <p:txBody>
          <a:bodyPr/>
          <a:lstStyle/>
          <a:p>
            <a:r>
              <a:rPr lang="en-US"/>
              <a:t>Where BM&amp;G Operates Today</a:t>
            </a:r>
            <a:endParaRPr lang="en-IN"/>
          </a:p>
        </p:txBody>
      </p:sp>
      <p:sp>
        <p:nvSpPr>
          <p:cNvPr id="8" name="Text 3">
            <a:extLst>
              <a:ext uri="{FF2B5EF4-FFF2-40B4-BE49-F238E27FC236}">
                <a16:creationId xmlns:a16="http://schemas.microsoft.com/office/drawing/2014/main" id="{8559699B-4BC7-73A4-6AB1-98A99AB1395C}"/>
              </a:ext>
            </a:extLst>
          </p:cNvPr>
          <p:cNvSpPr/>
          <p:nvPr/>
        </p:nvSpPr>
        <p:spPr>
          <a:xfrm>
            <a:off x="447675" y="1020698"/>
            <a:ext cx="4023360" cy="228600"/>
          </a:xfrm>
          <a:prstGeom prst="rect">
            <a:avLst/>
          </a:prstGeom>
          <a:noFill/>
          <a:ln/>
        </p:spPr>
        <p:txBody>
          <a:bodyPr wrap="square" lIns="0" tIns="0" rIns="0" bIns="0" rtlCol="0" anchor="ctr"/>
          <a:lstStyle/>
          <a:p>
            <a:pPr marL="0" indent="0">
              <a:buNone/>
            </a:pPr>
            <a:r>
              <a:rPr lang="en-US" sz="1400" b="1">
                <a:solidFill>
                  <a:srgbClr val="00B8BB"/>
                </a:solidFill>
                <a:latin typeface="GT America" pitchFamily="34" charset="0"/>
                <a:ea typeface="GT America" pitchFamily="34" charset="-122"/>
                <a:cs typeface="GT America" pitchFamily="34" charset="-120"/>
              </a:rPr>
              <a:t>The Six-System Legacy Stack</a:t>
            </a:r>
            <a:endParaRPr lang="en-US" sz="1400"/>
          </a:p>
        </p:txBody>
      </p:sp>
      <p:sp>
        <p:nvSpPr>
          <p:cNvPr id="9" name="Shape 4">
            <a:extLst>
              <a:ext uri="{FF2B5EF4-FFF2-40B4-BE49-F238E27FC236}">
                <a16:creationId xmlns:a16="http://schemas.microsoft.com/office/drawing/2014/main" id="{283A0C99-2C2F-55D5-9AB7-A7BBC6B895F3}"/>
              </a:ext>
            </a:extLst>
          </p:cNvPr>
          <p:cNvSpPr/>
          <p:nvPr/>
        </p:nvSpPr>
        <p:spPr>
          <a:xfrm>
            <a:off x="447675" y="1363598"/>
            <a:ext cx="3931920" cy="520595"/>
          </a:xfrm>
          <a:prstGeom prst="rect">
            <a:avLst/>
          </a:prstGeom>
          <a:solidFill>
            <a:srgbClr val="EFEFEE"/>
          </a:solidFill>
          <a:ln w="6350">
            <a:solidFill>
              <a:srgbClr val="D8D8CE"/>
            </a:solidFill>
            <a:prstDash val="solid"/>
          </a:ln>
        </p:spPr>
        <p:txBody>
          <a:bodyPr/>
          <a:lstStyle/>
          <a:p>
            <a:endParaRPr lang="en-IN" sz="1200"/>
          </a:p>
        </p:txBody>
      </p:sp>
      <p:sp>
        <p:nvSpPr>
          <p:cNvPr id="10" name="Text 5">
            <a:extLst>
              <a:ext uri="{FF2B5EF4-FFF2-40B4-BE49-F238E27FC236}">
                <a16:creationId xmlns:a16="http://schemas.microsoft.com/office/drawing/2014/main" id="{C6BACDD1-70B8-D9A9-EC36-C20D8DBCA717}"/>
              </a:ext>
            </a:extLst>
          </p:cNvPr>
          <p:cNvSpPr/>
          <p:nvPr/>
        </p:nvSpPr>
        <p:spPr>
          <a:xfrm>
            <a:off x="557403" y="1413178"/>
            <a:ext cx="1188720" cy="421434"/>
          </a:xfrm>
          <a:prstGeom prst="rect">
            <a:avLst/>
          </a:prstGeom>
          <a:noFill/>
          <a:ln/>
        </p:spPr>
        <p:txBody>
          <a:bodyPr wrap="square" lIns="0" tIns="0" rIns="0" bIns="0" rtlCol="0" anchor="ctr"/>
          <a:lstStyle/>
          <a:p>
            <a:pPr marL="0" indent="0">
              <a:buNone/>
            </a:pPr>
            <a:r>
              <a:rPr lang="en-US" sz="1200" b="1">
                <a:solidFill>
                  <a:srgbClr val="024854"/>
                </a:solidFill>
                <a:ea typeface="GT America" pitchFamily="34" charset="-122"/>
                <a:cs typeface="GT America" pitchFamily="34" charset="-120"/>
              </a:rPr>
              <a:t>JetDocs</a:t>
            </a:r>
            <a:endParaRPr lang="en-US" sz="1200"/>
          </a:p>
        </p:txBody>
      </p:sp>
      <p:sp>
        <p:nvSpPr>
          <p:cNvPr id="11" name="Text 6">
            <a:extLst>
              <a:ext uri="{FF2B5EF4-FFF2-40B4-BE49-F238E27FC236}">
                <a16:creationId xmlns:a16="http://schemas.microsoft.com/office/drawing/2014/main" id="{A657418B-D8A2-6D2E-C5E8-FBF1AE7EB0D1}"/>
              </a:ext>
            </a:extLst>
          </p:cNvPr>
          <p:cNvSpPr/>
          <p:nvPr/>
        </p:nvSpPr>
        <p:spPr>
          <a:xfrm>
            <a:off x="1819275" y="1413178"/>
            <a:ext cx="1554480" cy="421434"/>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ASP.NET</a:t>
            </a:r>
          </a:p>
        </p:txBody>
      </p:sp>
      <p:sp>
        <p:nvSpPr>
          <p:cNvPr id="13" name="Text 8">
            <a:extLst>
              <a:ext uri="{FF2B5EF4-FFF2-40B4-BE49-F238E27FC236}">
                <a16:creationId xmlns:a16="http://schemas.microsoft.com/office/drawing/2014/main" id="{1088F4AB-9D0E-28D3-63D8-83D776FD831F}"/>
              </a:ext>
            </a:extLst>
          </p:cNvPr>
          <p:cNvSpPr/>
          <p:nvPr/>
        </p:nvSpPr>
        <p:spPr>
          <a:xfrm>
            <a:off x="3183636" y="1531639"/>
            <a:ext cx="1195959" cy="231350"/>
          </a:xfrm>
          <a:prstGeom prst="rect">
            <a:avLst/>
          </a:prstGeom>
          <a:noFill/>
          <a:ln/>
        </p:spPr>
        <p:txBody>
          <a:bodyPr wrap="square" lIns="0" tIns="0" rIns="0" bIns="0" rtlCol="0" anchor="ctr"/>
          <a:lstStyle/>
          <a:p>
            <a:pPr marL="0" indent="0" algn="ctr">
              <a:buNone/>
            </a:pPr>
            <a:r>
              <a:rPr lang="en-US" sz="1200" b="1">
                <a:solidFill>
                  <a:srgbClr val="F26A21"/>
                </a:solidFill>
                <a:ea typeface="GT America" pitchFamily="34" charset="-122"/>
                <a:cs typeface="GT America" pitchFamily="34" charset="-120"/>
              </a:rPr>
              <a:t>MANUAL ↓</a:t>
            </a:r>
            <a:endParaRPr lang="en-US" sz="1200"/>
          </a:p>
        </p:txBody>
      </p:sp>
      <p:sp>
        <p:nvSpPr>
          <p:cNvPr id="14" name="Shape 9">
            <a:extLst>
              <a:ext uri="{FF2B5EF4-FFF2-40B4-BE49-F238E27FC236}">
                <a16:creationId xmlns:a16="http://schemas.microsoft.com/office/drawing/2014/main" id="{3C3FF1AA-BA34-504D-561F-1CF43F5BAA06}"/>
              </a:ext>
            </a:extLst>
          </p:cNvPr>
          <p:cNvSpPr/>
          <p:nvPr/>
        </p:nvSpPr>
        <p:spPr>
          <a:xfrm>
            <a:off x="447675" y="2045330"/>
            <a:ext cx="3931920" cy="520595"/>
          </a:xfrm>
          <a:prstGeom prst="rect">
            <a:avLst/>
          </a:prstGeom>
          <a:solidFill>
            <a:srgbClr val="EFEFEE"/>
          </a:solidFill>
          <a:ln w="6350">
            <a:solidFill>
              <a:srgbClr val="D8D8CE"/>
            </a:solidFill>
            <a:prstDash val="solid"/>
          </a:ln>
        </p:spPr>
        <p:txBody>
          <a:bodyPr/>
          <a:lstStyle/>
          <a:p>
            <a:endParaRPr lang="en-IN" sz="1200"/>
          </a:p>
        </p:txBody>
      </p:sp>
      <p:sp>
        <p:nvSpPr>
          <p:cNvPr id="15" name="Text 10">
            <a:extLst>
              <a:ext uri="{FF2B5EF4-FFF2-40B4-BE49-F238E27FC236}">
                <a16:creationId xmlns:a16="http://schemas.microsoft.com/office/drawing/2014/main" id="{070AB8ED-B67B-0C2B-E4C8-442761C39B0C}"/>
              </a:ext>
            </a:extLst>
          </p:cNvPr>
          <p:cNvSpPr/>
          <p:nvPr/>
        </p:nvSpPr>
        <p:spPr>
          <a:xfrm>
            <a:off x="557403" y="2094910"/>
            <a:ext cx="1188720" cy="421434"/>
          </a:xfrm>
          <a:prstGeom prst="rect">
            <a:avLst/>
          </a:prstGeom>
          <a:noFill/>
          <a:ln/>
        </p:spPr>
        <p:txBody>
          <a:bodyPr wrap="square" lIns="0" tIns="0" rIns="0" bIns="0" rtlCol="0" anchor="ctr"/>
          <a:lstStyle/>
          <a:p>
            <a:pPr marL="0" indent="0">
              <a:buNone/>
            </a:pPr>
            <a:r>
              <a:rPr lang="en-US" sz="1200" b="1">
                <a:solidFill>
                  <a:srgbClr val="024854"/>
                </a:solidFill>
                <a:ea typeface="GT America" pitchFamily="34" charset="-122"/>
                <a:cs typeface="GT America" pitchFamily="34" charset="-120"/>
              </a:rPr>
              <a:t>LoanTrack</a:t>
            </a:r>
            <a:endParaRPr lang="en-US" sz="1200"/>
          </a:p>
        </p:txBody>
      </p:sp>
      <p:sp>
        <p:nvSpPr>
          <p:cNvPr id="16" name="Text 11">
            <a:extLst>
              <a:ext uri="{FF2B5EF4-FFF2-40B4-BE49-F238E27FC236}">
                <a16:creationId xmlns:a16="http://schemas.microsoft.com/office/drawing/2014/main" id="{A70D1B50-980B-7136-464E-11B5D05FA042}"/>
              </a:ext>
            </a:extLst>
          </p:cNvPr>
          <p:cNvSpPr/>
          <p:nvPr/>
        </p:nvSpPr>
        <p:spPr>
          <a:xfrm>
            <a:off x="1819275" y="2094910"/>
            <a:ext cx="1554480" cy="421434"/>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Silverlight </a:t>
            </a:r>
            <a:endParaRPr lang="en-US" sz="1200"/>
          </a:p>
        </p:txBody>
      </p:sp>
      <p:sp>
        <p:nvSpPr>
          <p:cNvPr id="19" name="Shape 14">
            <a:extLst>
              <a:ext uri="{FF2B5EF4-FFF2-40B4-BE49-F238E27FC236}">
                <a16:creationId xmlns:a16="http://schemas.microsoft.com/office/drawing/2014/main" id="{3A03C7A1-B6B0-6CE7-2A63-DBC0C0F07C0A}"/>
              </a:ext>
            </a:extLst>
          </p:cNvPr>
          <p:cNvSpPr/>
          <p:nvPr/>
        </p:nvSpPr>
        <p:spPr>
          <a:xfrm>
            <a:off x="447675" y="2727062"/>
            <a:ext cx="3931920" cy="520595"/>
          </a:xfrm>
          <a:prstGeom prst="rect">
            <a:avLst/>
          </a:prstGeom>
          <a:solidFill>
            <a:srgbClr val="EFEFEE"/>
          </a:solidFill>
          <a:ln w="6350">
            <a:solidFill>
              <a:srgbClr val="D8D8CE"/>
            </a:solidFill>
            <a:prstDash val="solid"/>
          </a:ln>
        </p:spPr>
        <p:txBody>
          <a:bodyPr/>
          <a:lstStyle/>
          <a:p>
            <a:endParaRPr lang="en-IN" sz="1200"/>
          </a:p>
        </p:txBody>
      </p:sp>
      <p:sp>
        <p:nvSpPr>
          <p:cNvPr id="20" name="Text 15">
            <a:extLst>
              <a:ext uri="{FF2B5EF4-FFF2-40B4-BE49-F238E27FC236}">
                <a16:creationId xmlns:a16="http://schemas.microsoft.com/office/drawing/2014/main" id="{6330BFF2-BC5A-8C95-68B2-FDB228501313}"/>
              </a:ext>
            </a:extLst>
          </p:cNvPr>
          <p:cNvSpPr/>
          <p:nvPr/>
        </p:nvSpPr>
        <p:spPr>
          <a:xfrm>
            <a:off x="557403" y="2776642"/>
            <a:ext cx="1188720" cy="421434"/>
          </a:xfrm>
          <a:prstGeom prst="rect">
            <a:avLst/>
          </a:prstGeom>
          <a:noFill/>
          <a:ln/>
        </p:spPr>
        <p:txBody>
          <a:bodyPr wrap="square" lIns="0" tIns="0" rIns="0" bIns="0" rtlCol="0" anchor="ctr"/>
          <a:lstStyle/>
          <a:p>
            <a:pPr marL="0" indent="0">
              <a:buNone/>
            </a:pPr>
            <a:r>
              <a:rPr lang="en-US" sz="1200" b="1">
                <a:solidFill>
                  <a:srgbClr val="024854"/>
                </a:solidFill>
                <a:ea typeface="GT America" pitchFamily="34" charset="-122"/>
                <a:cs typeface="GT America" pitchFamily="34" charset="-120"/>
              </a:rPr>
              <a:t>EDM</a:t>
            </a:r>
            <a:endParaRPr lang="en-US" sz="1200"/>
          </a:p>
        </p:txBody>
      </p:sp>
      <p:sp>
        <p:nvSpPr>
          <p:cNvPr id="21" name="Text 16">
            <a:extLst>
              <a:ext uri="{FF2B5EF4-FFF2-40B4-BE49-F238E27FC236}">
                <a16:creationId xmlns:a16="http://schemas.microsoft.com/office/drawing/2014/main" id="{CE9937F8-909B-5F50-F3A5-F54520BF28C9}"/>
              </a:ext>
            </a:extLst>
          </p:cNvPr>
          <p:cNvSpPr/>
          <p:nvPr/>
        </p:nvSpPr>
        <p:spPr>
          <a:xfrm>
            <a:off x="1819275" y="2776642"/>
            <a:ext cx="1554480" cy="421434"/>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Document Store</a:t>
            </a:r>
            <a:endParaRPr lang="en-US" sz="1200"/>
          </a:p>
        </p:txBody>
      </p:sp>
      <p:sp>
        <p:nvSpPr>
          <p:cNvPr id="24" name="Shape 19">
            <a:extLst>
              <a:ext uri="{FF2B5EF4-FFF2-40B4-BE49-F238E27FC236}">
                <a16:creationId xmlns:a16="http://schemas.microsoft.com/office/drawing/2014/main" id="{BC28B75E-33CC-2CB6-BF13-6D8A4CADDB2C}"/>
              </a:ext>
            </a:extLst>
          </p:cNvPr>
          <p:cNvSpPr/>
          <p:nvPr/>
        </p:nvSpPr>
        <p:spPr>
          <a:xfrm>
            <a:off x="447675" y="3408793"/>
            <a:ext cx="3931920" cy="520595"/>
          </a:xfrm>
          <a:prstGeom prst="rect">
            <a:avLst/>
          </a:prstGeom>
          <a:solidFill>
            <a:srgbClr val="EFEFEE"/>
          </a:solidFill>
          <a:ln w="6350">
            <a:solidFill>
              <a:srgbClr val="D8D8CE"/>
            </a:solidFill>
            <a:prstDash val="solid"/>
          </a:ln>
        </p:spPr>
        <p:txBody>
          <a:bodyPr/>
          <a:lstStyle/>
          <a:p>
            <a:endParaRPr lang="en-IN" sz="1200"/>
          </a:p>
        </p:txBody>
      </p:sp>
      <p:sp>
        <p:nvSpPr>
          <p:cNvPr id="25" name="Text 20">
            <a:extLst>
              <a:ext uri="{FF2B5EF4-FFF2-40B4-BE49-F238E27FC236}">
                <a16:creationId xmlns:a16="http://schemas.microsoft.com/office/drawing/2014/main" id="{F6C0AFF3-6D47-AB95-9798-42B1BC54784F}"/>
              </a:ext>
            </a:extLst>
          </p:cNvPr>
          <p:cNvSpPr/>
          <p:nvPr/>
        </p:nvSpPr>
        <p:spPr>
          <a:xfrm>
            <a:off x="557403" y="3458374"/>
            <a:ext cx="1188720" cy="421434"/>
          </a:xfrm>
          <a:prstGeom prst="rect">
            <a:avLst/>
          </a:prstGeom>
          <a:noFill/>
          <a:ln/>
        </p:spPr>
        <p:txBody>
          <a:bodyPr wrap="square" lIns="0" tIns="0" rIns="0" bIns="0" rtlCol="0" anchor="ctr"/>
          <a:lstStyle/>
          <a:p>
            <a:pPr marL="0" indent="0">
              <a:buNone/>
            </a:pPr>
            <a:r>
              <a:rPr lang="en-US" sz="1200" b="1">
                <a:solidFill>
                  <a:srgbClr val="024854"/>
                </a:solidFill>
                <a:ea typeface="GT America" pitchFamily="34" charset="-122"/>
                <a:cs typeface="GT America" pitchFamily="34" charset="-120"/>
              </a:rPr>
              <a:t>MS Access</a:t>
            </a:r>
            <a:endParaRPr lang="en-US" sz="1200"/>
          </a:p>
        </p:txBody>
      </p:sp>
      <p:sp>
        <p:nvSpPr>
          <p:cNvPr id="26" name="Text 21">
            <a:extLst>
              <a:ext uri="{FF2B5EF4-FFF2-40B4-BE49-F238E27FC236}">
                <a16:creationId xmlns:a16="http://schemas.microsoft.com/office/drawing/2014/main" id="{E0E664F0-C67E-24EA-4A1B-5DDB64FB6331}"/>
              </a:ext>
            </a:extLst>
          </p:cNvPr>
          <p:cNvSpPr/>
          <p:nvPr/>
        </p:nvSpPr>
        <p:spPr>
          <a:xfrm>
            <a:off x="1819275" y="3458374"/>
            <a:ext cx="1554480" cy="421434"/>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Work Queue</a:t>
            </a:r>
            <a:endParaRPr lang="en-US" sz="1200"/>
          </a:p>
        </p:txBody>
      </p:sp>
      <p:sp>
        <p:nvSpPr>
          <p:cNvPr id="29" name="Shape 24">
            <a:extLst>
              <a:ext uri="{FF2B5EF4-FFF2-40B4-BE49-F238E27FC236}">
                <a16:creationId xmlns:a16="http://schemas.microsoft.com/office/drawing/2014/main" id="{56FA9711-2183-5856-F4D9-D4C588CF2AD8}"/>
              </a:ext>
            </a:extLst>
          </p:cNvPr>
          <p:cNvSpPr/>
          <p:nvPr/>
        </p:nvSpPr>
        <p:spPr>
          <a:xfrm>
            <a:off x="447675" y="4090525"/>
            <a:ext cx="3931920" cy="520595"/>
          </a:xfrm>
          <a:prstGeom prst="rect">
            <a:avLst/>
          </a:prstGeom>
          <a:solidFill>
            <a:srgbClr val="EFEFEE"/>
          </a:solidFill>
          <a:ln w="6350">
            <a:solidFill>
              <a:srgbClr val="D8D8CE"/>
            </a:solidFill>
            <a:prstDash val="solid"/>
          </a:ln>
        </p:spPr>
        <p:txBody>
          <a:bodyPr/>
          <a:lstStyle/>
          <a:p>
            <a:endParaRPr lang="en-IN" sz="1200"/>
          </a:p>
        </p:txBody>
      </p:sp>
      <p:sp>
        <p:nvSpPr>
          <p:cNvPr id="30" name="Text 25">
            <a:extLst>
              <a:ext uri="{FF2B5EF4-FFF2-40B4-BE49-F238E27FC236}">
                <a16:creationId xmlns:a16="http://schemas.microsoft.com/office/drawing/2014/main" id="{89666D41-6BAE-C0FC-1850-0BA450C056F3}"/>
              </a:ext>
            </a:extLst>
          </p:cNvPr>
          <p:cNvSpPr/>
          <p:nvPr/>
        </p:nvSpPr>
        <p:spPr>
          <a:xfrm>
            <a:off x="557403" y="4140106"/>
            <a:ext cx="1188720" cy="421434"/>
          </a:xfrm>
          <a:prstGeom prst="rect">
            <a:avLst/>
          </a:prstGeom>
          <a:noFill/>
          <a:ln/>
        </p:spPr>
        <p:txBody>
          <a:bodyPr wrap="square" lIns="0" tIns="0" rIns="0" bIns="0" rtlCol="0" anchor="ctr"/>
          <a:lstStyle/>
          <a:p>
            <a:pPr marL="0" indent="0">
              <a:buNone/>
            </a:pPr>
            <a:r>
              <a:rPr lang="en-US" sz="1200" b="1">
                <a:solidFill>
                  <a:srgbClr val="024854"/>
                </a:solidFill>
                <a:ea typeface="GT America" pitchFamily="34" charset="-122"/>
                <a:cs typeface="GT America" pitchFamily="34" charset="-120"/>
              </a:rPr>
              <a:t>ClosingExpress</a:t>
            </a:r>
            <a:endParaRPr lang="en-US" sz="1200"/>
          </a:p>
        </p:txBody>
      </p:sp>
      <p:sp>
        <p:nvSpPr>
          <p:cNvPr id="31" name="Text 26">
            <a:extLst>
              <a:ext uri="{FF2B5EF4-FFF2-40B4-BE49-F238E27FC236}">
                <a16:creationId xmlns:a16="http://schemas.microsoft.com/office/drawing/2014/main" id="{16233442-41AB-05B0-94A7-E7D64B9F609D}"/>
              </a:ext>
            </a:extLst>
          </p:cNvPr>
          <p:cNvSpPr/>
          <p:nvPr/>
        </p:nvSpPr>
        <p:spPr>
          <a:xfrm>
            <a:off x="1819275" y="4140106"/>
            <a:ext cx="1554480" cy="421434"/>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Examination + Generation</a:t>
            </a:r>
            <a:endParaRPr lang="en-US" sz="1200"/>
          </a:p>
        </p:txBody>
      </p:sp>
      <p:sp>
        <p:nvSpPr>
          <p:cNvPr id="34" name="Shape 29">
            <a:extLst>
              <a:ext uri="{FF2B5EF4-FFF2-40B4-BE49-F238E27FC236}">
                <a16:creationId xmlns:a16="http://schemas.microsoft.com/office/drawing/2014/main" id="{04CD9E1F-B37C-0048-70A7-AC6A63B82440}"/>
              </a:ext>
            </a:extLst>
          </p:cNvPr>
          <p:cNvSpPr/>
          <p:nvPr/>
        </p:nvSpPr>
        <p:spPr>
          <a:xfrm>
            <a:off x="447675" y="4772257"/>
            <a:ext cx="3931920" cy="520595"/>
          </a:xfrm>
          <a:prstGeom prst="rect">
            <a:avLst/>
          </a:prstGeom>
          <a:solidFill>
            <a:srgbClr val="EFEFEE"/>
          </a:solidFill>
          <a:ln w="6350">
            <a:solidFill>
              <a:srgbClr val="D8D8CE"/>
            </a:solidFill>
            <a:prstDash val="solid"/>
          </a:ln>
        </p:spPr>
        <p:txBody>
          <a:bodyPr/>
          <a:lstStyle/>
          <a:p>
            <a:endParaRPr lang="en-IN" sz="1200"/>
          </a:p>
        </p:txBody>
      </p:sp>
      <p:sp>
        <p:nvSpPr>
          <p:cNvPr id="35" name="Text 30">
            <a:extLst>
              <a:ext uri="{FF2B5EF4-FFF2-40B4-BE49-F238E27FC236}">
                <a16:creationId xmlns:a16="http://schemas.microsoft.com/office/drawing/2014/main" id="{812139F2-CA76-2B9C-4A94-EC47906218DB}"/>
              </a:ext>
            </a:extLst>
          </p:cNvPr>
          <p:cNvSpPr/>
          <p:nvPr/>
        </p:nvSpPr>
        <p:spPr>
          <a:xfrm>
            <a:off x="557403" y="4821837"/>
            <a:ext cx="1188720" cy="421434"/>
          </a:xfrm>
          <a:prstGeom prst="rect">
            <a:avLst/>
          </a:prstGeom>
          <a:noFill/>
          <a:ln/>
        </p:spPr>
        <p:txBody>
          <a:bodyPr wrap="square" lIns="0" tIns="0" rIns="0" bIns="0" rtlCol="0" anchor="ctr"/>
          <a:lstStyle/>
          <a:p>
            <a:pPr marL="0" indent="0">
              <a:buNone/>
            </a:pPr>
            <a:r>
              <a:rPr lang="en-US" sz="1200" b="1">
                <a:solidFill>
                  <a:srgbClr val="024854"/>
                </a:solidFill>
                <a:ea typeface="GT America" pitchFamily="34" charset="-122"/>
                <a:cs typeface="GT America" pitchFamily="34" charset="-120"/>
              </a:rPr>
              <a:t>SecureDocs</a:t>
            </a:r>
            <a:endParaRPr lang="en-US" sz="1200"/>
          </a:p>
        </p:txBody>
      </p:sp>
      <p:sp>
        <p:nvSpPr>
          <p:cNvPr id="36" name="Text 31">
            <a:extLst>
              <a:ext uri="{FF2B5EF4-FFF2-40B4-BE49-F238E27FC236}">
                <a16:creationId xmlns:a16="http://schemas.microsoft.com/office/drawing/2014/main" id="{937AB49E-A4F0-7E1E-B904-768833FA52A5}"/>
              </a:ext>
            </a:extLst>
          </p:cNvPr>
          <p:cNvSpPr/>
          <p:nvPr/>
        </p:nvSpPr>
        <p:spPr>
          <a:xfrm>
            <a:off x="1819275" y="4821837"/>
            <a:ext cx="1554480" cy="421434"/>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Output Portal</a:t>
            </a:r>
            <a:endParaRPr lang="en-US" sz="1200"/>
          </a:p>
        </p:txBody>
      </p:sp>
      <p:grpSp>
        <p:nvGrpSpPr>
          <p:cNvPr id="40" name="Group 39">
            <a:extLst>
              <a:ext uri="{FF2B5EF4-FFF2-40B4-BE49-F238E27FC236}">
                <a16:creationId xmlns:a16="http://schemas.microsoft.com/office/drawing/2014/main" id="{A99BBA82-9D89-2F82-16C4-9B95711F862F}"/>
              </a:ext>
            </a:extLst>
          </p:cNvPr>
          <p:cNvGrpSpPr/>
          <p:nvPr/>
        </p:nvGrpSpPr>
        <p:grpSpPr>
          <a:xfrm>
            <a:off x="447675" y="5463452"/>
            <a:ext cx="3931920" cy="732282"/>
            <a:chOff x="457200" y="4315968"/>
            <a:chExt cx="3931920" cy="502920"/>
          </a:xfrm>
        </p:grpSpPr>
        <p:sp>
          <p:nvSpPr>
            <p:cNvPr id="38" name="Shape 33">
              <a:extLst>
                <a:ext uri="{FF2B5EF4-FFF2-40B4-BE49-F238E27FC236}">
                  <a16:creationId xmlns:a16="http://schemas.microsoft.com/office/drawing/2014/main" id="{0EB2547F-CACC-3B42-6EA5-85E0655B5B86}"/>
                </a:ext>
              </a:extLst>
            </p:cNvPr>
            <p:cNvSpPr/>
            <p:nvPr/>
          </p:nvSpPr>
          <p:spPr>
            <a:xfrm>
              <a:off x="457200" y="4315968"/>
              <a:ext cx="3931920" cy="502920"/>
            </a:xfrm>
            <a:prstGeom prst="rect">
              <a:avLst/>
            </a:prstGeom>
            <a:noFill/>
            <a:ln w="12700">
              <a:solidFill>
                <a:schemeClr val="accent3"/>
              </a:solidFill>
              <a:prstDash val="solid"/>
            </a:ln>
          </p:spPr>
          <p:txBody>
            <a:bodyPr/>
            <a:lstStyle/>
            <a:p>
              <a:endParaRPr lang="en-IN"/>
            </a:p>
          </p:txBody>
        </p:sp>
        <p:sp>
          <p:nvSpPr>
            <p:cNvPr id="39" name="Text 34">
              <a:extLst>
                <a:ext uri="{FF2B5EF4-FFF2-40B4-BE49-F238E27FC236}">
                  <a16:creationId xmlns:a16="http://schemas.microsoft.com/office/drawing/2014/main" id="{61C143C0-860A-DF28-3B65-CB91066F6929}"/>
                </a:ext>
              </a:extLst>
            </p:cNvPr>
            <p:cNvSpPr/>
            <p:nvPr/>
          </p:nvSpPr>
          <p:spPr>
            <a:xfrm>
              <a:off x="566928" y="4334256"/>
              <a:ext cx="3749040" cy="457200"/>
            </a:xfrm>
            <a:prstGeom prst="rect">
              <a:avLst/>
            </a:prstGeom>
            <a:noFill/>
            <a:ln/>
          </p:spPr>
          <p:txBody>
            <a:bodyPr wrap="square" lIns="0" tIns="0" rIns="0" bIns="0" rtlCol="0" anchor="ctr"/>
            <a:lstStyle/>
            <a:p>
              <a:pPr marL="0" indent="0">
                <a:buNone/>
              </a:pPr>
              <a:r>
                <a:rPr lang="en-US" sz="1050" b="1">
                  <a:solidFill>
                    <a:schemeClr val="accent3"/>
                  </a:solidFill>
                  <a:latin typeface="GT America" pitchFamily="34" charset="0"/>
                  <a:ea typeface="GT America" pitchFamily="34" charset="-122"/>
                  <a:cs typeface="GT America" pitchFamily="34" charset="-120"/>
                </a:rPr>
                <a:t>Root Cause</a:t>
              </a:r>
              <a:r>
                <a:rPr lang="en-US" sz="1050">
                  <a:latin typeface="GT America" pitchFamily="34" charset="0"/>
                  <a:ea typeface="GT America" pitchFamily="34" charset="-122"/>
                  <a:cs typeface="GT America" pitchFamily="34" charset="-120"/>
                </a:rPr>
                <a:t>: No event-driven orchestration exists at any system boundary. Every stage transition relies on a human acting as the integration layer between disconnected systems.</a:t>
              </a:r>
              <a:endParaRPr lang="en-US" sz="1050"/>
            </a:p>
          </p:txBody>
        </p:sp>
      </p:grpSp>
      <p:sp>
        <p:nvSpPr>
          <p:cNvPr id="41" name="Text 3">
            <a:extLst>
              <a:ext uri="{FF2B5EF4-FFF2-40B4-BE49-F238E27FC236}">
                <a16:creationId xmlns:a16="http://schemas.microsoft.com/office/drawing/2014/main" id="{1CB559A6-0B83-E398-6F42-2A866786EF85}"/>
              </a:ext>
            </a:extLst>
          </p:cNvPr>
          <p:cNvSpPr/>
          <p:nvPr/>
        </p:nvSpPr>
        <p:spPr>
          <a:xfrm>
            <a:off x="6222626" y="1020698"/>
            <a:ext cx="4023360" cy="228600"/>
          </a:xfrm>
          <a:prstGeom prst="rect">
            <a:avLst/>
          </a:prstGeom>
          <a:noFill/>
          <a:ln/>
        </p:spPr>
        <p:txBody>
          <a:bodyPr wrap="square" lIns="0" tIns="0" rIns="0" bIns="0" rtlCol="0" anchor="ctr"/>
          <a:lstStyle/>
          <a:p>
            <a:r>
              <a:rPr lang="en-US" sz="1400" b="1">
                <a:solidFill>
                  <a:srgbClr val="00B8BB"/>
                </a:solidFill>
                <a:latin typeface="GT America" pitchFamily="34" charset="0"/>
                <a:ea typeface="GT America" pitchFamily="34" charset="-122"/>
              </a:rPr>
              <a:t>Process Summary</a:t>
            </a:r>
          </a:p>
        </p:txBody>
      </p:sp>
      <p:graphicFrame>
        <p:nvGraphicFramePr>
          <p:cNvPr id="42" name="Table 0">
            <a:extLst>
              <a:ext uri="{FF2B5EF4-FFF2-40B4-BE49-F238E27FC236}">
                <a16:creationId xmlns:a16="http://schemas.microsoft.com/office/drawing/2014/main" id="{4F9551C3-2A6B-C804-01CC-F2117924EE65}"/>
              </a:ext>
            </a:extLst>
          </p:cNvPr>
          <p:cNvGraphicFramePr>
            <a:graphicFrameLocks noGrp="1"/>
          </p:cNvGraphicFramePr>
          <p:nvPr>
            <p:extLst>
              <p:ext uri="{D42A27DB-BD31-4B8C-83A1-F6EECF244321}">
                <p14:modId xmlns:p14="http://schemas.microsoft.com/office/powerpoint/2010/main" val="1059922921"/>
              </p:ext>
            </p:extLst>
          </p:nvPr>
        </p:nvGraphicFramePr>
        <p:xfrm>
          <a:off x="6222625" y="1328209"/>
          <a:ext cx="5664574" cy="4827580"/>
        </p:xfrm>
        <a:graphic>
          <a:graphicData uri="http://schemas.openxmlformats.org/drawingml/2006/table">
            <a:tbl>
              <a:tblPr/>
              <a:tblGrid>
                <a:gridCol w="1544884">
                  <a:extLst>
                    <a:ext uri="{9D8B030D-6E8A-4147-A177-3AD203B41FA5}">
                      <a16:colId xmlns:a16="http://schemas.microsoft.com/office/drawing/2014/main" val="20000"/>
                    </a:ext>
                  </a:extLst>
                </a:gridCol>
                <a:gridCol w="2961027">
                  <a:extLst>
                    <a:ext uri="{9D8B030D-6E8A-4147-A177-3AD203B41FA5}">
                      <a16:colId xmlns:a16="http://schemas.microsoft.com/office/drawing/2014/main" val="20001"/>
                    </a:ext>
                  </a:extLst>
                </a:gridCol>
                <a:gridCol w="1158663">
                  <a:extLst>
                    <a:ext uri="{9D8B030D-6E8A-4147-A177-3AD203B41FA5}">
                      <a16:colId xmlns:a16="http://schemas.microsoft.com/office/drawing/2014/main" val="20002"/>
                    </a:ext>
                  </a:extLst>
                </a:gridCol>
              </a:tblGrid>
              <a:tr h="602356">
                <a:tc>
                  <a:txBody>
                    <a:bodyPr/>
                    <a:lstStyle/>
                    <a:p>
                      <a:pPr marL="0" indent="0">
                        <a:buNone/>
                      </a:pPr>
                      <a:r>
                        <a:rPr lang="en-US" sz="1200" b="1">
                          <a:solidFill>
                            <a:srgbClr val="FFFFFF"/>
                          </a:solidFill>
                          <a:latin typeface="+mn-lt"/>
                          <a:ea typeface="GT America" pitchFamily="34" charset="-122"/>
                          <a:cs typeface="GT America" pitchFamily="34" charset="-120"/>
                        </a:rPr>
                        <a:t>Step</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1200" b="1">
                          <a:solidFill>
                            <a:srgbClr val="FFFFFF"/>
                          </a:solidFill>
                          <a:latin typeface="+mn-lt"/>
                          <a:ea typeface="GT America" pitchFamily="34" charset="-122"/>
                          <a:cs typeface="GT America" pitchFamily="34" charset="-120"/>
                        </a:rPr>
                        <a:t>What Happens</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1200" b="1">
                          <a:solidFill>
                            <a:srgbClr val="FFFFFF"/>
                          </a:solidFill>
                          <a:latin typeface="+mn-lt"/>
                          <a:ea typeface="GT America" pitchFamily="34" charset="-122"/>
                          <a:cs typeface="GT America" pitchFamily="34" charset="-120"/>
                        </a:rPr>
                        <a:t>System</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extLst>
                  <a:ext uri="{0D108BD9-81ED-4DB2-BD59-A6C34878D82A}">
                    <a16:rowId xmlns:a16="http://schemas.microsoft.com/office/drawing/2014/main" val="10000"/>
                  </a:ext>
                </a:extLst>
              </a:tr>
              <a:tr h="687472">
                <a:tc>
                  <a:txBody>
                    <a:bodyPr/>
                    <a:lstStyle/>
                    <a:p>
                      <a:pPr marL="0" indent="0">
                        <a:buNone/>
                      </a:pPr>
                      <a:r>
                        <a:rPr lang="en-US" sz="1200">
                          <a:solidFill>
                            <a:srgbClr val="282828"/>
                          </a:solidFill>
                          <a:latin typeface="+mn-lt"/>
                          <a:ea typeface="GT America" pitchFamily="34" charset="-122"/>
                          <a:cs typeface="GT America" pitchFamily="34" charset="-120"/>
                        </a:rPr>
                        <a:t>Submission Received</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200">
                          <a:solidFill>
                            <a:srgbClr val="282828"/>
                          </a:solidFill>
                          <a:latin typeface="+mn-lt"/>
                          <a:ea typeface="GT America" pitchFamily="34" charset="-122"/>
                          <a:cs typeface="GT America" pitchFamily="34" charset="-120"/>
                        </a:rPr>
                        <a:t>Lender uploads via JetDocs. Email notification generated. No automation triggered.</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200" b="1">
                          <a:solidFill>
                            <a:srgbClr val="024854"/>
                          </a:solidFill>
                          <a:latin typeface="+mn-lt"/>
                          <a:ea typeface="GT America" pitchFamily="34" charset="-122"/>
                          <a:cs typeface="GT America" pitchFamily="34" charset="-120"/>
                        </a:rPr>
                        <a:t>JetDocs</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7472">
                <a:tc>
                  <a:txBody>
                    <a:bodyPr/>
                    <a:lstStyle/>
                    <a:p>
                      <a:pPr marL="0" indent="0">
                        <a:buNone/>
                      </a:pPr>
                      <a:r>
                        <a:rPr lang="en-US" sz="1200">
                          <a:solidFill>
                            <a:srgbClr val="282828"/>
                          </a:solidFill>
                          <a:latin typeface="+mn-lt"/>
                          <a:ea typeface="GT America" pitchFamily="34" charset="-122"/>
                          <a:cs typeface="GT America" pitchFamily="34" charset="-120"/>
                        </a:rPr>
                        <a:t>Manual Transaction Creation</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Staff manually creates record in LoanTrack, assigns invoice number.</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b="1">
                          <a:solidFill>
                            <a:srgbClr val="024854"/>
                          </a:solidFill>
                          <a:latin typeface="+mn-lt"/>
                          <a:ea typeface="GT America" pitchFamily="34" charset="-122"/>
                          <a:cs typeface="GT America" pitchFamily="34" charset="-120"/>
                        </a:rPr>
                        <a:t>LoanTrack</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extLst>
                  <a:ext uri="{0D108BD9-81ED-4DB2-BD59-A6C34878D82A}">
                    <a16:rowId xmlns:a16="http://schemas.microsoft.com/office/drawing/2014/main" val="10002"/>
                  </a:ext>
                </a:extLst>
              </a:tr>
              <a:tr h="602356">
                <a:tc>
                  <a:txBody>
                    <a:bodyPr/>
                    <a:lstStyle/>
                    <a:p>
                      <a:pPr marL="0" indent="0">
                        <a:buNone/>
                      </a:pPr>
                      <a:r>
                        <a:rPr lang="en-US" sz="1200">
                          <a:solidFill>
                            <a:srgbClr val="282828"/>
                          </a:solidFill>
                          <a:latin typeface="+mn-lt"/>
                          <a:ea typeface="GT America" pitchFamily="34" charset="-122"/>
                          <a:cs typeface="GT America" pitchFamily="34" charset="-120"/>
                        </a:rPr>
                        <a:t>Document Upload</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200">
                          <a:solidFill>
                            <a:srgbClr val="282828"/>
                          </a:solidFill>
                          <a:latin typeface="+mn-lt"/>
                          <a:ea typeface="GT America" pitchFamily="34" charset="-122"/>
                          <a:cs typeface="GT America" pitchFamily="34" charset="-120"/>
                        </a:rPr>
                        <a:t>Staff manually uploads documents to EDM and associates to transaction.</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200" b="1">
                          <a:solidFill>
                            <a:srgbClr val="024854"/>
                          </a:solidFill>
                          <a:latin typeface="+mn-lt"/>
                          <a:ea typeface="GT America" pitchFamily="34" charset="-122"/>
                          <a:cs typeface="GT America" pitchFamily="34" charset="-120"/>
                        </a:rPr>
                        <a:t>EDM</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7472">
                <a:tc>
                  <a:txBody>
                    <a:bodyPr/>
                    <a:lstStyle/>
                    <a:p>
                      <a:pPr marL="0" indent="0">
                        <a:buNone/>
                      </a:pPr>
                      <a:r>
                        <a:rPr lang="en-US" sz="1200">
                          <a:solidFill>
                            <a:srgbClr val="282828"/>
                          </a:solidFill>
                          <a:latin typeface="+mn-lt"/>
                          <a:ea typeface="GT America" pitchFamily="34" charset="-122"/>
                          <a:cs typeface="GT America" pitchFamily="34" charset="-120"/>
                        </a:rPr>
                        <a:t>Queue Placement</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Staff manually enters file into MS Access queue. Prioritization is manual.</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b="1">
                          <a:solidFill>
                            <a:srgbClr val="024854"/>
                          </a:solidFill>
                          <a:latin typeface="+mn-lt"/>
                          <a:ea typeface="GT America" pitchFamily="34" charset="-122"/>
                          <a:cs typeface="GT America" pitchFamily="34" charset="-120"/>
                        </a:rPr>
                        <a:t>MS Access</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extLst>
                  <a:ext uri="{0D108BD9-81ED-4DB2-BD59-A6C34878D82A}">
                    <a16:rowId xmlns:a16="http://schemas.microsoft.com/office/drawing/2014/main" val="10004"/>
                  </a:ext>
                </a:extLst>
              </a:tr>
              <a:tr h="872980">
                <a:tc>
                  <a:txBody>
                    <a:bodyPr/>
                    <a:lstStyle/>
                    <a:p>
                      <a:pPr marL="0" indent="0">
                        <a:buNone/>
                      </a:pPr>
                      <a:r>
                        <a:rPr lang="en-US" sz="1200">
                          <a:solidFill>
                            <a:srgbClr val="282828"/>
                          </a:solidFill>
                          <a:latin typeface="+mn-lt"/>
                          <a:ea typeface="GT America" pitchFamily="34" charset="-122"/>
                          <a:cs typeface="GT America" pitchFamily="34" charset="-120"/>
                        </a:rPr>
                        <a:t>Examination</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200">
                          <a:solidFill>
                            <a:srgbClr val="282828"/>
                          </a:solidFill>
                          <a:latin typeface="+mn-lt"/>
                          <a:ea typeface="GT America" pitchFamily="34" charset="-122"/>
                          <a:cs typeface="GT America" pitchFamily="34" charset="-120"/>
                        </a:rPr>
                        <a:t>Legal Assistant opens file in ClosingExpress, reads all documents, hand-keys ~140 fields, performs review checklist.</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200" b="1">
                          <a:solidFill>
                            <a:srgbClr val="024854"/>
                          </a:solidFill>
                          <a:latin typeface="+mn-lt"/>
                          <a:ea typeface="GT America" pitchFamily="34" charset="-122"/>
                          <a:cs typeface="GT America" pitchFamily="34" charset="-120"/>
                        </a:rPr>
                        <a:t>ClosingExpress</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87472">
                <a:tc>
                  <a:txBody>
                    <a:bodyPr/>
                    <a:lstStyle/>
                    <a:p>
                      <a:pPr marL="0" indent="0">
                        <a:buNone/>
                      </a:pPr>
                      <a:r>
                        <a:rPr lang="en-US" sz="1200">
                          <a:solidFill>
                            <a:srgbClr val="282828"/>
                          </a:solidFill>
                          <a:latin typeface="+mn-lt"/>
                          <a:ea typeface="GT America" pitchFamily="34" charset="-122"/>
                          <a:cs typeface="GT America" pitchFamily="34" charset="-120"/>
                        </a:rPr>
                        <a:t>Release</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Legal Assistant generates supplemental package, delivers via SecureDocs.</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b="1">
                          <a:solidFill>
                            <a:srgbClr val="024854"/>
                          </a:solidFill>
                          <a:latin typeface="+mn-lt"/>
                          <a:ea typeface="GT America" pitchFamily="34" charset="-122"/>
                          <a:cs typeface="GT America" pitchFamily="34" charset="-120"/>
                        </a:rPr>
                        <a:t>SecureDocs</a:t>
                      </a:r>
                      <a:endParaRPr lang="en-US" sz="12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FEFEE"/>
                    </a:solidFill>
                  </a:tcPr>
                </a:tc>
                <a:extLst>
                  <a:ext uri="{0D108BD9-81ED-4DB2-BD59-A6C34878D82A}">
                    <a16:rowId xmlns:a16="http://schemas.microsoft.com/office/drawing/2014/main" val="10006"/>
                  </a:ext>
                </a:extLst>
              </a:tr>
            </a:tbl>
          </a:graphicData>
        </a:graphic>
      </p:graphicFrame>
      <p:sp>
        <p:nvSpPr>
          <p:cNvPr id="44" name="Text 8">
            <a:extLst>
              <a:ext uri="{FF2B5EF4-FFF2-40B4-BE49-F238E27FC236}">
                <a16:creationId xmlns:a16="http://schemas.microsoft.com/office/drawing/2014/main" id="{E4DAAC0C-FF53-4DA3-DCB4-D364128271A5}"/>
              </a:ext>
            </a:extLst>
          </p:cNvPr>
          <p:cNvSpPr/>
          <p:nvPr/>
        </p:nvSpPr>
        <p:spPr>
          <a:xfrm>
            <a:off x="3183636" y="2189291"/>
            <a:ext cx="1195959" cy="231350"/>
          </a:xfrm>
          <a:prstGeom prst="rect">
            <a:avLst/>
          </a:prstGeom>
          <a:noFill/>
          <a:ln/>
        </p:spPr>
        <p:txBody>
          <a:bodyPr wrap="square" lIns="0" tIns="0" rIns="0" bIns="0" rtlCol="0" anchor="ctr"/>
          <a:lstStyle/>
          <a:p>
            <a:pPr marL="0" indent="0" algn="ctr">
              <a:buNone/>
            </a:pPr>
            <a:r>
              <a:rPr lang="en-US" sz="1200" b="1">
                <a:solidFill>
                  <a:srgbClr val="F26A21"/>
                </a:solidFill>
                <a:ea typeface="GT America" pitchFamily="34" charset="-122"/>
                <a:cs typeface="GT America" pitchFamily="34" charset="-120"/>
              </a:rPr>
              <a:t>MANUAL ↓</a:t>
            </a:r>
            <a:endParaRPr lang="en-US" sz="1200"/>
          </a:p>
        </p:txBody>
      </p:sp>
      <p:sp>
        <p:nvSpPr>
          <p:cNvPr id="45" name="Text 8">
            <a:extLst>
              <a:ext uri="{FF2B5EF4-FFF2-40B4-BE49-F238E27FC236}">
                <a16:creationId xmlns:a16="http://schemas.microsoft.com/office/drawing/2014/main" id="{B8ED3FBD-744E-926E-9EBA-8B3C30E7E3F3}"/>
              </a:ext>
            </a:extLst>
          </p:cNvPr>
          <p:cNvSpPr/>
          <p:nvPr/>
        </p:nvSpPr>
        <p:spPr>
          <a:xfrm>
            <a:off x="3183636" y="2898079"/>
            <a:ext cx="1195959" cy="231350"/>
          </a:xfrm>
          <a:prstGeom prst="rect">
            <a:avLst/>
          </a:prstGeom>
          <a:noFill/>
          <a:ln/>
        </p:spPr>
        <p:txBody>
          <a:bodyPr wrap="square" lIns="0" tIns="0" rIns="0" bIns="0" rtlCol="0" anchor="ctr"/>
          <a:lstStyle/>
          <a:p>
            <a:pPr marL="0" indent="0" algn="ctr">
              <a:buNone/>
            </a:pPr>
            <a:r>
              <a:rPr lang="en-US" sz="1200" b="1">
                <a:solidFill>
                  <a:srgbClr val="F26A21"/>
                </a:solidFill>
                <a:ea typeface="GT America" pitchFamily="34" charset="-122"/>
                <a:cs typeface="GT America" pitchFamily="34" charset="-120"/>
              </a:rPr>
              <a:t>MANUAL ↓</a:t>
            </a:r>
            <a:endParaRPr lang="en-US" sz="1200"/>
          </a:p>
        </p:txBody>
      </p:sp>
      <p:sp>
        <p:nvSpPr>
          <p:cNvPr id="46" name="Text 8">
            <a:extLst>
              <a:ext uri="{FF2B5EF4-FFF2-40B4-BE49-F238E27FC236}">
                <a16:creationId xmlns:a16="http://schemas.microsoft.com/office/drawing/2014/main" id="{AF864835-4BA6-2A90-E6CF-E9BD49A5DCAE}"/>
              </a:ext>
            </a:extLst>
          </p:cNvPr>
          <p:cNvSpPr/>
          <p:nvPr/>
        </p:nvSpPr>
        <p:spPr>
          <a:xfrm>
            <a:off x="3183636" y="3552755"/>
            <a:ext cx="1195959" cy="231350"/>
          </a:xfrm>
          <a:prstGeom prst="rect">
            <a:avLst/>
          </a:prstGeom>
          <a:noFill/>
          <a:ln/>
        </p:spPr>
        <p:txBody>
          <a:bodyPr wrap="square" lIns="0" tIns="0" rIns="0" bIns="0" rtlCol="0" anchor="ctr"/>
          <a:lstStyle/>
          <a:p>
            <a:pPr marL="0" indent="0" algn="ctr">
              <a:buNone/>
            </a:pPr>
            <a:r>
              <a:rPr lang="en-US" sz="1200" b="1">
                <a:solidFill>
                  <a:srgbClr val="F26A21"/>
                </a:solidFill>
                <a:ea typeface="GT America" pitchFamily="34" charset="-122"/>
                <a:cs typeface="GT America" pitchFamily="34" charset="-120"/>
              </a:rPr>
              <a:t>MANUAL ↓</a:t>
            </a:r>
            <a:endParaRPr lang="en-US" sz="1200"/>
          </a:p>
        </p:txBody>
      </p:sp>
      <p:sp>
        <p:nvSpPr>
          <p:cNvPr id="47" name="Text 8">
            <a:extLst>
              <a:ext uri="{FF2B5EF4-FFF2-40B4-BE49-F238E27FC236}">
                <a16:creationId xmlns:a16="http://schemas.microsoft.com/office/drawing/2014/main" id="{6120BE98-C826-F12E-52FA-62E0D981F66A}"/>
              </a:ext>
            </a:extLst>
          </p:cNvPr>
          <p:cNvSpPr/>
          <p:nvPr/>
        </p:nvSpPr>
        <p:spPr>
          <a:xfrm>
            <a:off x="3183636" y="4234487"/>
            <a:ext cx="1195959" cy="231350"/>
          </a:xfrm>
          <a:prstGeom prst="rect">
            <a:avLst/>
          </a:prstGeom>
          <a:noFill/>
          <a:ln/>
        </p:spPr>
        <p:txBody>
          <a:bodyPr wrap="square" lIns="0" tIns="0" rIns="0" bIns="0" rtlCol="0" anchor="ctr"/>
          <a:lstStyle/>
          <a:p>
            <a:pPr marL="0" indent="0" algn="ctr">
              <a:buNone/>
            </a:pPr>
            <a:r>
              <a:rPr lang="en-US" sz="1200" b="1">
                <a:solidFill>
                  <a:srgbClr val="F26A21"/>
                </a:solidFill>
                <a:ea typeface="GT America" pitchFamily="34" charset="-122"/>
                <a:cs typeface="GT America" pitchFamily="34" charset="-120"/>
              </a:rPr>
              <a:t>MANUAL ↓</a:t>
            </a:r>
            <a:endParaRPr lang="en-US" sz="1200"/>
          </a:p>
        </p:txBody>
      </p:sp>
      <p:sp>
        <p:nvSpPr>
          <p:cNvPr id="48" name="Text 8">
            <a:extLst>
              <a:ext uri="{FF2B5EF4-FFF2-40B4-BE49-F238E27FC236}">
                <a16:creationId xmlns:a16="http://schemas.microsoft.com/office/drawing/2014/main" id="{760D5185-DE31-7E76-DE1D-353D465D1673}"/>
              </a:ext>
            </a:extLst>
          </p:cNvPr>
          <p:cNvSpPr/>
          <p:nvPr/>
        </p:nvSpPr>
        <p:spPr>
          <a:xfrm>
            <a:off x="3183636" y="4916218"/>
            <a:ext cx="1195959" cy="231350"/>
          </a:xfrm>
          <a:prstGeom prst="rect">
            <a:avLst/>
          </a:prstGeom>
          <a:noFill/>
          <a:ln/>
        </p:spPr>
        <p:txBody>
          <a:bodyPr wrap="square" lIns="0" tIns="0" rIns="0" bIns="0" rtlCol="0" anchor="ctr"/>
          <a:lstStyle/>
          <a:p>
            <a:pPr marL="0" indent="0" algn="ctr">
              <a:buNone/>
            </a:pPr>
            <a:r>
              <a:rPr lang="en-US" sz="1200" b="1">
                <a:solidFill>
                  <a:srgbClr val="F26A21"/>
                </a:solidFill>
                <a:ea typeface="GT America" pitchFamily="34" charset="-122"/>
                <a:cs typeface="GT America" pitchFamily="34" charset="-120"/>
              </a:rPr>
              <a:t>MANUAL ↓</a:t>
            </a:r>
            <a:endParaRPr lang="en-US" sz="1200"/>
          </a:p>
        </p:txBody>
      </p:sp>
    </p:spTree>
    <p:extLst>
      <p:ext uri="{BB962C8B-B14F-4D97-AF65-F5344CB8AC3E}">
        <p14:creationId xmlns:p14="http://schemas.microsoft.com/office/powerpoint/2010/main" val="1102767983"/>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8703C-D327-5424-25E1-2227CE46EEE6}"/>
              </a:ext>
            </a:extLst>
          </p:cNvPr>
          <p:cNvSpPr>
            <a:spLocks noGrp="1"/>
          </p:cNvSpPr>
          <p:nvPr>
            <p:ph type="title"/>
          </p:nvPr>
        </p:nvSpPr>
        <p:spPr/>
        <p:txBody>
          <a:bodyPr/>
          <a:lstStyle/>
          <a:p>
            <a:r>
              <a:rPr lang="en-IN"/>
              <a:t>Strategic Modernization Vision</a:t>
            </a:r>
          </a:p>
        </p:txBody>
      </p:sp>
      <p:sp>
        <p:nvSpPr>
          <p:cNvPr id="3" name="Text Placeholder 2">
            <a:extLst>
              <a:ext uri="{FF2B5EF4-FFF2-40B4-BE49-F238E27FC236}">
                <a16:creationId xmlns:a16="http://schemas.microsoft.com/office/drawing/2014/main" id="{5B0C460D-E33A-AA64-BE4C-1D5EE066BF3D}"/>
              </a:ext>
            </a:extLst>
          </p:cNvPr>
          <p:cNvSpPr>
            <a:spLocks noGrp="1"/>
          </p:cNvSpPr>
          <p:nvPr>
            <p:ph type="body" sz="quarter" idx="11"/>
          </p:nvPr>
        </p:nvSpPr>
        <p:spPr>
          <a:xfrm>
            <a:off x="304801" y="984858"/>
            <a:ext cx="11582398" cy="637754"/>
          </a:xfrm>
          <a:solidFill>
            <a:schemeClr val="bg1">
              <a:lumMod val="95000"/>
            </a:schemeClr>
          </a:solidFill>
          <a:ln>
            <a:solidFill>
              <a:schemeClr val="bg1">
                <a:lumMod val="95000"/>
              </a:schemeClr>
            </a:solidFill>
          </a:ln>
        </p:spPr>
        <p:txBody>
          <a:bodyPr anchor="ctr"/>
          <a:lstStyle/>
          <a:p>
            <a:pPr algn="ctr" fontAlgn="t"/>
            <a:r>
              <a:rPr lang="en-IN">
                <a:solidFill>
                  <a:schemeClr val="accent2"/>
                </a:solidFill>
              </a:rPr>
              <a:t> "Replace every legacy system. Build a platform where AI does the extraction work, rules do the validation work,                 and Legal Assistants provide the judgment that only humans can provide."</a:t>
            </a:r>
          </a:p>
        </p:txBody>
      </p:sp>
      <p:graphicFrame>
        <p:nvGraphicFramePr>
          <p:cNvPr id="7" name="Table 0">
            <a:extLst>
              <a:ext uri="{FF2B5EF4-FFF2-40B4-BE49-F238E27FC236}">
                <a16:creationId xmlns:a16="http://schemas.microsoft.com/office/drawing/2014/main" id="{4CDA5442-9F15-70E6-FD26-7E64C2FC1E45}"/>
              </a:ext>
            </a:extLst>
          </p:cNvPr>
          <p:cNvGraphicFramePr>
            <a:graphicFrameLocks noGrp="1"/>
          </p:cNvGraphicFramePr>
          <p:nvPr>
            <p:extLst>
              <p:ext uri="{D42A27DB-BD31-4B8C-83A1-F6EECF244321}">
                <p14:modId xmlns:p14="http://schemas.microsoft.com/office/powerpoint/2010/main" val="631223518"/>
              </p:ext>
            </p:extLst>
          </p:nvPr>
        </p:nvGraphicFramePr>
        <p:xfrm>
          <a:off x="304801" y="1825434"/>
          <a:ext cx="11582398" cy="2764496"/>
        </p:xfrm>
        <a:graphic>
          <a:graphicData uri="http://schemas.openxmlformats.org/drawingml/2006/table">
            <a:tbl>
              <a:tblPr/>
              <a:tblGrid>
                <a:gridCol w="5791199">
                  <a:extLst>
                    <a:ext uri="{9D8B030D-6E8A-4147-A177-3AD203B41FA5}">
                      <a16:colId xmlns:a16="http://schemas.microsoft.com/office/drawing/2014/main" val="20000"/>
                    </a:ext>
                  </a:extLst>
                </a:gridCol>
                <a:gridCol w="5791199">
                  <a:extLst>
                    <a:ext uri="{9D8B030D-6E8A-4147-A177-3AD203B41FA5}">
                      <a16:colId xmlns:a16="http://schemas.microsoft.com/office/drawing/2014/main" val="20001"/>
                    </a:ext>
                  </a:extLst>
                </a:gridCol>
              </a:tblGrid>
              <a:tr h="393102">
                <a:tc>
                  <a:txBody>
                    <a:bodyPr/>
                    <a:lstStyle/>
                    <a:p>
                      <a:pPr marL="0" indent="0" algn="ctr">
                        <a:buNone/>
                      </a:pPr>
                      <a:r>
                        <a:rPr lang="en-US" sz="1400" b="1">
                          <a:solidFill>
                            <a:srgbClr val="FFFFFF"/>
                          </a:solidFill>
                          <a:latin typeface="+mn-lt"/>
                          <a:ea typeface="GT America" pitchFamily="34" charset="-122"/>
                          <a:cs typeface="GT America" pitchFamily="34" charset="-120"/>
                        </a:rPr>
                        <a:t>TODAY</a:t>
                      </a:r>
                      <a:endParaRPr lang="en-US" sz="14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8F8E87"/>
                    </a:solidFill>
                  </a:tcPr>
                </a:tc>
                <a:tc>
                  <a:txBody>
                    <a:bodyPr/>
                    <a:lstStyle/>
                    <a:p>
                      <a:pPr marL="0" indent="0" algn="ctr">
                        <a:buNone/>
                      </a:pPr>
                      <a:r>
                        <a:rPr lang="en-US" sz="1400" b="1">
                          <a:solidFill>
                            <a:srgbClr val="FFFFFF"/>
                          </a:solidFill>
                          <a:latin typeface="+mn-lt"/>
                          <a:ea typeface="GT America" pitchFamily="34" charset="-122"/>
                          <a:cs typeface="GT America" pitchFamily="34" charset="-120"/>
                        </a:rPr>
                        <a:t>FUTURE STATE</a:t>
                      </a:r>
                      <a:endParaRPr lang="en-US" sz="14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024854"/>
                    </a:solidFill>
                  </a:tcPr>
                </a:tc>
                <a:extLst>
                  <a:ext uri="{0D108BD9-81ED-4DB2-BD59-A6C34878D82A}">
                    <a16:rowId xmlns:a16="http://schemas.microsoft.com/office/drawing/2014/main" val="10000"/>
                  </a:ext>
                </a:extLst>
              </a:tr>
              <a:tr h="399493">
                <a:tc>
                  <a:txBody>
                    <a:bodyPr/>
                    <a:lstStyle/>
                    <a:p>
                      <a:pPr marL="0" indent="0">
                        <a:buNone/>
                      </a:pPr>
                      <a:r>
                        <a:rPr lang="en-US" sz="1100">
                          <a:solidFill>
                            <a:srgbClr val="282828"/>
                          </a:solidFill>
                          <a:latin typeface="+mn-lt"/>
                          <a:ea typeface="GT America" pitchFamily="34" charset="-122"/>
                          <a:cs typeface="GT America" pitchFamily="34" charset="-120"/>
                        </a:rPr>
                        <a:t>Human reads document → human finds value → human types value into field → repeat × 140</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024854"/>
                          </a:solidFill>
                          <a:latin typeface="+mn-lt"/>
                          <a:ea typeface="GT America" pitchFamily="34" charset="-122"/>
                          <a:cs typeface="GT America" pitchFamily="34" charset="-120"/>
                        </a:rPr>
                        <a:t>AI reads all documents → AI populates all fields → AI flags what it is uncertain about</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1"/>
                  </a:ext>
                </a:extLst>
              </a:tr>
              <a:tr h="393102">
                <a:tc>
                  <a:txBody>
                    <a:bodyPr/>
                    <a:lstStyle/>
                    <a:p>
                      <a:pPr marL="0" indent="0">
                        <a:buNone/>
                      </a:pPr>
                      <a:r>
                        <a:rPr lang="en-US" sz="1100">
                          <a:solidFill>
                            <a:srgbClr val="282828"/>
                          </a:solidFill>
                          <a:latin typeface="+mn-lt"/>
                          <a:ea typeface="GT America" pitchFamily="34" charset="-122"/>
                          <a:cs typeface="GT America" pitchFamily="34" charset="-120"/>
                        </a:rPr>
                        <a:t>Legal Assistant fills a 140-field data entry form</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024854"/>
                          </a:solidFill>
                          <a:latin typeface="+mn-lt"/>
                          <a:ea typeface="GT America" pitchFamily="34" charset="-122"/>
                          <a:cs typeface="GT America" pitchFamily="34" charset="-120"/>
                        </a:rPr>
                        <a:t>Legal Assistant reviews a pre-filled form and resolves flagged exceptions only</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2"/>
                  </a:ext>
                </a:extLst>
              </a:tr>
              <a:tr h="393102">
                <a:tc>
                  <a:txBody>
                    <a:bodyPr/>
                    <a:lstStyle/>
                    <a:p>
                      <a:pPr marL="0" indent="0">
                        <a:buNone/>
                      </a:pPr>
                      <a:r>
                        <a:rPr lang="en-US" sz="1100">
                          <a:solidFill>
                            <a:srgbClr val="282828"/>
                          </a:solidFill>
                          <a:latin typeface="+mn-lt"/>
                          <a:ea typeface="GT America" pitchFamily="34" charset="-122"/>
                          <a:cs typeface="GT America" pitchFamily="34" charset="-120"/>
                        </a:rPr>
                        <a:t>Missing documents discovered mid-review</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024854"/>
                          </a:solidFill>
                          <a:latin typeface="+mn-lt"/>
                          <a:ea typeface="GT America" pitchFamily="34" charset="-122"/>
                          <a:cs typeface="GT America" pitchFamily="34" charset="-120"/>
                        </a:rPr>
                        <a:t>Missing documents detected at intake before any examiner is assigned</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3"/>
                  </a:ext>
                </a:extLst>
              </a:tr>
              <a:tr h="393102">
                <a:tc>
                  <a:txBody>
                    <a:bodyPr/>
                    <a:lstStyle/>
                    <a:p>
                      <a:pPr marL="0" indent="0">
                        <a:buNone/>
                      </a:pPr>
                      <a:r>
                        <a:rPr lang="en-US" sz="1100">
                          <a:solidFill>
                            <a:srgbClr val="282828"/>
                          </a:solidFill>
                          <a:latin typeface="+mn-lt"/>
                          <a:ea typeface="GT America" pitchFamily="34" charset="-122"/>
                          <a:cs typeface="GT America" pitchFamily="34" charset="-120"/>
                        </a:rPr>
                        <a:t>Business rules checked manually against a checklist</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024854"/>
                          </a:solidFill>
                          <a:latin typeface="+mn-lt"/>
                          <a:ea typeface="GT America" pitchFamily="34" charset="-122"/>
                          <a:cs typeface="GT America" pitchFamily="34" charset="-120"/>
                        </a:rPr>
                        <a:t>Rules engine checks every rule automatically on every file before QC queue</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4"/>
                  </a:ext>
                </a:extLst>
              </a:tr>
              <a:tr h="399493">
                <a:tc>
                  <a:txBody>
                    <a:bodyPr/>
                    <a:lstStyle/>
                    <a:p>
                      <a:pPr marL="0" indent="0">
                        <a:buNone/>
                      </a:pPr>
                      <a:r>
                        <a:rPr lang="en-US" sz="1100">
                          <a:solidFill>
                            <a:srgbClr val="282828"/>
                          </a:solidFill>
                          <a:latin typeface="+mn-lt"/>
                          <a:ea typeface="GT America" pitchFamily="34" charset="-122"/>
                          <a:cs typeface="GT America" pitchFamily="34" charset="-120"/>
                        </a:rPr>
                        <a:t>Queue is an MS Access spreadsheet with manual prioritization</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024854"/>
                          </a:solidFill>
                          <a:latin typeface="+mn-lt"/>
                          <a:ea typeface="GT America" pitchFamily="34" charset="-122"/>
                          <a:cs typeface="GT America" pitchFamily="34" charset="-120"/>
                        </a:rPr>
                        <a:t>Dynamic queue with multi-POD routing, closing date priority, and SLA-aware ordering</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5"/>
                  </a:ext>
                </a:extLst>
              </a:tr>
              <a:tr h="393102">
                <a:tc>
                  <a:txBody>
                    <a:bodyPr/>
                    <a:lstStyle/>
                    <a:p>
                      <a:pPr marL="0" indent="0">
                        <a:buNone/>
                      </a:pPr>
                      <a:r>
                        <a:rPr lang="en-US" sz="1100">
                          <a:solidFill>
                            <a:srgbClr val="282828"/>
                          </a:solidFill>
                          <a:latin typeface="+mn-lt"/>
                          <a:ea typeface="GT America" pitchFamily="34" charset="-122"/>
                          <a:cs typeface="GT America" pitchFamily="34" charset="-120"/>
                        </a:rPr>
                        <a:t>SLA visibility requires asking someone</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024854"/>
                          </a:solidFill>
                          <a:latin typeface="+mn-lt"/>
                          <a:ea typeface="GT America" pitchFamily="34" charset="-122"/>
                          <a:cs typeface="GT America" pitchFamily="34" charset="-120"/>
                        </a:rPr>
                        <a:t>Real-time SLA dashboard, aging alerts, manager escalation - fully automated</a:t>
                      </a:r>
                      <a:endParaRPr lang="en-US" sz="1100">
                        <a:latin typeface="+mn-lt"/>
                        <a:ea typeface="GT America" charset="0"/>
                        <a:cs typeface="GT America" charset="0"/>
                      </a:endParaRPr>
                    </a:p>
                  </a:txBody>
                  <a:tcPr anchor="ctr">
                    <a:lnL w="6350" cap="flat" cmpd="sng" algn="ctr">
                      <a:solidFill>
                        <a:srgbClr val="D8D8CE"/>
                      </a:solidFill>
                      <a:prstDash val="solid"/>
                      <a:round/>
                      <a:headEnd type="none" w="med" len="med"/>
                      <a:tailEnd type="none" w="med" len="med"/>
                    </a:lnL>
                    <a:lnR w="6350" cap="flat" cmpd="sng" algn="ctr">
                      <a:solidFill>
                        <a:srgbClr val="D8D8CE"/>
                      </a:solidFill>
                      <a:prstDash val="solid"/>
                      <a:round/>
                      <a:headEnd type="none" w="med" len="med"/>
                      <a:tailEnd type="none" w="med" len="med"/>
                    </a:lnR>
                    <a:lnT w="6350" cap="flat" cmpd="sng" algn="ctr">
                      <a:solidFill>
                        <a:srgbClr val="D8D8CE"/>
                      </a:solidFill>
                      <a:prstDash val="solid"/>
                      <a:round/>
                      <a:headEnd type="none" w="med" len="med"/>
                      <a:tailEnd type="none" w="med" len="med"/>
                    </a:lnT>
                    <a:lnB w="635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6"/>
                  </a:ext>
                </a:extLst>
              </a:tr>
            </a:tbl>
          </a:graphicData>
        </a:graphic>
      </p:graphicFrame>
      <p:sp>
        <p:nvSpPr>
          <p:cNvPr id="8" name="Arrow: Right 7">
            <a:extLst>
              <a:ext uri="{FF2B5EF4-FFF2-40B4-BE49-F238E27FC236}">
                <a16:creationId xmlns:a16="http://schemas.microsoft.com/office/drawing/2014/main" id="{B3ED38A8-E7E6-20C4-E385-13FB16AC6280}"/>
              </a:ext>
            </a:extLst>
          </p:cNvPr>
          <p:cNvSpPr/>
          <p:nvPr/>
        </p:nvSpPr>
        <p:spPr>
          <a:xfrm>
            <a:off x="3971365" y="1969679"/>
            <a:ext cx="4051127" cy="135470"/>
          </a:xfrm>
          <a:prstGeom prst="rightArrow">
            <a:avLst>
              <a:gd name="adj1" fmla="val 50000"/>
              <a:gd name="adj2" fmla="val 63772"/>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8" name="Group 17">
            <a:extLst>
              <a:ext uri="{FF2B5EF4-FFF2-40B4-BE49-F238E27FC236}">
                <a16:creationId xmlns:a16="http://schemas.microsoft.com/office/drawing/2014/main" id="{B7B76233-F829-2315-B121-0D1778F7BE24}"/>
              </a:ext>
            </a:extLst>
          </p:cNvPr>
          <p:cNvGrpSpPr/>
          <p:nvPr/>
        </p:nvGrpSpPr>
        <p:grpSpPr>
          <a:xfrm>
            <a:off x="394447" y="4875676"/>
            <a:ext cx="11492752" cy="1330142"/>
            <a:chOff x="457200" y="4315968"/>
            <a:chExt cx="8293608" cy="585216"/>
          </a:xfrm>
        </p:grpSpPr>
        <p:sp>
          <p:nvSpPr>
            <p:cNvPr id="9" name="Text 5">
              <a:extLst>
                <a:ext uri="{FF2B5EF4-FFF2-40B4-BE49-F238E27FC236}">
                  <a16:creationId xmlns:a16="http://schemas.microsoft.com/office/drawing/2014/main" id="{CEFA86CF-FA6A-EFC9-DDDF-58B84353E12F}"/>
                </a:ext>
              </a:extLst>
            </p:cNvPr>
            <p:cNvSpPr/>
            <p:nvPr/>
          </p:nvSpPr>
          <p:spPr>
            <a:xfrm>
              <a:off x="457200" y="4315968"/>
              <a:ext cx="274320" cy="256032"/>
            </a:xfrm>
            <a:prstGeom prst="rect">
              <a:avLst/>
            </a:prstGeom>
            <a:noFill/>
            <a:ln/>
          </p:spPr>
          <p:txBody>
            <a:bodyPr wrap="square" lIns="0" tIns="0" rIns="0" bIns="0" rtlCol="0" anchor="ctr"/>
            <a:lstStyle/>
            <a:p>
              <a:pPr marL="0" indent="0">
                <a:buNone/>
              </a:pPr>
              <a:r>
                <a:rPr lang="en-US" sz="3200">
                  <a:solidFill>
                    <a:srgbClr val="00B8BB"/>
                  </a:solidFill>
                  <a:ea typeface="Neue Machina Plain" pitchFamily="34" charset="-122"/>
                  <a:cs typeface="Neue Machina Plain" pitchFamily="34" charset="-120"/>
                </a:rPr>
                <a:t>1</a:t>
              </a:r>
              <a:endParaRPr lang="en-US" sz="3200"/>
            </a:p>
          </p:txBody>
        </p:sp>
        <p:sp>
          <p:nvSpPr>
            <p:cNvPr id="10" name="Text 6">
              <a:extLst>
                <a:ext uri="{FF2B5EF4-FFF2-40B4-BE49-F238E27FC236}">
                  <a16:creationId xmlns:a16="http://schemas.microsoft.com/office/drawing/2014/main" id="{6B2BC0FA-7271-E24B-3F20-6A888177F7F6}"/>
                </a:ext>
              </a:extLst>
            </p:cNvPr>
            <p:cNvSpPr/>
            <p:nvPr/>
          </p:nvSpPr>
          <p:spPr>
            <a:xfrm>
              <a:off x="749808" y="4343400"/>
              <a:ext cx="2423160" cy="201168"/>
            </a:xfrm>
            <a:prstGeom prst="rect">
              <a:avLst/>
            </a:prstGeom>
            <a:noFill/>
            <a:ln/>
          </p:spPr>
          <p:txBody>
            <a:bodyPr wrap="square" lIns="0" tIns="0" rIns="0" bIns="0" rtlCol="0" anchor="ctr"/>
            <a:lstStyle/>
            <a:p>
              <a:pPr marL="0" indent="0">
                <a:buNone/>
              </a:pPr>
              <a:r>
                <a:rPr lang="en-US" sz="1600" b="1">
                  <a:solidFill>
                    <a:srgbClr val="282828"/>
                  </a:solidFill>
                  <a:ea typeface="GT America" pitchFamily="34" charset="-122"/>
                  <a:cs typeface="GT America" pitchFamily="34" charset="-120"/>
                </a:rPr>
                <a:t>Orchestrate First</a:t>
              </a:r>
              <a:endParaRPr lang="en-US" sz="1600"/>
            </a:p>
          </p:txBody>
        </p:sp>
        <p:sp>
          <p:nvSpPr>
            <p:cNvPr id="11" name="Text 7">
              <a:extLst>
                <a:ext uri="{FF2B5EF4-FFF2-40B4-BE49-F238E27FC236}">
                  <a16:creationId xmlns:a16="http://schemas.microsoft.com/office/drawing/2014/main" id="{FD246A38-14DF-BB55-068F-DA336136DA61}"/>
                </a:ext>
              </a:extLst>
            </p:cNvPr>
            <p:cNvSpPr/>
            <p:nvPr/>
          </p:nvSpPr>
          <p:spPr>
            <a:xfrm>
              <a:off x="749808" y="4517136"/>
              <a:ext cx="2288633" cy="384048"/>
            </a:xfrm>
            <a:prstGeom prst="rect">
              <a:avLst/>
            </a:prstGeom>
            <a:noFill/>
            <a:ln/>
          </p:spPr>
          <p:txBody>
            <a:bodyPr wrap="square" lIns="0" tIns="0" rIns="0" bIns="0" rtlCol="0" anchor="ctr"/>
            <a:lstStyle/>
            <a:p>
              <a:pPr marL="0" indent="0">
                <a:buNone/>
              </a:pPr>
              <a:r>
                <a:rPr lang="en-US" sz="1200">
                  <a:solidFill>
                    <a:schemeClr val="tx1">
                      <a:lumMod val="90000"/>
                      <a:lumOff val="10000"/>
                    </a:schemeClr>
                  </a:solidFill>
                  <a:ea typeface="GT America" pitchFamily="34" charset="-122"/>
                  <a:cs typeface="GT America" pitchFamily="34" charset="-120"/>
                </a:rPr>
                <a:t>Automate all intake-to-queue hand-offs before replacing any system. Every submission processed automatically from upload to queue. Operations benefit from day one.</a:t>
              </a:r>
              <a:endParaRPr lang="en-US" sz="1200">
                <a:solidFill>
                  <a:schemeClr val="tx1">
                    <a:lumMod val="90000"/>
                    <a:lumOff val="10000"/>
                  </a:schemeClr>
                </a:solidFill>
              </a:endParaRPr>
            </a:p>
          </p:txBody>
        </p:sp>
        <p:sp>
          <p:nvSpPr>
            <p:cNvPr id="12" name="Text 8">
              <a:extLst>
                <a:ext uri="{FF2B5EF4-FFF2-40B4-BE49-F238E27FC236}">
                  <a16:creationId xmlns:a16="http://schemas.microsoft.com/office/drawing/2014/main" id="{EE1067B2-0880-0114-BA90-9EC6D0D35E04}"/>
                </a:ext>
              </a:extLst>
            </p:cNvPr>
            <p:cNvSpPr/>
            <p:nvPr/>
          </p:nvSpPr>
          <p:spPr>
            <a:xfrm>
              <a:off x="3246120" y="4315968"/>
              <a:ext cx="274320" cy="256032"/>
            </a:xfrm>
            <a:prstGeom prst="rect">
              <a:avLst/>
            </a:prstGeom>
            <a:noFill/>
            <a:ln/>
          </p:spPr>
          <p:txBody>
            <a:bodyPr wrap="square" lIns="0" tIns="0" rIns="0" bIns="0" rtlCol="0" anchor="ctr"/>
            <a:lstStyle/>
            <a:p>
              <a:pPr marL="0" indent="0">
                <a:buNone/>
              </a:pPr>
              <a:r>
                <a:rPr lang="en-US" sz="3200">
                  <a:solidFill>
                    <a:srgbClr val="00B8BB"/>
                  </a:solidFill>
                  <a:ea typeface="Neue Machina Plain" pitchFamily="34" charset="-122"/>
                  <a:cs typeface="Neue Machina Plain" pitchFamily="34" charset="-120"/>
                </a:rPr>
                <a:t>2</a:t>
              </a:r>
              <a:endParaRPr lang="en-US" sz="3200"/>
            </a:p>
          </p:txBody>
        </p:sp>
        <p:sp>
          <p:nvSpPr>
            <p:cNvPr id="13" name="Text 9">
              <a:extLst>
                <a:ext uri="{FF2B5EF4-FFF2-40B4-BE49-F238E27FC236}">
                  <a16:creationId xmlns:a16="http://schemas.microsoft.com/office/drawing/2014/main" id="{3998DE29-F475-7A50-6FD1-EA6AF5382761}"/>
                </a:ext>
              </a:extLst>
            </p:cNvPr>
            <p:cNvSpPr/>
            <p:nvPr/>
          </p:nvSpPr>
          <p:spPr>
            <a:xfrm>
              <a:off x="3538728" y="4343400"/>
              <a:ext cx="2423160" cy="201168"/>
            </a:xfrm>
            <a:prstGeom prst="rect">
              <a:avLst/>
            </a:prstGeom>
            <a:noFill/>
            <a:ln/>
          </p:spPr>
          <p:txBody>
            <a:bodyPr wrap="square" lIns="0" tIns="0" rIns="0" bIns="0" rtlCol="0" anchor="ctr"/>
            <a:lstStyle/>
            <a:p>
              <a:pPr marL="0" indent="0">
                <a:buNone/>
              </a:pPr>
              <a:r>
                <a:rPr lang="en-US" sz="1600" b="1">
                  <a:solidFill>
                    <a:srgbClr val="282828"/>
                  </a:solidFill>
                  <a:ea typeface="GT America" pitchFamily="34" charset="-122"/>
                  <a:cs typeface="GT America" pitchFamily="34" charset="-120"/>
                </a:rPr>
                <a:t>AI Extracts, Humans Verify</a:t>
              </a:r>
              <a:endParaRPr lang="en-US" sz="1600"/>
            </a:p>
          </p:txBody>
        </p:sp>
        <p:sp>
          <p:nvSpPr>
            <p:cNvPr id="14" name="Text 10">
              <a:extLst>
                <a:ext uri="{FF2B5EF4-FFF2-40B4-BE49-F238E27FC236}">
                  <a16:creationId xmlns:a16="http://schemas.microsoft.com/office/drawing/2014/main" id="{F9D0318A-3A76-73FD-044E-4671FB16E82A}"/>
                </a:ext>
              </a:extLst>
            </p:cNvPr>
            <p:cNvSpPr/>
            <p:nvPr/>
          </p:nvSpPr>
          <p:spPr>
            <a:xfrm>
              <a:off x="3538728" y="4517136"/>
              <a:ext cx="2423160" cy="384048"/>
            </a:xfrm>
            <a:prstGeom prst="rect">
              <a:avLst/>
            </a:prstGeom>
            <a:noFill/>
            <a:ln/>
          </p:spPr>
          <p:txBody>
            <a:bodyPr wrap="square" lIns="0" tIns="0" rIns="0" bIns="0" rtlCol="0" anchor="ctr"/>
            <a:lstStyle/>
            <a:p>
              <a:r>
                <a:rPr lang="en-US" sz="1200">
                  <a:solidFill>
                    <a:schemeClr val="tx1">
                      <a:lumMod val="90000"/>
                      <a:lumOff val="10000"/>
                    </a:schemeClr>
                  </a:solidFill>
                  <a:ea typeface="GT America" pitchFamily="34" charset="-122"/>
                </a:rPr>
                <a:t>Approximately 140 fields extracted per file. Legal Assistants review flagged exceptions - low confidence, rule violations, cross-document mismatches - not the full field set.</a:t>
              </a:r>
            </a:p>
          </p:txBody>
        </p:sp>
        <p:sp>
          <p:nvSpPr>
            <p:cNvPr id="15" name="Text 11">
              <a:extLst>
                <a:ext uri="{FF2B5EF4-FFF2-40B4-BE49-F238E27FC236}">
                  <a16:creationId xmlns:a16="http://schemas.microsoft.com/office/drawing/2014/main" id="{E098ED74-FE62-75AE-BC50-5936DE7A5D86}"/>
                </a:ext>
              </a:extLst>
            </p:cNvPr>
            <p:cNvSpPr/>
            <p:nvPr/>
          </p:nvSpPr>
          <p:spPr>
            <a:xfrm>
              <a:off x="6035040" y="4315968"/>
              <a:ext cx="274320" cy="256032"/>
            </a:xfrm>
            <a:prstGeom prst="rect">
              <a:avLst/>
            </a:prstGeom>
            <a:noFill/>
            <a:ln/>
          </p:spPr>
          <p:txBody>
            <a:bodyPr wrap="square" lIns="0" tIns="0" rIns="0" bIns="0" rtlCol="0" anchor="ctr"/>
            <a:lstStyle/>
            <a:p>
              <a:pPr marL="0" indent="0">
                <a:buNone/>
              </a:pPr>
              <a:r>
                <a:rPr lang="en-US" sz="3200">
                  <a:solidFill>
                    <a:srgbClr val="00B8BB"/>
                  </a:solidFill>
                  <a:ea typeface="Neue Machina Plain" pitchFamily="34" charset="-122"/>
                  <a:cs typeface="Neue Machina Plain" pitchFamily="34" charset="-120"/>
                </a:rPr>
                <a:t>3</a:t>
              </a:r>
              <a:endParaRPr lang="en-US" sz="3200"/>
            </a:p>
          </p:txBody>
        </p:sp>
        <p:sp>
          <p:nvSpPr>
            <p:cNvPr id="16" name="Text 12">
              <a:extLst>
                <a:ext uri="{FF2B5EF4-FFF2-40B4-BE49-F238E27FC236}">
                  <a16:creationId xmlns:a16="http://schemas.microsoft.com/office/drawing/2014/main" id="{63CC6E92-91B2-FD0A-3810-4AB447EE07A6}"/>
                </a:ext>
              </a:extLst>
            </p:cNvPr>
            <p:cNvSpPr/>
            <p:nvPr/>
          </p:nvSpPr>
          <p:spPr>
            <a:xfrm>
              <a:off x="6327648" y="4351310"/>
              <a:ext cx="2423160" cy="201168"/>
            </a:xfrm>
            <a:prstGeom prst="rect">
              <a:avLst/>
            </a:prstGeom>
            <a:noFill/>
            <a:ln/>
          </p:spPr>
          <p:txBody>
            <a:bodyPr wrap="square" lIns="0" tIns="0" rIns="0" bIns="0" rtlCol="0" anchor="ctr"/>
            <a:lstStyle/>
            <a:p>
              <a:pPr marL="0" indent="0">
                <a:buNone/>
              </a:pPr>
              <a:r>
                <a:rPr lang="en-US" sz="1600" b="1">
                  <a:solidFill>
                    <a:srgbClr val="282828"/>
                  </a:solidFill>
                  <a:ea typeface="GT America" pitchFamily="34" charset="-122"/>
                  <a:cs typeface="GT America" pitchFamily="34" charset="-120"/>
                </a:rPr>
                <a:t>Build for What's Next</a:t>
              </a:r>
              <a:endParaRPr lang="en-US" sz="1600"/>
            </a:p>
          </p:txBody>
        </p:sp>
        <p:sp>
          <p:nvSpPr>
            <p:cNvPr id="17" name="Text 13">
              <a:extLst>
                <a:ext uri="{FF2B5EF4-FFF2-40B4-BE49-F238E27FC236}">
                  <a16:creationId xmlns:a16="http://schemas.microsoft.com/office/drawing/2014/main" id="{6CB2560B-FE13-C9CC-5B0F-36384CF2FC34}"/>
                </a:ext>
              </a:extLst>
            </p:cNvPr>
            <p:cNvSpPr/>
            <p:nvPr/>
          </p:nvSpPr>
          <p:spPr>
            <a:xfrm>
              <a:off x="6327648" y="4517136"/>
              <a:ext cx="2358468" cy="384048"/>
            </a:xfrm>
            <a:prstGeom prst="rect">
              <a:avLst/>
            </a:prstGeom>
            <a:noFill/>
            <a:ln/>
          </p:spPr>
          <p:txBody>
            <a:bodyPr wrap="square" lIns="0" tIns="0" rIns="0" bIns="0" rtlCol="0" anchor="ctr"/>
            <a:lstStyle/>
            <a:p>
              <a:r>
                <a:rPr lang="en-US" sz="1200">
                  <a:solidFill>
                    <a:schemeClr val="tx1">
                      <a:lumMod val="90000"/>
                      <a:lumOff val="10000"/>
                    </a:schemeClr>
                  </a:solidFill>
                  <a:ea typeface="GT America" pitchFamily="34" charset="-122"/>
                </a:rPr>
                <a:t>AI-ready schema, event stream, API stubs, and examiner feedback capture are built from Sprint 0. When the firm is ready to activate AI capabilities, the platform is already prepared.</a:t>
              </a:r>
            </a:p>
          </p:txBody>
        </p:sp>
      </p:grpSp>
      <p:sp>
        <p:nvSpPr>
          <p:cNvPr id="23" name="Rectangle 22">
            <a:extLst>
              <a:ext uri="{FF2B5EF4-FFF2-40B4-BE49-F238E27FC236}">
                <a16:creationId xmlns:a16="http://schemas.microsoft.com/office/drawing/2014/main" id="{25355101-8F76-C87D-487A-178C013694CE}"/>
              </a:ext>
            </a:extLst>
          </p:cNvPr>
          <p:cNvSpPr/>
          <p:nvPr/>
        </p:nvSpPr>
        <p:spPr>
          <a:xfrm>
            <a:off x="304801" y="4852536"/>
            <a:ext cx="11582398" cy="135328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8D33A351-DABA-A19E-D621-23CF8044056F}"/>
              </a:ext>
            </a:extLst>
          </p:cNvPr>
          <p:cNvSpPr txBox="1"/>
          <p:nvPr/>
        </p:nvSpPr>
        <p:spPr>
          <a:xfrm>
            <a:off x="584514" y="4716627"/>
            <a:ext cx="2567828" cy="307777"/>
          </a:xfrm>
          <a:prstGeom prst="rect">
            <a:avLst/>
          </a:prstGeom>
          <a:solidFill>
            <a:schemeClr val="bg1"/>
          </a:solidFill>
        </p:spPr>
        <p:txBody>
          <a:bodyPr wrap="square">
            <a:spAutoFit/>
          </a:bodyPr>
          <a:lstStyle/>
          <a:p>
            <a:pPr algn="ctr">
              <a:spcBef>
                <a:spcPts val="1600"/>
              </a:spcBef>
              <a:spcAft>
                <a:spcPts val="600"/>
              </a:spcAft>
              <a:buNone/>
            </a:pPr>
            <a:r>
              <a:rPr lang="en-IN" sz="1400" b="1">
                <a:solidFill>
                  <a:schemeClr val="accent2"/>
                </a:solidFill>
                <a:effectLst/>
              </a:rPr>
              <a:t>Three</a:t>
            </a:r>
            <a:r>
              <a:rPr lang="en-IN" sz="1400" b="1">
                <a:solidFill>
                  <a:schemeClr val="accent2"/>
                </a:solidFill>
                <a:effectLst/>
                <a:latin typeface="Arial" panose="020B0604020202020204" pitchFamily="34" charset="0"/>
              </a:rPr>
              <a:t> </a:t>
            </a:r>
            <a:r>
              <a:rPr lang="en-IN" sz="1400" b="1">
                <a:solidFill>
                  <a:schemeClr val="accent2"/>
                </a:solidFill>
                <a:effectLst/>
              </a:rPr>
              <a:t>Modernization Principles</a:t>
            </a:r>
          </a:p>
        </p:txBody>
      </p:sp>
    </p:spTree>
    <p:extLst>
      <p:ext uri="{BB962C8B-B14F-4D97-AF65-F5344CB8AC3E}">
        <p14:creationId xmlns:p14="http://schemas.microsoft.com/office/powerpoint/2010/main" val="314536816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3979-1CF6-F674-B486-B5AA0CF6211A}"/>
              </a:ext>
            </a:extLst>
          </p:cNvPr>
          <p:cNvSpPr>
            <a:spLocks noGrp="1"/>
          </p:cNvSpPr>
          <p:nvPr>
            <p:ph type="title"/>
          </p:nvPr>
        </p:nvSpPr>
        <p:spPr/>
        <p:txBody>
          <a:bodyPr/>
          <a:lstStyle/>
          <a:p>
            <a:r>
              <a:rPr lang="en-IN" sz="2800"/>
              <a:t>Future State Architecture</a:t>
            </a:r>
          </a:p>
        </p:txBody>
      </p:sp>
      <p:sp>
        <p:nvSpPr>
          <p:cNvPr id="5" name="Shape 3">
            <a:extLst>
              <a:ext uri="{FF2B5EF4-FFF2-40B4-BE49-F238E27FC236}">
                <a16:creationId xmlns:a16="http://schemas.microsoft.com/office/drawing/2014/main" id="{97F4E353-C3BD-A21F-869F-A6D66DFA9BEC}"/>
              </a:ext>
            </a:extLst>
          </p:cNvPr>
          <p:cNvSpPr/>
          <p:nvPr/>
        </p:nvSpPr>
        <p:spPr>
          <a:xfrm>
            <a:off x="304801" y="2073605"/>
            <a:ext cx="2675890" cy="3341905"/>
          </a:xfrm>
          <a:prstGeom prst="rect">
            <a:avLst/>
          </a:prstGeom>
          <a:solidFill>
            <a:srgbClr val="EFEFEE"/>
          </a:solidFill>
          <a:ln w="8890">
            <a:solidFill>
              <a:srgbClr val="D8D8CE"/>
            </a:solidFill>
            <a:prstDash val="solid"/>
          </a:ln>
        </p:spPr>
        <p:txBody>
          <a:bodyPr/>
          <a:lstStyle/>
          <a:p>
            <a:endParaRPr lang="en-IN" sz="2400"/>
          </a:p>
        </p:txBody>
      </p:sp>
      <p:sp>
        <p:nvSpPr>
          <p:cNvPr id="6" name="Text 4">
            <a:extLst>
              <a:ext uri="{FF2B5EF4-FFF2-40B4-BE49-F238E27FC236}">
                <a16:creationId xmlns:a16="http://schemas.microsoft.com/office/drawing/2014/main" id="{4D144539-1230-CE04-1610-11720F2DF90B}"/>
              </a:ext>
            </a:extLst>
          </p:cNvPr>
          <p:cNvSpPr/>
          <p:nvPr/>
        </p:nvSpPr>
        <p:spPr>
          <a:xfrm>
            <a:off x="419100" y="2445792"/>
            <a:ext cx="2421043" cy="355568"/>
          </a:xfrm>
          <a:prstGeom prst="rect">
            <a:avLst/>
          </a:prstGeom>
          <a:noFill/>
          <a:ln/>
        </p:spPr>
        <p:txBody>
          <a:bodyPr wrap="square" lIns="0" tIns="0" rIns="0" bIns="0" rtlCol="0" anchor="ctr"/>
          <a:lstStyle/>
          <a:p>
            <a:pPr marL="0" indent="0" algn="ctr">
              <a:buNone/>
            </a:pPr>
            <a:r>
              <a:rPr lang="en-US" sz="1600" b="1">
                <a:solidFill>
                  <a:srgbClr val="024854"/>
                </a:solidFill>
                <a:ea typeface="GT America" pitchFamily="34" charset="-122"/>
                <a:cs typeface="GT America" pitchFamily="34" charset="-120"/>
              </a:rPr>
              <a:t>Lender Portal</a:t>
            </a:r>
            <a:endParaRPr lang="en-US" sz="1600"/>
          </a:p>
        </p:txBody>
      </p:sp>
      <p:sp>
        <p:nvSpPr>
          <p:cNvPr id="8" name="Text 6">
            <a:extLst>
              <a:ext uri="{FF2B5EF4-FFF2-40B4-BE49-F238E27FC236}">
                <a16:creationId xmlns:a16="http://schemas.microsoft.com/office/drawing/2014/main" id="{A3265863-E546-90B2-B7CF-46E5D462B96A}"/>
              </a:ext>
            </a:extLst>
          </p:cNvPr>
          <p:cNvSpPr/>
          <p:nvPr/>
        </p:nvSpPr>
        <p:spPr>
          <a:xfrm>
            <a:off x="483194" y="2838100"/>
            <a:ext cx="2370074" cy="3437157"/>
          </a:xfrm>
          <a:prstGeom prst="rect">
            <a:avLst/>
          </a:prstGeom>
          <a:noFill/>
          <a:ln/>
        </p:spPr>
        <p:txBody>
          <a:bodyPr wrap="square" lIns="0" tIns="0" rIns="0" bIns="0" rtlCol="0" anchor="t"/>
          <a:lstStyle/>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New Order Submission</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Redraw Trust Review</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Supplemental Upload</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Real-Time Status &amp; Release</a:t>
            </a:r>
            <a:endParaRPr lang="en-US" sz="1400"/>
          </a:p>
        </p:txBody>
      </p:sp>
      <p:sp>
        <p:nvSpPr>
          <p:cNvPr id="9" name="Shape 7">
            <a:extLst>
              <a:ext uri="{FF2B5EF4-FFF2-40B4-BE49-F238E27FC236}">
                <a16:creationId xmlns:a16="http://schemas.microsoft.com/office/drawing/2014/main" id="{A88CF75A-F3D7-1CC7-26DB-D0424C7D3644}"/>
              </a:ext>
            </a:extLst>
          </p:cNvPr>
          <p:cNvSpPr/>
          <p:nvPr/>
        </p:nvSpPr>
        <p:spPr>
          <a:xfrm>
            <a:off x="3235537" y="2073605"/>
            <a:ext cx="5606626" cy="3341905"/>
          </a:xfrm>
          <a:prstGeom prst="rect">
            <a:avLst/>
          </a:prstGeom>
          <a:solidFill>
            <a:srgbClr val="EAF7F7"/>
          </a:solidFill>
          <a:ln w="8890">
            <a:solidFill>
              <a:srgbClr val="D8D8CE"/>
            </a:solidFill>
            <a:prstDash val="solid"/>
          </a:ln>
        </p:spPr>
        <p:txBody>
          <a:bodyPr/>
          <a:lstStyle/>
          <a:p>
            <a:endParaRPr lang="en-IN" sz="2400"/>
          </a:p>
        </p:txBody>
      </p:sp>
      <p:sp>
        <p:nvSpPr>
          <p:cNvPr id="10" name="Text 8">
            <a:extLst>
              <a:ext uri="{FF2B5EF4-FFF2-40B4-BE49-F238E27FC236}">
                <a16:creationId xmlns:a16="http://schemas.microsoft.com/office/drawing/2014/main" id="{49984A8D-AA8D-CD3A-F4FD-62D24BA10B22}"/>
              </a:ext>
            </a:extLst>
          </p:cNvPr>
          <p:cNvSpPr/>
          <p:nvPr/>
        </p:nvSpPr>
        <p:spPr>
          <a:xfrm>
            <a:off x="3349837" y="2445792"/>
            <a:ext cx="5351780" cy="355568"/>
          </a:xfrm>
          <a:prstGeom prst="rect">
            <a:avLst/>
          </a:prstGeom>
          <a:noFill/>
          <a:ln/>
        </p:spPr>
        <p:txBody>
          <a:bodyPr wrap="square" lIns="0" tIns="0" rIns="0" bIns="0" rtlCol="0" anchor="ctr"/>
          <a:lstStyle/>
          <a:p>
            <a:pPr marL="0" indent="0" algn="ctr">
              <a:buNone/>
            </a:pPr>
            <a:r>
              <a:rPr lang="en-US" sz="1600" b="1">
                <a:solidFill>
                  <a:srgbClr val="024854"/>
                </a:solidFill>
                <a:ea typeface="GT America" pitchFamily="34" charset="-122"/>
                <a:cs typeface="GT America" pitchFamily="34" charset="-120"/>
              </a:rPr>
              <a:t>Platform Core</a:t>
            </a:r>
            <a:endParaRPr lang="en-US" sz="1600"/>
          </a:p>
        </p:txBody>
      </p:sp>
      <p:sp>
        <p:nvSpPr>
          <p:cNvPr id="12" name="Text 10">
            <a:extLst>
              <a:ext uri="{FF2B5EF4-FFF2-40B4-BE49-F238E27FC236}">
                <a16:creationId xmlns:a16="http://schemas.microsoft.com/office/drawing/2014/main" id="{D774709A-E34A-60D9-7D8F-81F00D52BD54}"/>
              </a:ext>
            </a:extLst>
          </p:cNvPr>
          <p:cNvSpPr/>
          <p:nvPr/>
        </p:nvSpPr>
        <p:spPr>
          <a:xfrm>
            <a:off x="3413930" y="2838100"/>
            <a:ext cx="5300810" cy="3437157"/>
          </a:xfrm>
          <a:prstGeom prst="rect">
            <a:avLst/>
          </a:prstGeom>
          <a:noFill/>
          <a:ln/>
        </p:spPr>
        <p:txBody>
          <a:bodyPr wrap="square" lIns="0" tIns="0" rIns="0" bIns="0" rtlCol="0" anchor="t"/>
          <a:lstStyle/>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Document Ingestion &amp; Classification</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AI Extraction Engine → ~140 fields, 6 document types</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Business Rules Engine → configurable, no code changes</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Data Verification Report → cross-document comparison</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Dynamic Queue → multi-office, multi-POD, SLA-aware</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Legal Assistant QC Workbench → PDF highlighting + field review</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Release → Supplemental package generation + delivery</a:t>
            </a:r>
            <a:endParaRPr lang="en-US" sz="1400"/>
          </a:p>
        </p:txBody>
      </p:sp>
      <p:sp>
        <p:nvSpPr>
          <p:cNvPr id="13" name="Shape 11">
            <a:extLst>
              <a:ext uri="{FF2B5EF4-FFF2-40B4-BE49-F238E27FC236}">
                <a16:creationId xmlns:a16="http://schemas.microsoft.com/office/drawing/2014/main" id="{F300F0FD-E941-C897-8225-2F38E1DB8042}"/>
              </a:ext>
            </a:extLst>
          </p:cNvPr>
          <p:cNvSpPr/>
          <p:nvPr/>
        </p:nvSpPr>
        <p:spPr>
          <a:xfrm>
            <a:off x="9097010" y="2073605"/>
            <a:ext cx="2675890" cy="3341905"/>
          </a:xfrm>
          <a:prstGeom prst="rect">
            <a:avLst/>
          </a:prstGeom>
          <a:solidFill>
            <a:srgbClr val="EFEFEE"/>
          </a:solidFill>
          <a:ln w="8890">
            <a:solidFill>
              <a:srgbClr val="D8D8CE"/>
            </a:solidFill>
            <a:prstDash val="solid"/>
          </a:ln>
        </p:spPr>
        <p:txBody>
          <a:bodyPr/>
          <a:lstStyle/>
          <a:p>
            <a:endParaRPr lang="en-IN" sz="2400"/>
          </a:p>
        </p:txBody>
      </p:sp>
      <p:sp>
        <p:nvSpPr>
          <p:cNvPr id="14" name="Text 12">
            <a:extLst>
              <a:ext uri="{FF2B5EF4-FFF2-40B4-BE49-F238E27FC236}">
                <a16:creationId xmlns:a16="http://schemas.microsoft.com/office/drawing/2014/main" id="{9ED05D27-82B5-2ADF-0A1B-E247C45D0AD8}"/>
              </a:ext>
            </a:extLst>
          </p:cNvPr>
          <p:cNvSpPr/>
          <p:nvPr/>
        </p:nvSpPr>
        <p:spPr>
          <a:xfrm>
            <a:off x="9211310" y="2445792"/>
            <a:ext cx="2421043" cy="355568"/>
          </a:xfrm>
          <a:prstGeom prst="rect">
            <a:avLst/>
          </a:prstGeom>
          <a:noFill/>
          <a:ln/>
        </p:spPr>
        <p:txBody>
          <a:bodyPr wrap="square" lIns="0" tIns="0" rIns="0" bIns="0" rtlCol="0" anchor="ctr"/>
          <a:lstStyle/>
          <a:p>
            <a:pPr marL="0" indent="0" algn="ctr">
              <a:buNone/>
            </a:pPr>
            <a:r>
              <a:rPr lang="en-US" sz="1600" b="1">
                <a:solidFill>
                  <a:srgbClr val="024854"/>
                </a:solidFill>
                <a:ea typeface="GT America" pitchFamily="34" charset="-122"/>
                <a:cs typeface="GT America" pitchFamily="34" charset="-120"/>
              </a:rPr>
              <a:t>Integrations</a:t>
            </a:r>
            <a:endParaRPr lang="en-US" sz="1600"/>
          </a:p>
        </p:txBody>
      </p:sp>
      <p:sp>
        <p:nvSpPr>
          <p:cNvPr id="16" name="Text 14">
            <a:extLst>
              <a:ext uri="{FF2B5EF4-FFF2-40B4-BE49-F238E27FC236}">
                <a16:creationId xmlns:a16="http://schemas.microsoft.com/office/drawing/2014/main" id="{4BC997B0-6FDB-CB3B-6805-E884014AF507}"/>
              </a:ext>
            </a:extLst>
          </p:cNvPr>
          <p:cNvSpPr/>
          <p:nvPr/>
        </p:nvSpPr>
        <p:spPr>
          <a:xfrm>
            <a:off x="9275403" y="2838100"/>
            <a:ext cx="2370074" cy="3437157"/>
          </a:xfrm>
          <a:prstGeom prst="rect">
            <a:avLst/>
          </a:prstGeom>
          <a:noFill/>
          <a:ln/>
        </p:spPr>
        <p:txBody>
          <a:bodyPr wrap="square" lIns="0" tIns="0" rIns="0" bIns="0" rtlCol="0" anchor="t"/>
          <a:lstStyle/>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Sage (AR/Accounting)</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EDM (Document Store)</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SecureDocs (Output)</a:t>
            </a:r>
            <a:endParaRPr lang="en-US" sz="1400"/>
          </a:p>
          <a:p>
            <a:pPr marL="285750" indent="-285750">
              <a:spcAft>
                <a:spcPts val="1200"/>
              </a:spcAft>
              <a:buFont typeface="Arial" panose="020B0604020202020204" pitchFamily="34" charset="0"/>
              <a:buChar char="•"/>
            </a:pPr>
            <a:r>
              <a:rPr lang="en-US" sz="1400">
                <a:solidFill>
                  <a:srgbClr val="282828"/>
                </a:solidFill>
                <a:ea typeface="GT America" pitchFamily="34" charset="-122"/>
                <a:cs typeface="GT America" pitchFamily="34" charset="-120"/>
              </a:rPr>
              <a:t>LendingPad (Full Doc Prep)</a:t>
            </a:r>
            <a:endParaRPr lang="en-US" sz="1400"/>
          </a:p>
        </p:txBody>
      </p:sp>
      <p:sp>
        <p:nvSpPr>
          <p:cNvPr id="17" name="Shape 15">
            <a:extLst>
              <a:ext uri="{FF2B5EF4-FFF2-40B4-BE49-F238E27FC236}">
                <a16:creationId xmlns:a16="http://schemas.microsoft.com/office/drawing/2014/main" id="{1701ABEA-73C6-7687-25B7-F227FAC62B94}"/>
              </a:ext>
            </a:extLst>
          </p:cNvPr>
          <p:cNvSpPr/>
          <p:nvPr/>
        </p:nvSpPr>
        <p:spPr>
          <a:xfrm>
            <a:off x="3235538" y="5586745"/>
            <a:ext cx="5606625" cy="533352"/>
          </a:xfrm>
          <a:prstGeom prst="rect">
            <a:avLst/>
          </a:prstGeom>
          <a:solidFill>
            <a:schemeClr val="accent1"/>
          </a:solidFill>
          <a:ln w="12700">
            <a:noFill/>
            <a:prstDash val="solid"/>
          </a:ln>
        </p:spPr>
        <p:txBody>
          <a:bodyPr/>
          <a:lstStyle/>
          <a:p>
            <a:endParaRPr lang="en-IN" sz="2400">
              <a:solidFill>
                <a:schemeClr val="bg1"/>
              </a:solidFill>
            </a:endParaRPr>
          </a:p>
        </p:txBody>
      </p:sp>
      <p:sp>
        <p:nvSpPr>
          <p:cNvPr id="18" name="Text 16">
            <a:extLst>
              <a:ext uri="{FF2B5EF4-FFF2-40B4-BE49-F238E27FC236}">
                <a16:creationId xmlns:a16="http://schemas.microsoft.com/office/drawing/2014/main" id="{9639BCC1-CBC0-E7EC-951F-EBEB6EBDF781}"/>
              </a:ext>
            </a:extLst>
          </p:cNvPr>
          <p:cNvSpPr/>
          <p:nvPr/>
        </p:nvSpPr>
        <p:spPr>
          <a:xfrm>
            <a:off x="3516930" y="5586745"/>
            <a:ext cx="4858014" cy="533352"/>
          </a:xfrm>
          <a:prstGeom prst="rect">
            <a:avLst/>
          </a:prstGeom>
          <a:noFill/>
          <a:ln/>
        </p:spPr>
        <p:txBody>
          <a:bodyPr wrap="square" lIns="0" tIns="0" rIns="0" bIns="0" rtlCol="0" anchor="ctr"/>
          <a:lstStyle/>
          <a:p>
            <a:pPr marL="0" indent="0" algn="ctr">
              <a:buNone/>
            </a:pPr>
            <a:r>
              <a:rPr lang="en-US" sz="1400" b="1" kern="0" spc="100">
                <a:solidFill>
                  <a:schemeClr val="bg1"/>
                </a:solidFill>
                <a:ea typeface="GT America" pitchFamily="34" charset="-122"/>
                <a:cs typeface="GT America" pitchFamily="34" charset="-120"/>
              </a:rPr>
              <a:t>AI-READY FOUNDATION - Schema · Event Stream · API Stubs · Feedback Loop</a:t>
            </a:r>
            <a:endParaRPr lang="en-US" sz="1400">
              <a:solidFill>
                <a:schemeClr val="bg1"/>
              </a:solidFill>
            </a:endParaRPr>
          </a:p>
        </p:txBody>
      </p:sp>
      <p:sp>
        <p:nvSpPr>
          <p:cNvPr id="21" name="TextBox 20">
            <a:extLst>
              <a:ext uri="{FF2B5EF4-FFF2-40B4-BE49-F238E27FC236}">
                <a16:creationId xmlns:a16="http://schemas.microsoft.com/office/drawing/2014/main" id="{4A326C73-D3FF-708D-1E54-9CD8C57AD1F4}"/>
              </a:ext>
            </a:extLst>
          </p:cNvPr>
          <p:cNvSpPr txBox="1"/>
          <p:nvPr/>
        </p:nvSpPr>
        <p:spPr>
          <a:xfrm>
            <a:off x="293160" y="1061923"/>
            <a:ext cx="11465134" cy="408623"/>
          </a:xfrm>
          <a:prstGeom prst="roundRect">
            <a:avLst/>
          </a:prstGeom>
          <a:solidFill>
            <a:schemeClr val="accent2"/>
          </a:solidFill>
        </p:spPr>
        <p:txBody>
          <a:bodyPr wrap="square">
            <a:spAutoFit/>
          </a:bodyPr>
          <a:lstStyle/>
          <a:p>
            <a:pPr algn="ctr"/>
            <a:r>
              <a:rPr lang="en-IN" sz="1800">
                <a:solidFill>
                  <a:schemeClr val="bg1"/>
                </a:solidFill>
              </a:rPr>
              <a:t>Mortgage Examination Intelligence Platform</a:t>
            </a:r>
            <a:endParaRPr lang="en-IN">
              <a:solidFill>
                <a:schemeClr val="bg1"/>
              </a:solidFill>
            </a:endParaRPr>
          </a:p>
        </p:txBody>
      </p:sp>
      <p:sp>
        <p:nvSpPr>
          <p:cNvPr id="22" name="Oval 21">
            <a:extLst>
              <a:ext uri="{FF2B5EF4-FFF2-40B4-BE49-F238E27FC236}">
                <a16:creationId xmlns:a16="http://schemas.microsoft.com/office/drawing/2014/main" id="{4B305C0F-EFD5-D80A-7DD5-C8172627A230}"/>
              </a:ext>
            </a:extLst>
          </p:cNvPr>
          <p:cNvSpPr/>
          <p:nvPr/>
        </p:nvSpPr>
        <p:spPr>
          <a:xfrm>
            <a:off x="1319574" y="1750433"/>
            <a:ext cx="646344" cy="646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E2196AA0-F6F0-E146-ABA5-5113014F5218}"/>
              </a:ext>
            </a:extLst>
          </p:cNvPr>
          <p:cNvSpPr/>
          <p:nvPr/>
        </p:nvSpPr>
        <p:spPr>
          <a:xfrm>
            <a:off x="5772828" y="1750433"/>
            <a:ext cx="646344" cy="646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28A73405-EA42-45E5-C94F-F311E513D63B}"/>
              </a:ext>
            </a:extLst>
          </p:cNvPr>
          <p:cNvSpPr/>
          <p:nvPr/>
        </p:nvSpPr>
        <p:spPr>
          <a:xfrm>
            <a:off x="10098659" y="1750433"/>
            <a:ext cx="646344" cy="6463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Graphic 27" descr="Ui Ux with solid fill">
            <a:extLst>
              <a:ext uri="{FF2B5EF4-FFF2-40B4-BE49-F238E27FC236}">
                <a16:creationId xmlns:a16="http://schemas.microsoft.com/office/drawing/2014/main" id="{D8862A38-FC96-9492-5A98-57154EC361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06490" y="1842733"/>
            <a:ext cx="472512" cy="472512"/>
          </a:xfrm>
          <a:prstGeom prst="rect">
            <a:avLst/>
          </a:prstGeom>
        </p:spPr>
      </p:pic>
      <p:pic>
        <p:nvPicPr>
          <p:cNvPr id="30" name="Graphic 29" descr="Influencer with solid fill">
            <a:extLst>
              <a:ext uri="{FF2B5EF4-FFF2-40B4-BE49-F238E27FC236}">
                <a16:creationId xmlns:a16="http://schemas.microsoft.com/office/drawing/2014/main" id="{29992081-CF98-6368-DC8D-77009898F35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01759" y="1830349"/>
            <a:ext cx="466392" cy="466392"/>
          </a:xfrm>
          <a:prstGeom prst="rect">
            <a:avLst/>
          </a:prstGeom>
        </p:spPr>
      </p:pic>
      <p:pic>
        <p:nvPicPr>
          <p:cNvPr id="32" name="Graphic 31" descr="Cmd Terminal with solid fill">
            <a:extLst>
              <a:ext uri="{FF2B5EF4-FFF2-40B4-BE49-F238E27FC236}">
                <a16:creationId xmlns:a16="http://schemas.microsoft.com/office/drawing/2014/main" id="{667D93C6-97DA-F7CB-6C36-B72692F865F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44915" y="1822520"/>
            <a:ext cx="502170" cy="502170"/>
          </a:xfrm>
          <a:prstGeom prst="rect">
            <a:avLst/>
          </a:prstGeom>
        </p:spPr>
      </p:pic>
    </p:spTree>
    <p:extLst>
      <p:ext uri="{BB962C8B-B14F-4D97-AF65-F5344CB8AC3E}">
        <p14:creationId xmlns:p14="http://schemas.microsoft.com/office/powerpoint/2010/main" val="1402241244"/>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8095F-6371-33F9-386D-728ADA38C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B7BA9-B4D9-1288-20ED-7A5E8BAB5427}"/>
              </a:ext>
            </a:extLst>
          </p:cNvPr>
          <p:cNvSpPr>
            <a:spLocks noGrp="1"/>
          </p:cNvSpPr>
          <p:nvPr>
            <p:ph type="title"/>
          </p:nvPr>
        </p:nvSpPr>
        <p:spPr/>
        <p:txBody>
          <a:bodyPr/>
          <a:lstStyle/>
          <a:p>
            <a:r>
              <a:rPr lang="en-US"/>
              <a:t>Core Platform Components</a:t>
            </a:r>
            <a:endParaRPr lang="en-US" i="1"/>
          </a:p>
        </p:txBody>
      </p:sp>
      <p:cxnSp>
        <p:nvCxnSpPr>
          <p:cNvPr id="27" name="Straight Connector 26">
            <a:extLst>
              <a:ext uri="{FF2B5EF4-FFF2-40B4-BE49-F238E27FC236}">
                <a16:creationId xmlns:a16="http://schemas.microsoft.com/office/drawing/2014/main" id="{006C1BDC-3391-608B-D277-D1792AF9E004}"/>
              </a:ext>
            </a:extLst>
          </p:cNvPr>
          <p:cNvCxnSpPr/>
          <p:nvPr/>
        </p:nvCxnSpPr>
        <p:spPr>
          <a:xfrm>
            <a:off x="304801" y="1857360"/>
            <a:ext cx="1157600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1CB88EF-A5FA-2162-C3B9-223D946AF7EA}"/>
              </a:ext>
            </a:extLst>
          </p:cNvPr>
          <p:cNvSpPr/>
          <p:nvPr/>
        </p:nvSpPr>
        <p:spPr>
          <a:xfrm>
            <a:off x="307018" y="1014339"/>
            <a:ext cx="2709597" cy="240901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6" name="TextBox 5">
            <a:extLst>
              <a:ext uri="{FF2B5EF4-FFF2-40B4-BE49-F238E27FC236}">
                <a16:creationId xmlns:a16="http://schemas.microsoft.com/office/drawing/2014/main" id="{37E50A11-125D-3E69-E82C-CC586998CE82}"/>
              </a:ext>
            </a:extLst>
          </p:cNvPr>
          <p:cNvSpPr txBox="1"/>
          <p:nvPr/>
        </p:nvSpPr>
        <p:spPr>
          <a:xfrm>
            <a:off x="477133" y="1550596"/>
            <a:ext cx="2205116" cy="215444"/>
          </a:xfrm>
          <a:prstGeom prst="rect">
            <a:avLst/>
          </a:prstGeom>
          <a:noFill/>
        </p:spPr>
        <p:txBody>
          <a:bodyPr wrap="square" lIns="0" tIns="0" rIns="0" bIns="0">
            <a:spAutoFit/>
          </a:bodyPr>
          <a:lstStyle/>
          <a:p>
            <a:pPr marL="0" marR="0">
              <a:spcBef>
                <a:spcPts val="1400"/>
              </a:spcBef>
              <a:spcAft>
                <a:spcPts val="500"/>
              </a:spcAft>
              <a:buNone/>
            </a:pPr>
            <a:r>
              <a:rPr lang="en-IN" sz="1400" b="1">
                <a:solidFill>
                  <a:schemeClr val="accent2"/>
                </a:solidFill>
                <a:effectLst/>
                <a:latin typeface="+mj-lt"/>
                <a:ea typeface="Arial" panose="020B0604020202020204" pitchFamily="34" charset="0"/>
              </a:rPr>
              <a:t>Document Ingestion Pipeline</a:t>
            </a:r>
            <a:endParaRPr lang="en-US" sz="1000">
              <a:solidFill>
                <a:schemeClr val="accent2"/>
              </a:solidFill>
              <a:effectLst/>
              <a:latin typeface="+mj-lt"/>
              <a:ea typeface="Arial" panose="020B0604020202020204" pitchFamily="34" charset="0"/>
            </a:endParaRPr>
          </a:p>
        </p:txBody>
      </p:sp>
      <p:grpSp>
        <p:nvGrpSpPr>
          <p:cNvPr id="20" name="Group 19">
            <a:extLst>
              <a:ext uri="{FF2B5EF4-FFF2-40B4-BE49-F238E27FC236}">
                <a16:creationId xmlns:a16="http://schemas.microsoft.com/office/drawing/2014/main" id="{B9FEF7CA-4F21-7ABB-ADC7-82B43116E616}"/>
              </a:ext>
            </a:extLst>
          </p:cNvPr>
          <p:cNvGrpSpPr/>
          <p:nvPr/>
        </p:nvGrpSpPr>
        <p:grpSpPr>
          <a:xfrm>
            <a:off x="386719" y="1068751"/>
            <a:ext cx="457200" cy="457200"/>
            <a:chOff x="418523" y="1786641"/>
            <a:chExt cx="457200" cy="457200"/>
          </a:xfrm>
        </p:grpSpPr>
        <p:grpSp>
          <p:nvGrpSpPr>
            <p:cNvPr id="22" name="Group 21">
              <a:extLst>
                <a:ext uri="{FF2B5EF4-FFF2-40B4-BE49-F238E27FC236}">
                  <a16:creationId xmlns:a16="http://schemas.microsoft.com/office/drawing/2014/main" id="{E7FD3C55-1191-771D-271E-21A0505E7CD9}"/>
                </a:ext>
              </a:extLst>
            </p:cNvPr>
            <p:cNvGrpSpPr/>
            <p:nvPr/>
          </p:nvGrpSpPr>
          <p:grpSpPr>
            <a:xfrm>
              <a:off x="418523" y="1786641"/>
              <a:ext cx="457200" cy="457200"/>
              <a:chOff x="4515851" y="2241060"/>
              <a:chExt cx="1187940" cy="1187940"/>
            </a:xfrm>
          </p:grpSpPr>
          <p:sp>
            <p:nvSpPr>
              <p:cNvPr id="26" name="Oval 25">
                <a:extLst>
                  <a:ext uri="{FF2B5EF4-FFF2-40B4-BE49-F238E27FC236}">
                    <a16:creationId xmlns:a16="http://schemas.microsoft.com/office/drawing/2014/main" id="{878E7ECF-8502-49DE-1CD1-248ED93EE182}"/>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31" name="Oval 30">
                <a:extLst>
                  <a:ext uri="{FF2B5EF4-FFF2-40B4-BE49-F238E27FC236}">
                    <a16:creationId xmlns:a16="http://schemas.microsoft.com/office/drawing/2014/main" id="{20A6ADEB-84C1-1D6F-E6C8-0B53119C8C9F}"/>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25" name="TextBox 24">
              <a:extLst>
                <a:ext uri="{FF2B5EF4-FFF2-40B4-BE49-F238E27FC236}">
                  <a16:creationId xmlns:a16="http://schemas.microsoft.com/office/drawing/2014/main" id="{ACE13BFB-FEB3-F6FB-D260-3C1421A4DAFE}"/>
                </a:ext>
              </a:extLst>
            </p:cNvPr>
            <p:cNvSpPr txBox="1"/>
            <p:nvPr/>
          </p:nvSpPr>
          <p:spPr>
            <a:xfrm>
              <a:off x="508937" y="1930603"/>
              <a:ext cx="276370" cy="169277"/>
            </a:xfrm>
            <a:prstGeom prst="rect">
              <a:avLst/>
            </a:prstGeom>
            <a:noFill/>
          </p:spPr>
          <p:txBody>
            <a:bodyPr wrap="square" lIns="0" tIns="0" rIns="0" bIns="0">
              <a:spAutoFit/>
            </a:bodyPr>
            <a:lstStyle/>
            <a:p>
              <a:pPr marL="0" marR="0" algn="ctr">
                <a:spcBef>
                  <a:spcPts val="1400"/>
                </a:spcBef>
                <a:spcAft>
                  <a:spcPts val="500"/>
                </a:spcAft>
                <a:buNone/>
              </a:pPr>
              <a:r>
                <a:rPr lang="en-IN" sz="1100" b="1">
                  <a:solidFill>
                    <a:schemeClr val="bg1"/>
                  </a:solidFill>
                  <a:effectLst/>
                  <a:latin typeface="+mj-lt"/>
                  <a:ea typeface="Arial" panose="020B0604020202020204" pitchFamily="34" charset="0"/>
                </a:rPr>
                <a:t>1</a:t>
              </a:r>
              <a:endParaRPr lang="en-US" sz="800">
                <a:solidFill>
                  <a:schemeClr val="bg1"/>
                </a:solidFill>
                <a:effectLst/>
                <a:latin typeface="+mj-lt"/>
                <a:ea typeface="Arial" panose="020B0604020202020204" pitchFamily="34" charset="0"/>
              </a:endParaRPr>
            </a:p>
          </p:txBody>
        </p:sp>
      </p:grpSp>
      <p:sp>
        <p:nvSpPr>
          <p:cNvPr id="4" name="TextBox 3">
            <a:extLst>
              <a:ext uri="{FF2B5EF4-FFF2-40B4-BE49-F238E27FC236}">
                <a16:creationId xmlns:a16="http://schemas.microsoft.com/office/drawing/2014/main" id="{685BEF91-068C-526E-BD89-A6E5AAFE32BE}"/>
              </a:ext>
            </a:extLst>
          </p:cNvPr>
          <p:cNvSpPr txBox="1"/>
          <p:nvPr/>
        </p:nvSpPr>
        <p:spPr>
          <a:xfrm>
            <a:off x="394264" y="1778334"/>
            <a:ext cx="2539481" cy="1323439"/>
          </a:xfrm>
          <a:prstGeom prst="rect">
            <a:avLst/>
          </a:prstGeom>
          <a:noFill/>
        </p:spPr>
        <p:txBody>
          <a:bodyPr wrap="square">
            <a:spAutoFit/>
          </a:bodyPr>
          <a:lstStyle/>
          <a:p>
            <a:r>
              <a:rPr lang="en-US" sz="1000"/>
              <a:t>Handles PDF text extraction, OCR fallback for scanned documents, multi-document PDF splitting, and AI-based document type classification. Classifies each document as Note, Deed of Trust, Title Commitment (Schedules A/B/C), Survey, Closing Instructions, or Rider before extraction begins.</a:t>
            </a:r>
            <a:endParaRPr lang="en-US" sz="1000">
              <a:solidFill>
                <a:srgbClr val="1A1A1A"/>
              </a:solidFill>
            </a:endParaRPr>
          </a:p>
        </p:txBody>
      </p:sp>
      <p:sp>
        <p:nvSpPr>
          <p:cNvPr id="17" name="Rectangle 16">
            <a:extLst>
              <a:ext uri="{FF2B5EF4-FFF2-40B4-BE49-F238E27FC236}">
                <a16:creationId xmlns:a16="http://schemas.microsoft.com/office/drawing/2014/main" id="{18D1674A-8E56-52C6-EF83-93A040B2CFEA}"/>
              </a:ext>
            </a:extLst>
          </p:cNvPr>
          <p:cNvSpPr/>
          <p:nvPr/>
        </p:nvSpPr>
        <p:spPr>
          <a:xfrm>
            <a:off x="3266105" y="1014339"/>
            <a:ext cx="2709597" cy="240901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8" name="TextBox 17">
            <a:extLst>
              <a:ext uri="{FF2B5EF4-FFF2-40B4-BE49-F238E27FC236}">
                <a16:creationId xmlns:a16="http://schemas.microsoft.com/office/drawing/2014/main" id="{6436F6E8-505F-1456-30C5-E2E78D394549}"/>
              </a:ext>
            </a:extLst>
          </p:cNvPr>
          <p:cNvSpPr txBox="1"/>
          <p:nvPr/>
        </p:nvSpPr>
        <p:spPr>
          <a:xfrm>
            <a:off x="3436220" y="1550596"/>
            <a:ext cx="2205116" cy="215444"/>
          </a:xfrm>
          <a:prstGeom prst="rect">
            <a:avLst/>
          </a:prstGeom>
          <a:noFill/>
        </p:spPr>
        <p:txBody>
          <a:bodyPr wrap="square" lIns="0" tIns="0" rIns="0" bIns="0">
            <a:spAutoFit/>
          </a:bodyPr>
          <a:lstStyle/>
          <a:p>
            <a:pPr marL="0" marR="0">
              <a:spcBef>
                <a:spcPts val="1400"/>
              </a:spcBef>
              <a:spcAft>
                <a:spcPts val="500"/>
              </a:spcAft>
              <a:buNone/>
            </a:pPr>
            <a:r>
              <a:rPr lang="en-IN" sz="1400" b="1">
                <a:solidFill>
                  <a:schemeClr val="accent2"/>
                </a:solidFill>
                <a:effectLst/>
                <a:latin typeface="+mj-lt"/>
                <a:ea typeface="Arial" panose="020B0604020202020204" pitchFamily="34" charset="0"/>
              </a:rPr>
              <a:t>AI Extraction Engine</a:t>
            </a:r>
          </a:p>
        </p:txBody>
      </p:sp>
      <p:grpSp>
        <p:nvGrpSpPr>
          <p:cNvPr id="19" name="Group 18">
            <a:extLst>
              <a:ext uri="{FF2B5EF4-FFF2-40B4-BE49-F238E27FC236}">
                <a16:creationId xmlns:a16="http://schemas.microsoft.com/office/drawing/2014/main" id="{32CF776C-275C-10FB-C646-55A3307F8474}"/>
              </a:ext>
            </a:extLst>
          </p:cNvPr>
          <p:cNvGrpSpPr/>
          <p:nvPr/>
        </p:nvGrpSpPr>
        <p:grpSpPr>
          <a:xfrm>
            <a:off x="3345806" y="1068751"/>
            <a:ext cx="457200" cy="457200"/>
            <a:chOff x="418523" y="1786641"/>
            <a:chExt cx="457200" cy="457200"/>
          </a:xfrm>
        </p:grpSpPr>
        <p:grpSp>
          <p:nvGrpSpPr>
            <p:cNvPr id="21" name="Group 20">
              <a:extLst>
                <a:ext uri="{FF2B5EF4-FFF2-40B4-BE49-F238E27FC236}">
                  <a16:creationId xmlns:a16="http://schemas.microsoft.com/office/drawing/2014/main" id="{A18114FC-A94A-0731-5C18-EB4406DD03DF}"/>
                </a:ext>
              </a:extLst>
            </p:cNvPr>
            <p:cNvGrpSpPr/>
            <p:nvPr/>
          </p:nvGrpSpPr>
          <p:grpSpPr>
            <a:xfrm>
              <a:off x="418523" y="1786641"/>
              <a:ext cx="457200" cy="457200"/>
              <a:chOff x="4515851" y="2241060"/>
              <a:chExt cx="1187940" cy="1187940"/>
            </a:xfrm>
          </p:grpSpPr>
          <p:sp>
            <p:nvSpPr>
              <p:cNvPr id="24" name="Oval 23">
                <a:extLst>
                  <a:ext uri="{FF2B5EF4-FFF2-40B4-BE49-F238E27FC236}">
                    <a16:creationId xmlns:a16="http://schemas.microsoft.com/office/drawing/2014/main" id="{EA4099D7-41E4-D68F-4322-69BAD05F7F23}"/>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28" name="Oval 27">
                <a:extLst>
                  <a:ext uri="{FF2B5EF4-FFF2-40B4-BE49-F238E27FC236}">
                    <a16:creationId xmlns:a16="http://schemas.microsoft.com/office/drawing/2014/main" id="{AA89F934-BD75-4D0D-F24E-83BFAB01F869}"/>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23" name="TextBox 22">
              <a:extLst>
                <a:ext uri="{FF2B5EF4-FFF2-40B4-BE49-F238E27FC236}">
                  <a16:creationId xmlns:a16="http://schemas.microsoft.com/office/drawing/2014/main" id="{B1BBC8B7-2553-1DA0-AA95-D54611C4F93F}"/>
                </a:ext>
              </a:extLst>
            </p:cNvPr>
            <p:cNvSpPr txBox="1"/>
            <p:nvPr/>
          </p:nvSpPr>
          <p:spPr>
            <a:xfrm>
              <a:off x="508937" y="1930603"/>
              <a:ext cx="276370" cy="169277"/>
            </a:xfrm>
            <a:prstGeom prst="rect">
              <a:avLst/>
            </a:prstGeom>
            <a:noFill/>
          </p:spPr>
          <p:txBody>
            <a:bodyPr wrap="square" lIns="0" tIns="0" rIns="0" bIns="0">
              <a:spAutoFit/>
            </a:bodyPr>
            <a:lstStyle/>
            <a:p>
              <a:pPr marL="0" marR="0" algn="ctr">
                <a:spcBef>
                  <a:spcPts val="1400"/>
                </a:spcBef>
                <a:spcAft>
                  <a:spcPts val="500"/>
                </a:spcAft>
                <a:buNone/>
              </a:pPr>
              <a:r>
                <a:rPr lang="en-IN" sz="1100" b="1">
                  <a:solidFill>
                    <a:schemeClr val="bg1"/>
                  </a:solidFill>
                  <a:effectLst/>
                  <a:latin typeface="+mj-lt"/>
                  <a:ea typeface="Arial" panose="020B0604020202020204" pitchFamily="34" charset="0"/>
                </a:rPr>
                <a:t>2</a:t>
              </a:r>
              <a:endParaRPr lang="en-US" sz="800">
                <a:solidFill>
                  <a:schemeClr val="bg1"/>
                </a:solidFill>
                <a:effectLst/>
                <a:latin typeface="+mj-lt"/>
                <a:ea typeface="Arial" panose="020B0604020202020204" pitchFamily="34" charset="0"/>
              </a:endParaRPr>
            </a:p>
          </p:txBody>
        </p:sp>
      </p:grpSp>
      <p:sp>
        <p:nvSpPr>
          <p:cNvPr id="30" name="TextBox 29">
            <a:extLst>
              <a:ext uri="{FF2B5EF4-FFF2-40B4-BE49-F238E27FC236}">
                <a16:creationId xmlns:a16="http://schemas.microsoft.com/office/drawing/2014/main" id="{B6059FF2-574B-18BA-E47C-56E2CCDA377A}"/>
              </a:ext>
            </a:extLst>
          </p:cNvPr>
          <p:cNvSpPr txBox="1"/>
          <p:nvPr/>
        </p:nvSpPr>
        <p:spPr>
          <a:xfrm>
            <a:off x="3353351" y="1778334"/>
            <a:ext cx="2539481" cy="1477328"/>
          </a:xfrm>
          <a:prstGeom prst="rect">
            <a:avLst/>
          </a:prstGeom>
          <a:noFill/>
        </p:spPr>
        <p:txBody>
          <a:bodyPr wrap="square">
            <a:spAutoFit/>
          </a:bodyPr>
          <a:lstStyle/>
          <a:p>
            <a:r>
              <a:rPr lang="en-US" sz="1000"/>
              <a:t>LLM-backed extraction service processing approximately 140 defined data fields across all six document types. Per-document-type prompts return structured JSON with confidence scores per field. Handles Note, DOT, Title Commitment, Survey, Closing Instructions, and Rider extraction in a coordinated pass. Lender code lookup auto-populates lender-specific defaults.</a:t>
            </a:r>
          </a:p>
        </p:txBody>
      </p:sp>
      <p:sp>
        <p:nvSpPr>
          <p:cNvPr id="32" name="Rectangle 31">
            <a:extLst>
              <a:ext uri="{FF2B5EF4-FFF2-40B4-BE49-F238E27FC236}">
                <a16:creationId xmlns:a16="http://schemas.microsoft.com/office/drawing/2014/main" id="{74725604-5CD8-FD98-AD33-971AF8B2AB21}"/>
              </a:ext>
            </a:extLst>
          </p:cNvPr>
          <p:cNvSpPr/>
          <p:nvPr/>
        </p:nvSpPr>
        <p:spPr>
          <a:xfrm>
            <a:off x="6225192" y="1014339"/>
            <a:ext cx="2709597" cy="240901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35" name="TextBox 34">
            <a:extLst>
              <a:ext uri="{FF2B5EF4-FFF2-40B4-BE49-F238E27FC236}">
                <a16:creationId xmlns:a16="http://schemas.microsoft.com/office/drawing/2014/main" id="{58E9B41C-D47A-04C1-5EBD-269BD7077B4D}"/>
              </a:ext>
            </a:extLst>
          </p:cNvPr>
          <p:cNvSpPr txBox="1"/>
          <p:nvPr/>
        </p:nvSpPr>
        <p:spPr>
          <a:xfrm>
            <a:off x="6395307" y="1550596"/>
            <a:ext cx="2205116" cy="215444"/>
          </a:xfrm>
          <a:prstGeom prst="rect">
            <a:avLst/>
          </a:prstGeom>
          <a:noFill/>
        </p:spPr>
        <p:txBody>
          <a:bodyPr wrap="square" lIns="0" tIns="0" rIns="0" bIns="0">
            <a:spAutoFit/>
          </a:bodyPr>
          <a:lstStyle/>
          <a:p>
            <a:pPr marL="0" marR="0">
              <a:spcBef>
                <a:spcPts val="1400"/>
              </a:spcBef>
              <a:spcAft>
                <a:spcPts val="500"/>
              </a:spcAft>
              <a:buNone/>
            </a:pPr>
            <a:r>
              <a:rPr lang="en-IN" sz="1400" b="1">
                <a:solidFill>
                  <a:schemeClr val="accent2"/>
                </a:solidFill>
                <a:effectLst/>
                <a:latin typeface="+mj-lt"/>
                <a:ea typeface="Arial" panose="020B0604020202020204" pitchFamily="34" charset="0"/>
              </a:rPr>
              <a:t>Business Rules Engine</a:t>
            </a:r>
          </a:p>
        </p:txBody>
      </p:sp>
      <p:grpSp>
        <p:nvGrpSpPr>
          <p:cNvPr id="36" name="Group 35">
            <a:extLst>
              <a:ext uri="{FF2B5EF4-FFF2-40B4-BE49-F238E27FC236}">
                <a16:creationId xmlns:a16="http://schemas.microsoft.com/office/drawing/2014/main" id="{34743AB5-292D-2E96-C435-77905515EE01}"/>
              </a:ext>
            </a:extLst>
          </p:cNvPr>
          <p:cNvGrpSpPr/>
          <p:nvPr/>
        </p:nvGrpSpPr>
        <p:grpSpPr>
          <a:xfrm>
            <a:off x="6304893" y="1068751"/>
            <a:ext cx="457200" cy="457200"/>
            <a:chOff x="418523" y="1786641"/>
            <a:chExt cx="457200" cy="457200"/>
          </a:xfrm>
        </p:grpSpPr>
        <p:grpSp>
          <p:nvGrpSpPr>
            <p:cNvPr id="38" name="Group 37">
              <a:extLst>
                <a:ext uri="{FF2B5EF4-FFF2-40B4-BE49-F238E27FC236}">
                  <a16:creationId xmlns:a16="http://schemas.microsoft.com/office/drawing/2014/main" id="{6AD5793E-E209-049D-8BF4-68F6627E663B}"/>
                </a:ext>
              </a:extLst>
            </p:cNvPr>
            <p:cNvGrpSpPr/>
            <p:nvPr/>
          </p:nvGrpSpPr>
          <p:grpSpPr>
            <a:xfrm>
              <a:off x="418523" y="1786641"/>
              <a:ext cx="457200" cy="457200"/>
              <a:chOff x="4515851" y="2241060"/>
              <a:chExt cx="1187940" cy="1187940"/>
            </a:xfrm>
          </p:grpSpPr>
          <p:sp>
            <p:nvSpPr>
              <p:cNvPr id="42" name="Oval 41">
                <a:extLst>
                  <a:ext uri="{FF2B5EF4-FFF2-40B4-BE49-F238E27FC236}">
                    <a16:creationId xmlns:a16="http://schemas.microsoft.com/office/drawing/2014/main" id="{335E2AB7-0FC7-F679-80FF-5F24866FAC71}"/>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44" name="Oval 43">
                <a:extLst>
                  <a:ext uri="{FF2B5EF4-FFF2-40B4-BE49-F238E27FC236}">
                    <a16:creationId xmlns:a16="http://schemas.microsoft.com/office/drawing/2014/main" id="{51E2302B-8A52-D230-4789-E69BBD1FB6EC}"/>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39" name="TextBox 38">
              <a:extLst>
                <a:ext uri="{FF2B5EF4-FFF2-40B4-BE49-F238E27FC236}">
                  <a16:creationId xmlns:a16="http://schemas.microsoft.com/office/drawing/2014/main" id="{989E9BFC-3586-3A85-1218-A6C97F0DCC1B}"/>
                </a:ext>
              </a:extLst>
            </p:cNvPr>
            <p:cNvSpPr txBox="1"/>
            <p:nvPr/>
          </p:nvSpPr>
          <p:spPr>
            <a:xfrm>
              <a:off x="508937" y="1930603"/>
              <a:ext cx="276370" cy="169277"/>
            </a:xfrm>
            <a:prstGeom prst="rect">
              <a:avLst/>
            </a:prstGeom>
            <a:noFill/>
          </p:spPr>
          <p:txBody>
            <a:bodyPr wrap="square" lIns="0" tIns="0" rIns="0" bIns="0">
              <a:spAutoFit/>
            </a:bodyPr>
            <a:lstStyle/>
            <a:p>
              <a:pPr marL="0" marR="0" algn="ctr">
                <a:spcBef>
                  <a:spcPts val="1400"/>
                </a:spcBef>
                <a:spcAft>
                  <a:spcPts val="500"/>
                </a:spcAft>
                <a:buNone/>
              </a:pPr>
              <a:r>
                <a:rPr lang="en-IN" sz="1100" b="1">
                  <a:solidFill>
                    <a:schemeClr val="bg1"/>
                  </a:solidFill>
                  <a:effectLst/>
                  <a:latin typeface="+mj-lt"/>
                  <a:ea typeface="Arial" panose="020B0604020202020204" pitchFamily="34" charset="0"/>
                </a:rPr>
                <a:t>3</a:t>
              </a:r>
              <a:endParaRPr lang="en-US" sz="800">
                <a:solidFill>
                  <a:schemeClr val="bg1"/>
                </a:solidFill>
                <a:effectLst/>
                <a:latin typeface="+mj-lt"/>
                <a:ea typeface="Arial" panose="020B0604020202020204" pitchFamily="34" charset="0"/>
              </a:endParaRPr>
            </a:p>
          </p:txBody>
        </p:sp>
      </p:grpSp>
      <p:sp>
        <p:nvSpPr>
          <p:cNvPr id="45" name="TextBox 44">
            <a:extLst>
              <a:ext uri="{FF2B5EF4-FFF2-40B4-BE49-F238E27FC236}">
                <a16:creationId xmlns:a16="http://schemas.microsoft.com/office/drawing/2014/main" id="{47936935-DFB6-30BB-30C3-FAA90BE4BC9B}"/>
              </a:ext>
            </a:extLst>
          </p:cNvPr>
          <p:cNvSpPr txBox="1"/>
          <p:nvPr/>
        </p:nvSpPr>
        <p:spPr>
          <a:xfrm>
            <a:off x="6312438" y="1778334"/>
            <a:ext cx="2539481" cy="1631216"/>
          </a:xfrm>
          <a:prstGeom prst="rect">
            <a:avLst/>
          </a:prstGeom>
          <a:noFill/>
        </p:spPr>
        <p:txBody>
          <a:bodyPr wrap="square">
            <a:spAutoFit/>
          </a:bodyPr>
          <a:lstStyle/>
          <a:p>
            <a:r>
              <a:rPr lang="en-US" sz="1000"/>
              <a:t>Configurable rules covering Note compliance (form type, late charge, grace period), DOT validation (date match, prepared-by, marital status), Title Commitment checks (effective date, title holder, Schedule C lien identification), Home Equity rules (3% fee cap, 80% LTV, owner occupied), and Survey checks. Rules are data, not code - firm staff can update parameters without engineering involvement.</a:t>
            </a:r>
          </a:p>
        </p:txBody>
      </p:sp>
      <p:sp>
        <p:nvSpPr>
          <p:cNvPr id="47" name="Rectangle 46">
            <a:extLst>
              <a:ext uri="{FF2B5EF4-FFF2-40B4-BE49-F238E27FC236}">
                <a16:creationId xmlns:a16="http://schemas.microsoft.com/office/drawing/2014/main" id="{6187E748-F2F3-34A5-1E31-625E3B24EE65}"/>
              </a:ext>
            </a:extLst>
          </p:cNvPr>
          <p:cNvSpPr/>
          <p:nvPr/>
        </p:nvSpPr>
        <p:spPr>
          <a:xfrm>
            <a:off x="9184279" y="1014339"/>
            <a:ext cx="2709597" cy="240901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48" name="TextBox 47">
            <a:extLst>
              <a:ext uri="{FF2B5EF4-FFF2-40B4-BE49-F238E27FC236}">
                <a16:creationId xmlns:a16="http://schemas.microsoft.com/office/drawing/2014/main" id="{21B3AE50-9BC4-A09C-6166-515CC570EEAF}"/>
              </a:ext>
            </a:extLst>
          </p:cNvPr>
          <p:cNvSpPr txBox="1"/>
          <p:nvPr/>
        </p:nvSpPr>
        <p:spPr>
          <a:xfrm>
            <a:off x="9354394" y="1550596"/>
            <a:ext cx="2205116" cy="215444"/>
          </a:xfrm>
          <a:prstGeom prst="rect">
            <a:avLst/>
          </a:prstGeom>
          <a:noFill/>
        </p:spPr>
        <p:txBody>
          <a:bodyPr wrap="square" lIns="0" tIns="0" rIns="0" bIns="0">
            <a:spAutoFit/>
          </a:bodyPr>
          <a:lstStyle/>
          <a:p>
            <a:pPr marL="0" marR="0">
              <a:spcBef>
                <a:spcPts val="1400"/>
              </a:spcBef>
              <a:spcAft>
                <a:spcPts val="500"/>
              </a:spcAft>
              <a:buNone/>
            </a:pPr>
            <a:r>
              <a:rPr lang="en-IN" sz="1400" b="1">
                <a:solidFill>
                  <a:schemeClr val="accent2"/>
                </a:solidFill>
                <a:effectLst/>
                <a:latin typeface="+mj-lt"/>
                <a:ea typeface="Arial" panose="020B0604020202020204" pitchFamily="34" charset="0"/>
              </a:rPr>
              <a:t>Data Verification Report</a:t>
            </a:r>
          </a:p>
        </p:txBody>
      </p:sp>
      <p:grpSp>
        <p:nvGrpSpPr>
          <p:cNvPr id="49" name="Group 48">
            <a:extLst>
              <a:ext uri="{FF2B5EF4-FFF2-40B4-BE49-F238E27FC236}">
                <a16:creationId xmlns:a16="http://schemas.microsoft.com/office/drawing/2014/main" id="{D55BA787-DA8B-B23E-604D-169F03A2236F}"/>
              </a:ext>
            </a:extLst>
          </p:cNvPr>
          <p:cNvGrpSpPr/>
          <p:nvPr/>
        </p:nvGrpSpPr>
        <p:grpSpPr>
          <a:xfrm>
            <a:off x="9263980" y="1068751"/>
            <a:ext cx="457200" cy="457200"/>
            <a:chOff x="418523" y="1786641"/>
            <a:chExt cx="457200" cy="457200"/>
          </a:xfrm>
        </p:grpSpPr>
        <p:grpSp>
          <p:nvGrpSpPr>
            <p:cNvPr id="50" name="Group 49">
              <a:extLst>
                <a:ext uri="{FF2B5EF4-FFF2-40B4-BE49-F238E27FC236}">
                  <a16:creationId xmlns:a16="http://schemas.microsoft.com/office/drawing/2014/main" id="{3DA1288F-276F-CE1D-61B9-9BC755EDB272}"/>
                </a:ext>
              </a:extLst>
            </p:cNvPr>
            <p:cNvGrpSpPr/>
            <p:nvPr/>
          </p:nvGrpSpPr>
          <p:grpSpPr>
            <a:xfrm>
              <a:off x="418523" y="1786641"/>
              <a:ext cx="457200" cy="457200"/>
              <a:chOff x="4515851" y="2241060"/>
              <a:chExt cx="1187940" cy="1187940"/>
            </a:xfrm>
          </p:grpSpPr>
          <p:sp>
            <p:nvSpPr>
              <p:cNvPr id="52" name="Oval 51">
                <a:extLst>
                  <a:ext uri="{FF2B5EF4-FFF2-40B4-BE49-F238E27FC236}">
                    <a16:creationId xmlns:a16="http://schemas.microsoft.com/office/drawing/2014/main" id="{8CA9DE0A-3B02-E45B-EC48-2E76F69E61F1}"/>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53" name="Oval 52">
                <a:extLst>
                  <a:ext uri="{FF2B5EF4-FFF2-40B4-BE49-F238E27FC236}">
                    <a16:creationId xmlns:a16="http://schemas.microsoft.com/office/drawing/2014/main" id="{D2649998-1511-8BE1-D225-E885DB934062}"/>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51" name="TextBox 50">
              <a:extLst>
                <a:ext uri="{FF2B5EF4-FFF2-40B4-BE49-F238E27FC236}">
                  <a16:creationId xmlns:a16="http://schemas.microsoft.com/office/drawing/2014/main" id="{8267A4AA-2780-339A-7418-0E5210BD1610}"/>
                </a:ext>
              </a:extLst>
            </p:cNvPr>
            <p:cNvSpPr txBox="1"/>
            <p:nvPr/>
          </p:nvSpPr>
          <p:spPr>
            <a:xfrm>
              <a:off x="508937" y="1930603"/>
              <a:ext cx="276370" cy="169277"/>
            </a:xfrm>
            <a:prstGeom prst="rect">
              <a:avLst/>
            </a:prstGeom>
            <a:noFill/>
          </p:spPr>
          <p:txBody>
            <a:bodyPr wrap="square" lIns="0" tIns="0" rIns="0" bIns="0">
              <a:spAutoFit/>
            </a:bodyPr>
            <a:lstStyle/>
            <a:p>
              <a:pPr marL="0" marR="0" algn="ctr">
                <a:spcBef>
                  <a:spcPts val="1400"/>
                </a:spcBef>
                <a:spcAft>
                  <a:spcPts val="500"/>
                </a:spcAft>
                <a:buNone/>
              </a:pPr>
              <a:r>
                <a:rPr lang="en-IN" sz="1100" b="1">
                  <a:solidFill>
                    <a:schemeClr val="bg1"/>
                  </a:solidFill>
                  <a:effectLst/>
                  <a:latin typeface="+mj-lt"/>
                  <a:ea typeface="Arial" panose="020B0604020202020204" pitchFamily="34" charset="0"/>
                </a:rPr>
                <a:t>4</a:t>
              </a:r>
              <a:endParaRPr lang="en-US" sz="800">
                <a:solidFill>
                  <a:schemeClr val="bg1"/>
                </a:solidFill>
                <a:effectLst/>
                <a:latin typeface="+mj-lt"/>
                <a:ea typeface="Arial" panose="020B0604020202020204" pitchFamily="34" charset="0"/>
              </a:endParaRPr>
            </a:p>
          </p:txBody>
        </p:sp>
      </p:grpSp>
      <p:sp>
        <p:nvSpPr>
          <p:cNvPr id="54" name="TextBox 53">
            <a:extLst>
              <a:ext uri="{FF2B5EF4-FFF2-40B4-BE49-F238E27FC236}">
                <a16:creationId xmlns:a16="http://schemas.microsoft.com/office/drawing/2014/main" id="{69472780-5C08-C26B-46CB-AADFE8D6FFC6}"/>
              </a:ext>
            </a:extLst>
          </p:cNvPr>
          <p:cNvSpPr txBox="1"/>
          <p:nvPr/>
        </p:nvSpPr>
        <p:spPr>
          <a:xfrm>
            <a:off x="9271525" y="1778334"/>
            <a:ext cx="2539481" cy="1631216"/>
          </a:xfrm>
          <a:prstGeom prst="rect">
            <a:avLst/>
          </a:prstGeom>
          <a:noFill/>
        </p:spPr>
        <p:txBody>
          <a:bodyPr wrap="square">
            <a:spAutoFit/>
          </a:bodyPr>
          <a:lstStyle/>
          <a:p>
            <a:r>
              <a:rPr lang="en-US" sz="1000"/>
              <a:t>Configurable rules covering Note compliance (form type, late charge, grace period), DOT validation (date match, prepared-by, marital status), Title Commitment checks (effective date, title holder, Schedule C lien identification), Home Equity rules (3% fee cap, 80% LTV, owner occupied), and Survey checks. Rules are data, not code - firm staff can update parameters without engineering involvement.</a:t>
            </a:r>
          </a:p>
        </p:txBody>
      </p:sp>
      <p:cxnSp>
        <p:nvCxnSpPr>
          <p:cNvPr id="99" name="Straight Connector 98">
            <a:extLst>
              <a:ext uri="{FF2B5EF4-FFF2-40B4-BE49-F238E27FC236}">
                <a16:creationId xmlns:a16="http://schemas.microsoft.com/office/drawing/2014/main" id="{83CB6695-568D-F140-7CE6-28A96ED84DFD}"/>
              </a:ext>
            </a:extLst>
          </p:cNvPr>
          <p:cNvCxnSpPr/>
          <p:nvPr/>
        </p:nvCxnSpPr>
        <p:spPr>
          <a:xfrm>
            <a:off x="304801" y="4372923"/>
            <a:ext cx="1157600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D3955E62-BB8D-6F0C-9524-5BA9ABA35760}"/>
              </a:ext>
            </a:extLst>
          </p:cNvPr>
          <p:cNvSpPr/>
          <p:nvPr/>
        </p:nvSpPr>
        <p:spPr>
          <a:xfrm>
            <a:off x="307018" y="3529901"/>
            <a:ext cx="2709597" cy="270298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01" name="TextBox 100">
            <a:extLst>
              <a:ext uri="{FF2B5EF4-FFF2-40B4-BE49-F238E27FC236}">
                <a16:creationId xmlns:a16="http://schemas.microsoft.com/office/drawing/2014/main" id="{D127C373-562A-F0C2-EC08-C9B2090D5811}"/>
              </a:ext>
            </a:extLst>
          </p:cNvPr>
          <p:cNvSpPr txBox="1"/>
          <p:nvPr/>
        </p:nvSpPr>
        <p:spPr>
          <a:xfrm>
            <a:off x="477133" y="4066159"/>
            <a:ext cx="2454606" cy="215444"/>
          </a:xfrm>
          <a:prstGeom prst="rect">
            <a:avLst/>
          </a:prstGeom>
          <a:noFill/>
        </p:spPr>
        <p:txBody>
          <a:bodyPr wrap="square" lIns="0" tIns="0" rIns="0" bIns="0">
            <a:spAutoFit/>
          </a:bodyPr>
          <a:lstStyle/>
          <a:p>
            <a:pPr marL="0" marR="0">
              <a:spcBef>
                <a:spcPts val="1400"/>
              </a:spcBef>
              <a:spcAft>
                <a:spcPts val="500"/>
              </a:spcAft>
              <a:buNone/>
            </a:pPr>
            <a:r>
              <a:rPr lang="en-IN" sz="1400" b="1">
                <a:solidFill>
                  <a:schemeClr val="accent2"/>
                </a:solidFill>
                <a:effectLst/>
                <a:latin typeface="+mj-lt"/>
                <a:ea typeface="Arial" panose="020B0604020202020204" pitchFamily="34" charset="0"/>
              </a:rPr>
              <a:t>Dynamic Queue Orchestration</a:t>
            </a:r>
            <a:endParaRPr lang="en-US" sz="1000">
              <a:solidFill>
                <a:schemeClr val="accent2"/>
              </a:solidFill>
              <a:effectLst/>
              <a:latin typeface="+mj-lt"/>
              <a:ea typeface="Arial" panose="020B0604020202020204" pitchFamily="34" charset="0"/>
            </a:endParaRPr>
          </a:p>
        </p:txBody>
      </p:sp>
      <p:grpSp>
        <p:nvGrpSpPr>
          <p:cNvPr id="102" name="Group 101">
            <a:extLst>
              <a:ext uri="{FF2B5EF4-FFF2-40B4-BE49-F238E27FC236}">
                <a16:creationId xmlns:a16="http://schemas.microsoft.com/office/drawing/2014/main" id="{35F41E39-708A-100F-279F-C7EA6FEA8246}"/>
              </a:ext>
            </a:extLst>
          </p:cNvPr>
          <p:cNvGrpSpPr/>
          <p:nvPr/>
        </p:nvGrpSpPr>
        <p:grpSpPr>
          <a:xfrm>
            <a:off x="386719" y="3584314"/>
            <a:ext cx="457200" cy="457200"/>
            <a:chOff x="418523" y="1786641"/>
            <a:chExt cx="457200" cy="457200"/>
          </a:xfrm>
        </p:grpSpPr>
        <p:grpSp>
          <p:nvGrpSpPr>
            <p:cNvPr id="103" name="Group 102">
              <a:extLst>
                <a:ext uri="{FF2B5EF4-FFF2-40B4-BE49-F238E27FC236}">
                  <a16:creationId xmlns:a16="http://schemas.microsoft.com/office/drawing/2014/main" id="{BEFF4F81-6FFB-E084-B410-2D3241312EDB}"/>
                </a:ext>
              </a:extLst>
            </p:cNvPr>
            <p:cNvGrpSpPr/>
            <p:nvPr/>
          </p:nvGrpSpPr>
          <p:grpSpPr>
            <a:xfrm>
              <a:off x="418523" y="1786641"/>
              <a:ext cx="457200" cy="457200"/>
              <a:chOff x="4515851" y="2241060"/>
              <a:chExt cx="1187940" cy="1187940"/>
            </a:xfrm>
          </p:grpSpPr>
          <p:sp>
            <p:nvSpPr>
              <p:cNvPr id="105" name="Oval 104">
                <a:extLst>
                  <a:ext uri="{FF2B5EF4-FFF2-40B4-BE49-F238E27FC236}">
                    <a16:creationId xmlns:a16="http://schemas.microsoft.com/office/drawing/2014/main" id="{4EED3954-B75D-FE56-7D4F-4E23AC65140F}"/>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06" name="Oval 105">
                <a:extLst>
                  <a:ext uri="{FF2B5EF4-FFF2-40B4-BE49-F238E27FC236}">
                    <a16:creationId xmlns:a16="http://schemas.microsoft.com/office/drawing/2014/main" id="{E097421D-F124-F8D6-03DA-71D955860632}"/>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104" name="TextBox 103">
              <a:extLst>
                <a:ext uri="{FF2B5EF4-FFF2-40B4-BE49-F238E27FC236}">
                  <a16:creationId xmlns:a16="http://schemas.microsoft.com/office/drawing/2014/main" id="{8ECFF81B-CEDB-2DA2-21B6-FAC5AC15AEDB}"/>
                </a:ext>
              </a:extLst>
            </p:cNvPr>
            <p:cNvSpPr txBox="1"/>
            <p:nvPr/>
          </p:nvSpPr>
          <p:spPr>
            <a:xfrm>
              <a:off x="508937" y="1930603"/>
              <a:ext cx="276370" cy="169277"/>
            </a:xfrm>
            <a:prstGeom prst="rect">
              <a:avLst/>
            </a:prstGeom>
            <a:noFill/>
          </p:spPr>
          <p:txBody>
            <a:bodyPr wrap="square" lIns="0" tIns="0" rIns="0" bIns="0">
              <a:spAutoFit/>
            </a:bodyPr>
            <a:lstStyle/>
            <a:p>
              <a:pPr marL="0" marR="0" algn="ctr">
                <a:spcBef>
                  <a:spcPts val="1400"/>
                </a:spcBef>
                <a:spcAft>
                  <a:spcPts val="500"/>
                </a:spcAft>
                <a:buNone/>
              </a:pPr>
              <a:r>
                <a:rPr lang="en-IN" sz="1100" b="1">
                  <a:solidFill>
                    <a:schemeClr val="bg1"/>
                  </a:solidFill>
                  <a:effectLst/>
                  <a:latin typeface="+mj-lt"/>
                  <a:ea typeface="Arial" panose="020B0604020202020204" pitchFamily="34" charset="0"/>
                </a:rPr>
                <a:t>5</a:t>
              </a:r>
              <a:endParaRPr lang="en-US" sz="800">
                <a:solidFill>
                  <a:schemeClr val="bg1"/>
                </a:solidFill>
                <a:effectLst/>
                <a:latin typeface="+mj-lt"/>
                <a:ea typeface="Arial" panose="020B0604020202020204" pitchFamily="34" charset="0"/>
              </a:endParaRPr>
            </a:p>
          </p:txBody>
        </p:sp>
      </p:grpSp>
      <p:sp>
        <p:nvSpPr>
          <p:cNvPr id="107" name="TextBox 106">
            <a:extLst>
              <a:ext uri="{FF2B5EF4-FFF2-40B4-BE49-F238E27FC236}">
                <a16:creationId xmlns:a16="http://schemas.microsoft.com/office/drawing/2014/main" id="{BB2773B3-CDE0-8CB5-928C-1DF0F6826A36}"/>
              </a:ext>
            </a:extLst>
          </p:cNvPr>
          <p:cNvSpPr txBox="1"/>
          <p:nvPr/>
        </p:nvSpPr>
        <p:spPr>
          <a:xfrm>
            <a:off x="394264" y="4293897"/>
            <a:ext cx="2539481" cy="1477328"/>
          </a:xfrm>
          <a:prstGeom prst="rect">
            <a:avLst/>
          </a:prstGeom>
          <a:noFill/>
        </p:spPr>
        <p:txBody>
          <a:bodyPr wrap="square">
            <a:spAutoFit/>
          </a:bodyPr>
          <a:lstStyle/>
          <a:p>
            <a:r>
              <a:rPr lang="en-US" sz="1000"/>
              <a:t>Multi-office, multi-POD routing engine. Queue assignment considers office, loan type, client, and POD availability. Prioritization applies in order: closing date today, rush flag, SLA aging, core client status, FIFO. Only approved staff within the assigned POD can see and claim a file. Manager override for reassignment and rush re-prioritization.</a:t>
            </a:r>
            <a:endParaRPr lang="en-US" sz="1000">
              <a:solidFill>
                <a:srgbClr val="1A1A1A"/>
              </a:solidFill>
            </a:endParaRPr>
          </a:p>
        </p:txBody>
      </p:sp>
      <p:sp>
        <p:nvSpPr>
          <p:cNvPr id="108" name="Rectangle 107">
            <a:extLst>
              <a:ext uri="{FF2B5EF4-FFF2-40B4-BE49-F238E27FC236}">
                <a16:creationId xmlns:a16="http://schemas.microsoft.com/office/drawing/2014/main" id="{B569074D-A414-B16D-E09A-CF9BE63E66F4}"/>
              </a:ext>
            </a:extLst>
          </p:cNvPr>
          <p:cNvSpPr/>
          <p:nvPr/>
        </p:nvSpPr>
        <p:spPr>
          <a:xfrm>
            <a:off x="3266105" y="3529901"/>
            <a:ext cx="2709597" cy="270298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09" name="TextBox 108">
            <a:extLst>
              <a:ext uri="{FF2B5EF4-FFF2-40B4-BE49-F238E27FC236}">
                <a16:creationId xmlns:a16="http://schemas.microsoft.com/office/drawing/2014/main" id="{427AF6F1-D3F2-AD70-3CA0-03814B8B83FA}"/>
              </a:ext>
            </a:extLst>
          </p:cNvPr>
          <p:cNvSpPr txBox="1"/>
          <p:nvPr/>
        </p:nvSpPr>
        <p:spPr>
          <a:xfrm>
            <a:off x="3436220" y="4066159"/>
            <a:ext cx="2374030" cy="215444"/>
          </a:xfrm>
          <a:prstGeom prst="rect">
            <a:avLst/>
          </a:prstGeom>
          <a:noFill/>
        </p:spPr>
        <p:txBody>
          <a:bodyPr wrap="square" lIns="0" tIns="0" rIns="0" bIns="0">
            <a:spAutoFit/>
          </a:bodyPr>
          <a:lstStyle/>
          <a:p>
            <a:pPr marL="0" marR="0">
              <a:spcBef>
                <a:spcPts val="1400"/>
              </a:spcBef>
              <a:spcAft>
                <a:spcPts val="500"/>
              </a:spcAft>
              <a:buNone/>
            </a:pPr>
            <a:r>
              <a:rPr lang="en-IN" sz="1400" b="1">
                <a:solidFill>
                  <a:schemeClr val="accent2"/>
                </a:solidFill>
                <a:effectLst/>
                <a:latin typeface="+mj-lt"/>
                <a:ea typeface="Arial" panose="020B0604020202020204" pitchFamily="34" charset="0"/>
              </a:rPr>
              <a:t>Legal Assistant QC Workbench</a:t>
            </a:r>
          </a:p>
        </p:txBody>
      </p:sp>
      <p:grpSp>
        <p:nvGrpSpPr>
          <p:cNvPr id="110" name="Group 109">
            <a:extLst>
              <a:ext uri="{FF2B5EF4-FFF2-40B4-BE49-F238E27FC236}">
                <a16:creationId xmlns:a16="http://schemas.microsoft.com/office/drawing/2014/main" id="{DB57D25B-F24E-1B2C-E12D-91B3EE55780F}"/>
              </a:ext>
            </a:extLst>
          </p:cNvPr>
          <p:cNvGrpSpPr/>
          <p:nvPr/>
        </p:nvGrpSpPr>
        <p:grpSpPr>
          <a:xfrm>
            <a:off x="3345806" y="3584314"/>
            <a:ext cx="457200" cy="457200"/>
            <a:chOff x="418523" y="1786641"/>
            <a:chExt cx="457200" cy="457200"/>
          </a:xfrm>
        </p:grpSpPr>
        <p:grpSp>
          <p:nvGrpSpPr>
            <p:cNvPr id="111" name="Group 110">
              <a:extLst>
                <a:ext uri="{FF2B5EF4-FFF2-40B4-BE49-F238E27FC236}">
                  <a16:creationId xmlns:a16="http://schemas.microsoft.com/office/drawing/2014/main" id="{A4071B8B-120B-B085-78B1-318B7AD36C57}"/>
                </a:ext>
              </a:extLst>
            </p:cNvPr>
            <p:cNvGrpSpPr/>
            <p:nvPr/>
          </p:nvGrpSpPr>
          <p:grpSpPr>
            <a:xfrm>
              <a:off x="418523" y="1786641"/>
              <a:ext cx="457200" cy="457200"/>
              <a:chOff x="4515851" y="2241060"/>
              <a:chExt cx="1187940" cy="1187940"/>
            </a:xfrm>
          </p:grpSpPr>
          <p:sp>
            <p:nvSpPr>
              <p:cNvPr id="113" name="Oval 112">
                <a:extLst>
                  <a:ext uri="{FF2B5EF4-FFF2-40B4-BE49-F238E27FC236}">
                    <a16:creationId xmlns:a16="http://schemas.microsoft.com/office/drawing/2014/main" id="{CFFDFB16-D30F-F084-5051-C93EB0A77D89}"/>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14" name="Oval 113">
                <a:extLst>
                  <a:ext uri="{FF2B5EF4-FFF2-40B4-BE49-F238E27FC236}">
                    <a16:creationId xmlns:a16="http://schemas.microsoft.com/office/drawing/2014/main" id="{69EC811E-0527-3BC3-B000-F8373AB11A2B}"/>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112" name="TextBox 111">
              <a:extLst>
                <a:ext uri="{FF2B5EF4-FFF2-40B4-BE49-F238E27FC236}">
                  <a16:creationId xmlns:a16="http://schemas.microsoft.com/office/drawing/2014/main" id="{3BFFEE1C-1960-59FE-7E89-77989858EE5B}"/>
                </a:ext>
              </a:extLst>
            </p:cNvPr>
            <p:cNvSpPr txBox="1"/>
            <p:nvPr/>
          </p:nvSpPr>
          <p:spPr>
            <a:xfrm>
              <a:off x="508937" y="1930603"/>
              <a:ext cx="276370" cy="169277"/>
            </a:xfrm>
            <a:prstGeom prst="rect">
              <a:avLst/>
            </a:prstGeom>
            <a:noFill/>
          </p:spPr>
          <p:txBody>
            <a:bodyPr wrap="square" lIns="0" tIns="0" rIns="0" bIns="0">
              <a:spAutoFit/>
            </a:bodyPr>
            <a:lstStyle/>
            <a:p>
              <a:pPr marL="0" marR="0" algn="ctr">
                <a:spcBef>
                  <a:spcPts val="1400"/>
                </a:spcBef>
                <a:spcAft>
                  <a:spcPts val="500"/>
                </a:spcAft>
                <a:buNone/>
              </a:pPr>
              <a:r>
                <a:rPr lang="en-IN" sz="1100" b="1">
                  <a:solidFill>
                    <a:schemeClr val="bg1"/>
                  </a:solidFill>
                  <a:effectLst/>
                  <a:latin typeface="+mj-lt"/>
                  <a:ea typeface="Arial" panose="020B0604020202020204" pitchFamily="34" charset="0"/>
                </a:rPr>
                <a:t>6</a:t>
              </a:r>
              <a:endParaRPr lang="en-US" sz="800">
                <a:solidFill>
                  <a:schemeClr val="bg1"/>
                </a:solidFill>
                <a:effectLst/>
                <a:latin typeface="+mj-lt"/>
                <a:ea typeface="Arial" panose="020B0604020202020204" pitchFamily="34" charset="0"/>
              </a:endParaRPr>
            </a:p>
          </p:txBody>
        </p:sp>
      </p:grpSp>
      <p:sp>
        <p:nvSpPr>
          <p:cNvPr id="115" name="TextBox 114">
            <a:extLst>
              <a:ext uri="{FF2B5EF4-FFF2-40B4-BE49-F238E27FC236}">
                <a16:creationId xmlns:a16="http://schemas.microsoft.com/office/drawing/2014/main" id="{795F9799-12B4-65D4-11DE-035E143DBEC2}"/>
              </a:ext>
            </a:extLst>
          </p:cNvPr>
          <p:cNvSpPr txBox="1"/>
          <p:nvPr/>
        </p:nvSpPr>
        <p:spPr>
          <a:xfrm>
            <a:off x="3353351" y="4293897"/>
            <a:ext cx="2539481" cy="1938992"/>
          </a:xfrm>
          <a:prstGeom prst="rect">
            <a:avLst/>
          </a:prstGeom>
          <a:noFill/>
        </p:spPr>
        <p:txBody>
          <a:bodyPr wrap="square">
            <a:spAutoFit/>
          </a:bodyPr>
          <a:lstStyle/>
          <a:p>
            <a:r>
              <a:rPr lang="en-US" sz="1000"/>
              <a:t>Split-pane interface: extracted fields on the left grouped by input section, source document on the right. Each field is linked to the page and region it was extracted from. Clicking a field jumps the document view to the relevant highlighted section. Fields are color-coded by status: green (high confidence), amber (low confidence), red (rule violation or mismatch). Legal Assistants work through flagged items, confirm or correct, and every correction is logged as a structured feedback event.</a:t>
            </a:r>
          </a:p>
        </p:txBody>
      </p:sp>
      <p:sp>
        <p:nvSpPr>
          <p:cNvPr id="116" name="Rectangle 115">
            <a:extLst>
              <a:ext uri="{FF2B5EF4-FFF2-40B4-BE49-F238E27FC236}">
                <a16:creationId xmlns:a16="http://schemas.microsoft.com/office/drawing/2014/main" id="{737E4F1A-2329-6667-507D-100886539CA2}"/>
              </a:ext>
            </a:extLst>
          </p:cNvPr>
          <p:cNvSpPr/>
          <p:nvPr/>
        </p:nvSpPr>
        <p:spPr>
          <a:xfrm>
            <a:off x="6225192" y="3529901"/>
            <a:ext cx="2709597" cy="270298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17" name="TextBox 116">
            <a:extLst>
              <a:ext uri="{FF2B5EF4-FFF2-40B4-BE49-F238E27FC236}">
                <a16:creationId xmlns:a16="http://schemas.microsoft.com/office/drawing/2014/main" id="{3104F29D-B5BA-AFE7-DEEE-56ABC216166B}"/>
              </a:ext>
            </a:extLst>
          </p:cNvPr>
          <p:cNvSpPr txBox="1"/>
          <p:nvPr/>
        </p:nvSpPr>
        <p:spPr>
          <a:xfrm>
            <a:off x="6376257" y="4066159"/>
            <a:ext cx="2539480" cy="215444"/>
          </a:xfrm>
          <a:prstGeom prst="rect">
            <a:avLst/>
          </a:prstGeom>
          <a:noFill/>
        </p:spPr>
        <p:txBody>
          <a:bodyPr wrap="square" lIns="0" tIns="0" rIns="0" bIns="0">
            <a:spAutoFit/>
          </a:bodyPr>
          <a:lstStyle/>
          <a:p>
            <a:pPr marL="0" marR="0">
              <a:spcBef>
                <a:spcPts val="1400"/>
              </a:spcBef>
              <a:spcAft>
                <a:spcPts val="500"/>
              </a:spcAft>
              <a:buNone/>
            </a:pPr>
            <a:r>
              <a:rPr lang="en-IN" sz="1400" b="1">
                <a:solidFill>
                  <a:schemeClr val="accent2"/>
                </a:solidFill>
                <a:effectLst/>
                <a:latin typeface="+mj-lt"/>
                <a:ea typeface="Arial" panose="020B0604020202020204" pitchFamily="34" charset="0"/>
              </a:rPr>
              <a:t>Supplemental Package Generation</a:t>
            </a:r>
          </a:p>
        </p:txBody>
      </p:sp>
      <p:grpSp>
        <p:nvGrpSpPr>
          <p:cNvPr id="118" name="Group 117">
            <a:extLst>
              <a:ext uri="{FF2B5EF4-FFF2-40B4-BE49-F238E27FC236}">
                <a16:creationId xmlns:a16="http://schemas.microsoft.com/office/drawing/2014/main" id="{F658E85A-E151-0619-5101-733901BD74D6}"/>
              </a:ext>
            </a:extLst>
          </p:cNvPr>
          <p:cNvGrpSpPr/>
          <p:nvPr/>
        </p:nvGrpSpPr>
        <p:grpSpPr>
          <a:xfrm>
            <a:off x="6304893" y="3584314"/>
            <a:ext cx="457200" cy="457200"/>
            <a:chOff x="418523" y="1786641"/>
            <a:chExt cx="457200" cy="457200"/>
          </a:xfrm>
        </p:grpSpPr>
        <p:grpSp>
          <p:nvGrpSpPr>
            <p:cNvPr id="119" name="Group 118">
              <a:extLst>
                <a:ext uri="{FF2B5EF4-FFF2-40B4-BE49-F238E27FC236}">
                  <a16:creationId xmlns:a16="http://schemas.microsoft.com/office/drawing/2014/main" id="{B316DEFF-FECF-AC72-8F9C-88A9AEA1CF9F}"/>
                </a:ext>
              </a:extLst>
            </p:cNvPr>
            <p:cNvGrpSpPr/>
            <p:nvPr/>
          </p:nvGrpSpPr>
          <p:grpSpPr>
            <a:xfrm>
              <a:off x="418523" y="1786641"/>
              <a:ext cx="457200" cy="457200"/>
              <a:chOff x="4515851" y="2241060"/>
              <a:chExt cx="1187940" cy="1187940"/>
            </a:xfrm>
          </p:grpSpPr>
          <p:sp>
            <p:nvSpPr>
              <p:cNvPr id="121" name="Oval 120">
                <a:extLst>
                  <a:ext uri="{FF2B5EF4-FFF2-40B4-BE49-F238E27FC236}">
                    <a16:creationId xmlns:a16="http://schemas.microsoft.com/office/drawing/2014/main" id="{61A23CA7-E0F0-6E90-83FB-6037BDD08DA7}"/>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22" name="Oval 121">
                <a:extLst>
                  <a:ext uri="{FF2B5EF4-FFF2-40B4-BE49-F238E27FC236}">
                    <a16:creationId xmlns:a16="http://schemas.microsoft.com/office/drawing/2014/main" id="{22F24289-9E08-8EE3-4C8F-AFB84F60ADB9}"/>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120" name="TextBox 119">
              <a:extLst>
                <a:ext uri="{FF2B5EF4-FFF2-40B4-BE49-F238E27FC236}">
                  <a16:creationId xmlns:a16="http://schemas.microsoft.com/office/drawing/2014/main" id="{8F11DBCD-05F8-4644-27D1-9BCF9D6B1D5C}"/>
                </a:ext>
              </a:extLst>
            </p:cNvPr>
            <p:cNvSpPr txBox="1"/>
            <p:nvPr/>
          </p:nvSpPr>
          <p:spPr>
            <a:xfrm>
              <a:off x="508937" y="1930603"/>
              <a:ext cx="276370" cy="169277"/>
            </a:xfrm>
            <a:prstGeom prst="rect">
              <a:avLst/>
            </a:prstGeom>
            <a:noFill/>
          </p:spPr>
          <p:txBody>
            <a:bodyPr wrap="square" lIns="0" tIns="0" rIns="0" bIns="0">
              <a:spAutoFit/>
            </a:bodyPr>
            <a:lstStyle/>
            <a:p>
              <a:pPr marL="0" marR="0" algn="ctr">
                <a:spcBef>
                  <a:spcPts val="1400"/>
                </a:spcBef>
                <a:spcAft>
                  <a:spcPts val="500"/>
                </a:spcAft>
                <a:buNone/>
              </a:pPr>
              <a:r>
                <a:rPr lang="en-IN" sz="1100" b="1">
                  <a:solidFill>
                    <a:schemeClr val="bg1"/>
                  </a:solidFill>
                  <a:effectLst/>
                  <a:latin typeface="+mj-lt"/>
                  <a:ea typeface="Arial" panose="020B0604020202020204" pitchFamily="34" charset="0"/>
                </a:rPr>
                <a:t>7</a:t>
              </a:r>
              <a:endParaRPr lang="en-US" sz="800">
                <a:solidFill>
                  <a:schemeClr val="bg1"/>
                </a:solidFill>
                <a:effectLst/>
                <a:latin typeface="+mj-lt"/>
                <a:ea typeface="Arial" panose="020B0604020202020204" pitchFamily="34" charset="0"/>
              </a:endParaRPr>
            </a:p>
          </p:txBody>
        </p:sp>
      </p:grpSp>
      <p:sp>
        <p:nvSpPr>
          <p:cNvPr id="123" name="TextBox 122">
            <a:extLst>
              <a:ext uri="{FF2B5EF4-FFF2-40B4-BE49-F238E27FC236}">
                <a16:creationId xmlns:a16="http://schemas.microsoft.com/office/drawing/2014/main" id="{10A2FB49-7D4E-9619-30E6-A623E99CCE7C}"/>
              </a:ext>
            </a:extLst>
          </p:cNvPr>
          <p:cNvSpPr txBox="1"/>
          <p:nvPr/>
        </p:nvSpPr>
        <p:spPr>
          <a:xfrm>
            <a:off x="6293388" y="4293897"/>
            <a:ext cx="2539481" cy="1015663"/>
          </a:xfrm>
          <a:prstGeom prst="rect">
            <a:avLst/>
          </a:prstGeom>
          <a:noFill/>
        </p:spPr>
        <p:txBody>
          <a:bodyPr wrap="square">
            <a:spAutoFit/>
          </a:bodyPr>
          <a:lstStyle/>
          <a:p>
            <a:r>
              <a:rPr lang="en-US" sz="1000"/>
              <a:t>ClosingExpress wrapper service calls the generation engine with the completed field set. Template selection is determined by loan type, purpose, and lender code. The generated supplemental package is captured and stored in EDM.</a:t>
            </a:r>
          </a:p>
        </p:txBody>
      </p:sp>
      <p:sp>
        <p:nvSpPr>
          <p:cNvPr id="124" name="Rectangle 123">
            <a:extLst>
              <a:ext uri="{FF2B5EF4-FFF2-40B4-BE49-F238E27FC236}">
                <a16:creationId xmlns:a16="http://schemas.microsoft.com/office/drawing/2014/main" id="{33FC0D62-3930-3BF8-5916-346B72C8DC5E}"/>
              </a:ext>
            </a:extLst>
          </p:cNvPr>
          <p:cNvSpPr/>
          <p:nvPr/>
        </p:nvSpPr>
        <p:spPr>
          <a:xfrm>
            <a:off x="9184279" y="3529901"/>
            <a:ext cx="2709597" cy="2702987"/>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25" name="TextBox 124">
            <a:extLst>
              <a:ext uri="{FF2B5EF4-FFF2-40B4-BE49-F238E27FC236}">
                <a16:creationId xmlns:a16="http://schemas.microsoft.com/office/drawing/2014/main" id="{99809316-BC26-2AB8-1C20-2F67C4DBEFE1}"/>
              </a:ext>
            </a:extLst>
          </p:cNvPr>
          <p:cNvSpPr txBox="1"/>
          <p:nvPr/>
        </p:nvSpPr>
        <p:spPr>
          <a:xfrm>
            <a:off x="9354394" y="4066159"/>
            <a:ext cx="2205116" cy="215444"/>
          </a:xfrm>
          <a:prstGeom prst="rect">
            <a:avLst/>
          </a:prstGeom>
          <a:noFill/>
        </p:spPr>
        <p:txBody>
          <a:bodyPr wrap="square" lIns="0" tIns="0" rIns="0" bIns="0">
            <a:spAutoFit/>
          </a:bodyPr>
          <a:lstStyle/>
          <a:p>
            <a:pPr marL="0" marR="0">
              <a:spcBef>
                <a:spcPts val="1400"/>
              </a:spcBef>
              <a:spcAft>
                <a:spcPts val="500"/>
              </a:spcAft>
              <a:buNone/>
            </a:pPr>
            <a:r>
              <a:rPr lang="en-IN" sz="1400" b="1">
                <a:solidFill>
                  <a:schemeClr val="accent2"/>
                </a:solidFill>
                <a:effectLst/>
                <a:latin typeface="+mj-lt"/>
                <a:ea typeface="Arial" panose="020B0604020202020204" pitchFamily="34" charset="0"/>
              </a:rPr>
              <a:t>Client Portal</a:t>
            </a:r>
          </a:p>
        </p:txBody>
      </p:sp>
      <p:grpSp>
        <p:nvGrpSpPr>
          <p:cNvPr id="126" name="Group 125">
            <a:extLst>
              <a:ext uri="{FF2B5EF4-FFF2-40B4-BE49-F238E27FC236}">
                <a16:creationId xmlns:a16="http://schemas.microsoft.com/office/drawing/2014/main" id="{412DFCDD-C980-57FC-9714-46F26C63F1D9}"/>
              </a:ext>
            </a:extLst>
          </p:cNvPr>
          <p:cNvGrpSpPr/>
          <p:nvPr/>
        </p:nvGrpSpPr>
        <p:grpSpPr>
          <a:xfrm>
            <a:off x="9263980" y="3584314"/>
            <a:ext cx="457200" cy="457200"/>
            <a:chOff x="418523" y="1786641"/>
            <a:chExt cx="457200" cy="457200"/>
          </a:xfrm>
        </p:grpSpPr>
        <p:grpSp>
          <p:nvGrpSpPr>
            <p:cNvPr id="127" name="Group 126">
              <a:extLst>
                <a:ext uri="{FF2B5EF4-FFF2-40B4-BE49-F238E27FC236}">
                  <a16:creationId xmlns:a16="http://schemas.microsoft.com/office/drawing/2014/main" id="{0A727AF3-B1C5-4E5E-CBB3-B0F4B3516363}"/>
                </a:ext>
              </a:extLst>
            </p:cNvPr>
            <p:cNvGrpSpPr/>
            <p:nvPr/>
          </p:nvGrpSpPr>
          <p:grpSpPr>
            <a:xfrm>
              <a:off x="418523" y="1786641"/>
              <a:ext cx="457200" cy="457200"/>
              <a:chOff x="4515851" y="2241060"/>
              <a:chExt cx="1187940" cy="1187940"/>
            </a:xfrm>
          </p:grpSpPr>
          <p:sp>
            <p:nvSpPr>
              <p:cNvPr id="129" name="Oval 128">
                <a:extLst>
                  <a:ext uri="{FF2B5EF4-FFF2-40B4-BE49-F238E27FC236}">
                    <a16:creationId xmlns:a16="http://schemas.microsoft.com/office/drawing/2014/main" id="{AF70AED8-0F44-56EA-4681-5E8D9F196B4B}"/>
                  </a:ext>
                </a:extLst>
              </p:cNvPr>
              <p:cNvSpPr/>
              <p:nvPr/>
            </p:nvSpPr>
            <p:spPr>
              <a:xfrm>
                <a:off x="4515851" y="2241060"/>
                <a:ext cx="1187940" cy="1187940"/>
              </a:xfrm>
              <a:prstGeom prst="ellipse">
                <a:avLst/>
              </a:prstGeom>
              <a:solidFill>
                <a:schemeClr val="tx1">
                  <a:lumMod val="75000"/>
                  <a:lumOff val="25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30" name="Oval 129">
                <a:extLst>
                  <a:ext uri="{FF2B5EF4-FFF2-40B4-BE49-F238E27FC236}">
                    <a16:creationId xmlns:a16="http://schemas.microsoft.com/office/drawing/2014/main" id="{C16BF42C-E714-DCFB-F02B-7CDEB0E8D7AC}"/>
                  </a:ext>
                </a:extLst>
              </p:cNvPr>
              <p:cNvSpPr/>
              <p:nvPr/>
            </p:nvSpPr>
            <p:spPr>
              <a:xfrm>
                <a:off x="4693838" y="2419048"/>
                <a:ext cx="831967" cy="831964"/>
              </a:xfrm>
              <a:prstGeom prst="ellipse">
                <a:avLst/>
              </a:prstGeom>
              <a:gradFill>
                <a:gsLst>
                  <a:gs pos="100000">
                    <a:srgbClr val="2EF4E0"/>
                  </a:gs>
                  <a:gs pos="14000">
                    <a:schemeClr val="accent2"/>
                  </a:gs>
                </a:gsLst>
                <a:lin ang="0" scaled="1"/>
              </a:gradFill>
              <a:ln w="6350">
                <a:solidFill>
                  <a:schemeClr val="bg1"/>
                </a:solidFill>
              </a:ln>
              <a:effectLst>
                <a:outerShdw blurRad="1778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28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grpSp>
        <p:sp>
          <p:nvSpPr>
            <p:cNvPr id="128" name="TextBox 127">
              <a:extLst>
                <a:ext uri="{FF2B5EF4-FFF2-40B4-BE49-F238E27FC236}">
                  <a16:creationId xmlns:a16="http://schemas.microsoft.com/office/drawing/2014/main" id="{2082FEDB-93F3-D488-9FA3-70FF9F696B4F}"/>
                </a:ext>
              </a:extLst>
            </p:cNvPr>
            <p:cNvSpPr txBox="1"/>
            <p:nvPr/>
          </p:nvSpPr>
          <p:spPr>
            <a:xfrm>
              <a:off x="508937" y="1930603"/>
              <a:ext cx="276370" cy="169277"/>
            </a:xfrm>
            <a:prstGeom prst="rect">
              <a:avLst/>
            </a:prstGeom>
            <a:noFill/>
          </p:spPr>
          <p:txBody>
            <a:bodyPr wrap="square" lIns="0" tIns="0" rIns="0" bIns="0">
              <a:spAutoFit/>
            </a:bodyPr>
            <a:lstStyle/>
            <a:p>
              <a:pPr marL="0" marR="0" algn="ctr">
                <a:spcBef>
                  <a:spcPts val="1400"/>
                </a:spcBef>
                <a:spcAft>
                  <a:spcPts val="500"/>
                </a:spcAft>
                <a:buNone/>
              </a:pPr>
              <a:r>
                <a:rPr lang="en-IN" sz="1100" b="1">
                  <a:solidFill>
                    <a:schemeClr val="bg1"/>
                  </a:solidFill>
                  <a:effectLst/>
                  <a:latin typeface="+mj-lt"/>
                  <a:ea typeface="Arial" panose="020B0604020202020204" pitchFamily="34" charset="0"/>
                </a:rPr>
                <a:t>8</a:t>
              </a:r>
              <a:endParaRPr lang="en-US" sz="800">
                <a:solidFill>
                  <a:schemeClr val="bg1"/>
                </a:solidFill>
                <a:effectLst/>
                <a:latin typeface="+mj-lt"/>
                <a:ea typeface="Arial" panose="020B0604020202020204" pitchFamily="34" charset="0"/>
              </a:endParaRPr>
            </a:p>
          </p:txBody>
        </p:sp>
      </p:grpSp>
      <p:sp>
        <p:nvSpPr>
          <p:cNvPr id="131" name="TextBox 130">
            <a:extLst>
              <a:ext uri="{FF2B5EF4-FFF2-40B4-BE49-F238E27FC236}">
                <a16:creationId xmlns:a16="http://schemas.microsoft.com/office/drawing/2014/main" id="{B59FEC9D-5A00-431C-19FD-9B3F25A970BE}"/>
              </a:ext>
            </a:extLst>
          </p:cNvPr>
          <p:cNvSpPr txBox="1"/>
          <p:nvPr/>
        </p:nvSpPr>
        <p:spPr>
          <a:xfrm>
            <a:off x="9271525" y="4293897"/>
            <a:ext cx="2539481" cy="1169551"/>
          </a:xfrm>
          <a:prstGeom prst="rect">
            <a:avLst/>
          </a:prstGeom>
          <a:noFill/>
        </p:spPr>
        <p:txBody>
          <a:bodyPr wrap="square">
            <a:spAutoFit/>
          </a:bodyPr>
          <a:lstStyle/>
          <a:p>
            <a:r>
              <a:rPr lang="en-US" sz="1000"/>
              <a:t>Authenticated lender-facing portal supporting all five submission types. Real-time order status visible from submission through release. Supplemental package available for download immediately on release, with option to forward directly to title or settlement agent.</a:t>
            </a:r>
          </a:p>
        </p:txBody>
      </p:sp>
    </p:spTree>
    <p:extLst>
      <p:ext uri="{BB962C8B-B14F-4D97-AF65-F5344CB8AC3E}">
        <p14:creationId xmlns:p14="http://schemas.microsoft.com/office/powerpoint/2010/main" val="1479865293"/>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Top Corners Rounded 17">
            <a:extLst>
              <a:ext uri="{FF2B5EF4-FFF2-40B4-BE49-F238E27FC236}">
                <a16:creationId xmlns:a16="http://schemas.microsoft.com/office/drawing/2014/main" id="{8FBF9064-8B29-7AD3-D9A2-824B639B2B94}"/>
              </a:ext>
            </a:extLst>
          </p:cNvPr>
          <p:cNvSpPr/>
          <p:nvPr/>
        </p:nvSpPr>
        <p:spPr>
          <a:xfrm>
            <a:off x="6496263" y="1147847"/>
            <a:ext cx="5257587" cy="4684385"/>
          </a:xfrm>
          <a:prstGeom prst="round2SameRect">
            <a:avLst>
              <a:gd name="adj1" fmla="val 2612"/>
              <a:gd name="adj2" fmla="val 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Top Corners Rounded 16">
            <a:extLst>
              <a:ext uri="{FF2B5EF4-FFF2-40B4-BE49-F238E27FC236}">
                <a16:creationId xmlns:a16="http://schemas.microsoft.com/office/drawing/2014/main" id="{949E4E48-2FE5-3054-A21A-88DCFAFBB6EB}"/>
              </a:ext>
            </a:extLst>
          </p:cNvPr>
          <p:cNvSpPr/>
          <p:nvPr/>
        </p:nvSpPr>
        <p:spPr>
          <a:xfrm>
            <a:off x="304802" y="1147847"/>
            <a:ext cx="5257587" cy="4684385"/>
          </a:xfrm>
          <a:prstGeom prst="round2SameRect">
            <a:avLst>
              <a:gd name="adj1" fmla="val 2612"/>
              <a:gd name="adj2" fmla="val 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6BCC29F5-D8CB-403B-D657-B5333CCD6767}"/>
              </a:ext>
            </a:extLst>
          </p:cNvPr>
          <p:cNvSpPr>
            <a:spLocks noGrp="1"/>
          </p:cNvSpPr>
          <p:nvPr>
            <p:ph type="title"/>
          </p:nvPr>
        </p:nvSpPr>
        <p:spPr/>
        <p:txBody>
          <a:bodyPr/>
          <a:lstStyle/>
          <a:p>
            <a:r>
              <a:rPr lang="en-IN"/>
              <a:t>Scope of the Engagement</a:t>
            </a:r>
          </a:p>
        </p:txBody>
      </p:sp>
      <p:sp>
        <p:nvSpPr>
          <p:cNvPr id="10" name="Shape 3">
            <a:extLst>
              <a:ext uri="{FF2B5EF4-FFF2-40B4-BE49-F238E27FC236}">
                <a16:creationId xmlns:a16="http://schemas.microsoft.com/office/drawing/2014/main" id="{2E6C1925-E65D-3D4F-EB96-1910E28ADC59}"/>
              </a:ext>
            </a:extLst>
          </p:cNvPr>
          <p:cNvSpPr/>
          <p:nvPr/>
        </p:nvSpPr>
        <p:spPr>
          <a:xfrm>
            <a:off x="304801" y="1147847"/>
            <a:ext cx="5248063" cy="346991"/>
          </a:xfrm>
          <a:prstGeom prst="rect">
            <a:avLst/>
          </a:prstGeom>
          <a:solidFill>
            <a:srgbClr val="024854"/>
          </a:solidFill>
          <a:ln w="12700">
            <a:solidFill>
              <a:srgbClr val="024854"/>
            </a:solidFill>
            <a:prstDash val="solid"/>
          </a:ln>
        </p:spPr>
        <p:txBody>
          <a:bodyPr/>
          <a:lstStyle/>
          <a:p>
            <a:endParaRPr lang="en-IN"/>
          </a:p>
        </p:txBody>
      </p:sp>
      <p:sp>
        <p:nvSpPr>
          <p:cNvPr id="11" name="Text 4">
            <a:extLst>
              <a:ext uri="{FF2B5EF4-FFF2-40B4-BE49-F238E27FC236}">
                <a16:creationId xmlns:a16="http://schemas.microsoft.com/office/drawing/2014/main" id="{76FAFA51-565E-99D8-C184-43C35695A3EA}"/>
              </a:ext>
            </a:extLst>
          </p:cNvPr>
          <p:cNvSpPr/>
          <p:nvPr/>
        </p:nvSpPr>
        <p:spPr>
          <a:xfrm>
            <a:off x="364438" y="1169534"/>
            <a:ext cx="5128789" cy="303618"/>
          </a:xfrm>
          <a:prstGeom prst="rect">
            <a:avLst/>
          </a:prstGeom>
          <a:noFill/>
          <a:ln/>
        </p:spPr>
        <p:txBody>
          <a:bodyPr wrap="square" lIns="0" tIns="0" rIns="0" bIns="0" rtlCol="0" anchor="ctr"/>
          <a:lstStyle/>
          <a:p>
            <a:pPr marL="0" indent="0">
              <a:buNone/>
            </a:pPr>
            <a:r>
              <a:rPr lang="en-US" sz="1600" b="1">
                <a:solidFill>
                  <a:srgbClr val="FFFFFF"/>
                </a:solidFill>
                <a:latin typeface="GT America" pitchFamily="34" charset="0"/>
                <a:ea typeface="GT America" pitchFamily="34" charset="-122"/>
                <a:cs typeface="GT America" pitchFamily="34" charset="-120"/>
              </a:rPr>
              <a:t>✓  IN SCOPE</a:t>
            </a:r>
            <a:endParaRPr lang="en-US" sz="1600"/>
          </a:p>
        </p:txBody>
      </p:sp>
      <p:sp>
        <p:nvSpPr>
          <p:cNvPr id="12" name="Shape 5">
            <a:extLst>
              <a:ext uri="{FF2B5EF4-FFF2-40B4-BE49-F238E27FC236}">
                <a16:creationId xmlns:a16="http://schemas.microsoft.com/office/drawing/2014/main" id="{0EC4F3CC-863B-4F48-4023-7FAE699A1413}"/>
              </a:ext>
            </a:extLst>
          </p:cNvPr>
          <p:cNvSpPr/>
          <p:nvPr/>
        </p:nvSpPr>
        <p:spPr>
          <a:xfrm>
            <a:off x="6505787" y="1147847"/>
            <a:ext cx="5248063" cy="346991"/>
          </a:xfrm>
          <a:prstGeom prst="rect">
            <a:avLst/>
          </a:prstGeom>
          <a:solidFill>
            <a:srgbClr val="8F8E87"/>
          </a:solidFill>
          <a:ln w="12700">
            <a:solidFill>
              <a:srgbClr val="8F8E87"/>
            </a:solidFill>
            <a:prstDash val="solid"/>
          </a:ln>
        </p:spPr>
        <p:txBody>
          <a:bodyPr/>
          <a:lstStyle/>
          <a:p>
            <a:endParaRPr lang="en-IN"/>
          </a:p>
        </p:txBody>
      </p:sp>
      <p:sp>
        <p:nvSpPr>
          <p:cNvPr id="13" name="Text 6">
            <a:extLst>
              <a:ext uri="{FF2B5EF4-FFF2-40B4-BE49-F238E27FC236}">
                <a16:creationId xmlns:a16="http://schemas.microsoft.com/office/drawing/2014/main" id="{6BEFE252-0883-7708-D00B-F14C4894525F}"/>
              </a:ext>
            </a:extLst>
          </p:cNvPr>
          <p:cNvSpPr/>
          <p:nvPr/>
        </p:nvSpPr>
        <p:spPr>
          <a:xfrm>
            <a:off x="6565424" y="1169534"/>
            <a:ext cx="5128789" cy="303618"/>
          </a:xfrm>
          <a:prstGeom prst="rect">
            <a:avLst/>
          </a:prstGeom>
          <a:noFill/>
          <a:ln/>
        </p:spPr>
        <p:txBody>
          <a:bodyPr wrap="square" lIns="0" tIns="0" rIns="0" bIns="0" rtlCol="0" anchor="ctr"/>
          <a:lstStyle/>
          <a:p>
            <a:pPr marL="0" indent="0">
              <a:buNone/>
            </a:pPr>
            <a:r>
              <a:rPr lang="en-US" sz="1600" b="1">
                <a:solidFill>
                  <a:srgbClr val="FFFFFF"/>
                </a:solidFill>
                <a:latin typeface="GT America" pitchFamily="34" charset="0"/>
                <a:ea typeface="GT America" pitchFamily="34" charset="-122"/>
                <a:cs typeface="GT America" pitchFamily="34" charset="-120"/>
              </a:rPr>
              <a:t>✗  OUT OF SCOPE</a:t>
            </a:r>
            <a:endParaRPr lang="en-US" sz="1600"/>
          </a:p>
        </p:txBody>
      </p:sp>
      <p:sp>
        <p:nvSpPr>
          <p:cNvPr id="14" name="Text 7">
            <a:extLst>
              <a:ext uri="{FF2B5EF4-FFF2-40B4-BE49-F238E27FC236}">
                <a16:creationId xmlns:a16="http://schemas.microsoft.com/office/drawing/2014/main" id="{D2EC92BC-E9E6-0EE7-3B78-7F39FD285ED9}"/>
              </a:ext>
            </a:extLst>
          </p:cNvPr>
          <p:cNvSpPr/>
          <p:nvPr/>
        </p:nvSpPr>
        <p:spPr>
          <a:xfrm>
            <a:off x="364438" y="1596681"/>
            <a:ext cx="5248063" cy="4023069"/>
          </a:xfrm>
          <a:prstGeom prst="rect">
            <a:avLst/>
          </a:prstGeom>
          <a:noFill/>
          <a:ln/>
        </p:spPr>
        <p:txBody>
          <a:bodyPr wrap="square" lIns="0" tIns="0" rIns="0" bIns="0" rtlCol="0" anchor="t"/>
          <a:lstStyle/>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Five submission type intake portal (New Order, Redraw, Trust Review, Supplemental Upload, Full Doc Prep redirect)</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Document ingestion pipeline - PDF extraction, OCR fallback, document classification</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AI extraction engine - ~140 fields across 6 document types with confidence scoring</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Business rules engine - Note, DOT, Title, Survey, HE, Rider rules, configurable without deployment</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Data Verification Report - cross-document comparison, mismatch flagging</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Dynamic queue - multi-office, multi-POD, rules-based prioritization</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SLA monitoring and alerting - 1-hour queue, 2-hour SLA, 30-minute inactivity alerts</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Legal Assistant QC Workbench - split-pane PDF highlighting, click-through verification</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Supplemental package generation - ClosingExpress wrapper service</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Release workflow - delivery to lender portal, API, or forwarded to title</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Client portal - authenticated submission, status tracking, release download</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Operational and SLA reporting suite</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Sage accounting integration - AR reconciliation</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LoanTrack data migration - open orders, lender master, 90-day history</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Document retention policy per lender - enforced automatically</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AI-ready platform foundation - schema, event stream, API stubs, feedback loop</a:t>
            </a:r>
            <a:endParaRPr lang="en-US" sz="1100"/>
          </a:p>
          <a:p>
            <a:pPr marL="171450" indent="-171450">
              <a:spcAft>
                <a:spcPts val="400"/>
              </a:spcAft>
              <a:buFont typeface="Arial" panose="020B0604020202020204" pitchFamily="34" charset="0"/>
              <a:buChar char="•"/>
            </a:pPr>
            <a:r>
              <a:rPr lang="en-US" sz="1100">
                <a:solidFill>
                  <a:srgbClr val="282828"/>
                </a:solidFill>
                <a:ea typeface="GT America" pitchFamily="34" charset="-122"/>
                <a:cs typeface="GT America" pitchFamily="34" charset="-120"/>
              </a:rPr>
              <a:t>Knowledge transfer and full operational documentation</a:t>
            </a:r>
            <a:endParaRPr lang="en-US" sz="1100"/>
          </a:p>
        </p:txBody>
      </p:sp>
      <p:sp>
        <p:nvSpPr>
          <p:cNvPr id="15" name="Text 8">
            <a:extLst>
              <a:ext uri="{FF2B5EF4-FFF2-40B4-BE49-F238E27FC236}">
                <a16:creationId xmlns:a16="http://schemas.microsoft.com/office/drawing/2014/main" id="{9C202EDF-6E2B-3DF6-2A39-C15928502D9F}"/>
              </a:ext>
            </a:extLst>
          </p:cNvPr>
          <p:cNvSpPr/>
          <p:nvPr/>
        </p:nvSpPr>
        <p:spPr>
          <a:xfrm>
            <a:off x="6565424" y="1596681"/>
            <a:ext cx="5188426" cy="3203919"/>
          </a:xfrm>
          <a:prstGeom prst="rect">
            <a:avLst/>
          </a:prstGeom>
          <a:noFill/>
          <a:ln/>
        </p:spPr>
        <p:txBody>
          <a:bodyPr wrap="square" lIns="0" tIns="0" rIns="0" bIns="0" rtlCol="0" anchor="t"/>
          <a:lstStyle/>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AI model development and implementation (platform is AI-ready, not AI-activated)</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EDM replacement</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err="1">
                <a:solidFill>
                  <a:schemeClr val="tx1">
                    <a:lumMod val="90000"/>
                    <a:lumOff val="10000"/>
                  </a:schemeClr>
                </a:solidFill>
                <a:ea typeface="GT America" pitchFamily="34" charset="-122"/>
                <a:cs typeface="GT America" pitchFamily="34" charset="-120"/>
              </a:rPr>
              <a:t>SecureDocs</a:t>
            </a:r>
            <a:r>
              <a:rPr lang="en-US" sz="1100">
                <a:solidFill>
                  <a:schemeClr val="tx1">
                    <a:lumMod val="90000"/>
                    <a:lumOff val="10000"/>
                  </a:schemeClr>
                </a:solidFill>
                <a:ea typeface="GT America" pitchFamily="34" charset="-122"/>
                <a:cs typeface="GT America" pitchFamily="34" charset="-120"/>
              </a:rPr>
              <a:t> replacement</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CRM / Lender Profiles (Salesforce-equivalent capabilities)</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HMDA data integration (FFIEC)</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Messaging replacing Outlook / internal email platform</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Text messaging to loan officers</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Mobile access for sales team</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MBA weekly applications survey integration</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Full Document Preparation engine (</a:t>
            </a:r>
            <a:r>
              <a:rPr lang="en-US" sz="1100" err="1">
                <a:solidFill>
                  <a:schemeClr val="tx1">
                    <a:lumMod val="90000"/>
                    <a:lumOff val="10000"/>
                  </a:schemeClr>
                </a:solidFill>
                <a:ea typeface="GT America" pitchFamily="34" charset="-122"/>
                <a:cs typeface="GT America" pitchFamily="34" charset="-120"/>
              </a:rPr>
              <a:t>LendingPad</a:t>
            </a:r>
            <a:r>
              <a:rPr lang="en-US" sz="1100">
                <a:solidFill>
                  <a:schemeClr val="tx1">
                    <a:lumMod val="90000"/>
                    <a:lumOff val="10000"/>
                  </a:schemeClr>
                </a:solidFill>
                <a:ea typeface="GT America" pitchFamily="34" charset="-122"/>
                <a:cs typeface="GT America" pitchFamily="34" charset="-120"/>
              </a:rPr>
              <a:t> redirect link only)</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Agreement generation and e-signature for client onboarding</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Hardware procurement and infrastructure costs</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Post go-live BAU support (separate engagement)</a:t>
            </a:r>
            <a:endParaRPr lang="en-US" sz="1100">
              <a:solidFill>
                <a:schemeClr val="tx1">
                  <a:lumMod val="90000"/>
                  <a:lumOff val="10000"/>
                </a:schemeClr>
              </a:solidFill>
            </a:endParaRPr>
          </a:p>
          <a:p>
            <a:pPr marL="171450" indent="-171450">
              <a:spcAft>
                <a:spcPts val="400"/>
              </a:spcAft>
              <a:buFont typeface="Arial" panose="020B0604020202020204" pitchFamily="34" charset="0"/>
              <a:buChar char="•"/>
            </a:pPr>
            <a:r>
              <a:rPr lang="en-US" sz="1100">
                <a:solidFill>
                  <a:schemeClr val="tx1">
                    <a:lumMod val="90000"/>
                    <a:lumOff val="10000"/>
                  </a:schemeClr>
                </a:solidFill>
                <a:ea typeface="GT America" pitchFamily="34" charset="-122"/>
                <a:cs typeface="GT America" pitchFamily="34" charset="-120"/>
              </a:rPr>
              <a:t>Staffing prediction modelling</a:t>
            </a:r>
            <a:endParaRPr lang="en-US" sz="1100">
              <a:solidFill>
                <a:schemeClr val="tx1">
                  <a:lumMod val="90000"/>
                  <a:lumOff val="10000"/>
                </a:schemeClr>
              </a:solidFill>
            </a:endParaRPr>
          </a:p>
        </p:txBody>
      </p:sp>
    </p:spTree>
    <p:extLst>
      <p:ext uri="{BB962C8B-B14F-4D97-AF65-F5344CB8AC3E}">
        <p14:creationId xmlns:p14="http://schemas.microsoft.com/office/powerpoint/2010/main" val="125810417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8748B-AE49-1083-3E36-4FE7F9D488DB}"/>
              </a:ext>
            </a:extLst>
          </p:cNvPr>
          <p:cNvSpPr>
            <a:spLocks noGrp="1"/>
          </p:cNvSpPr>
          <p:nvPr>
            <p:ph type="title"/>
          </p:nvPr>
        </p:nvSpPr>
        <p:spPr/>
        <p:txBody>
          <a:bodyPr/>
          <a:lstStyle/>
          <a:p>
            <a:r>
              <a:rPr lang="en-IN"/>
              <a:t>Tier 2 - Post-MVP</a:t>
            </a:r>
          </a:p>
        </p:txBody>
      </p:sp>
      <p:sp>
        <p:nvSpPr>
          <p:cNvPr id="3" name="Text Placeholder 2">
            <a:extLst>
              <a:ext uri="{FF2B5EF4-FFF2-40B4-BE49-F238E27FC236}">
                <a16:creationId xmlns:a16="http://schemas.microsoft.com/office/drawing/2014/main" id="{FF851781-4BEA-9646-6039-71A0AA02BC24}"/>
              </a:ext>
            </a:extLst>
          </p:cNvPr>
          <p:cNvSpPr>
            <a:spLocks noGrp="1"/>
          </p:cNvSpPr>
          <p:nvPr>
            <p:ph type="body" sz="quarter" idx="11"/>
          </p:nvPr>
        </p:nvSpPr>
        <p:spPr/>
        <p:txBody>
          <a:bodyPr/>
          <a:lstStyle/>
          <a:p>
            <a:r>
              <a:rPr lang="en-IN"/>
              <a:t>Nice-to-Have Enhancements</a:t>
            </a:r>
          </a:p>
        </p:txBody>
      </p:sp>
      <p:grpSp>
        <p:nvGrpSpPr>
          <p:cNvPr id="34" name="Group 33">
            <a:extLst>
              <a:ext uri="{FF2B5EF4-FFF2-40B4-BE49-F238E27FC236}">
                <a16:creationId xmlns:a16="http://schemas.microsoft.com/office/drawing/2014/main" id="{7545F8E5-7A81-EC6C-BBF0-81E7E8DE4DDD}"/>
              </a:ext>
            </a:extLst>
          </p:cNvPr>
          <p:cNvGrpSpPr/>
          <p:nvPr/>
        </p:nvGrpSpPr>
        <p:grpSpPr>
          <a:xfrm>
            <a:off x="304800" y="1397127"/>
            <a:ext cx="11429999" cy="4708398"/>
            <a:chOff x="457200" y="1444752"/>
            <a:chExt cx="8366760" cy="3419856"/>
          </a:xfrm>
        </p:grpSpPr>
        <p:sp>
          <p:nvSpPr>
            <p:cNvPr id="4" name="Shape 4">
              <a:extLst>
                <a:ext uri="{FF2B5EF4-FFF2-40B4-BE49-F238E27FC236}">
                  <a16:creationId xmlns:a16="http://schemas.microsoft.com/office/drawing/2014/main" id="{DBC3DBD3-6262-C9B6-6A03-702A2F875759}"/>
                </a:ext>
              </a:extLst>
            </p:cNvPr>
            <p:cNvSpPr/>
            <p:nvPr/>
          </p:nvSpPr>
          <p:spPr>
            <a:xfrm>
              <a:off x="457200" y="1444752"/>
              <a:ext cx="4023360" cy="1078992"/>
            </a:xfrm>
            <a:prstGeom prst="rect">
              <a:avLst/>
            </a:prstGeom>
            <a:solidFill>
              <a:srgbClr val="EFEFEE"/>
            </a:solidFill>
            <a:ln w="6350">
              <a:solidFill>
                <a:srgbClr val="D8D8CE"/>
              </a:solidFill>
              <a:prstDash val="solid"/>
            </a:ln>
          </p:spPr>
          <p:txBody>
            <a:bodyPr/>
            <a:lstStyle/>
            <a:p>
              <a:endParaRPr lang="en-IN" sz="3200"/>
            </a:p>
          </p:txBody>
        </p:sp>
        <p:sp>
          <p:nvSpPr>
            <p:cNvPr id="5" name="Shape 5">
              <a:extLst>
                <a:ext uri="{FF2B5EF4-FFF2-40B4-BE49-F238E27FC236}">
                  <a16:creationId xmlns:a16="http://schemas.microsoft.com/office/drawing/2014/main" id="{A1F18B3E-347E-C037-056E-350E74985902}"/>
                </a:ext>
              </a:extLst>
            </p:cNvPr>
            <p:cNvSpPr/>
            <p:nvPr/>
          </p:nvSpPr>
          <p:spPr>
            <a:xfrm>
              <a:off x="457200" y="1444752"/>
              <a:ext cx="54864" cy="1078992"/>
            </a:xfrm>
            <a:prstGeom prst="rect">
              <a:avLst/>
            </a:prstGeom>
            <a:solidFill>
              <a:srgbClr val="00B8BB"/>
            </a:solidFill>
            <a:ln w="12700">
              <a:solidFill>
                <a:srgbClr val="00B8BB"/>
              </a:solidFill>
              <a:prstDash val="solid"/>
            </a:ln>
          </p:spPr>
          <p:txBody>
            <a:bodyPr/>
            <a:lstStyle/>
            <a:p>
              <a:endParaRPr lang="en-IN" sz="3200"/>
            </a:p>
          </p:txBody>
        </p:sp>
        <p:sp>
          <p:nvSpPr>
            <p:cNvPr id="6" name="Text 6">
              <a:extLst>
                <a:ext uri="{FF2B5EF4-FFF2-40B4-BE49-F238E27FC236}">
                  <a16:creationId xmlns:a16="http://schemas.microsoft.com/office/drawing/2014/main" id="{2B5481CC-BAF0-448F-0B50-E1CB6E22A261}"/>
                </a:ext>
              </a:extLst>
            </p:cNvPr>
            <p:cNvSpPr/>
            <p:nvPr/>
          </p:nvSpPr>
          <p:spPr>
            <a:xfrm>
              <a:off x="594360" y="1517904"/>
              <a:ext cx="365760" cy="256032"/>
            </a:xfrm>
            <a:prstGeom prst="rect">
              <a:avLst/>
            </a:prstGeom>
            <a:noFill/>
            <a:ln/>
          </p:spPr>
          <p:txBody>
            <a:bodyPr wrap="square" lIns="0" tIns="0" rIns="0" bIns="0" rtlCol="0" anchor="ctr"/>
            <a:lstStyle/>
            <a:p>
              <a:pPr marL="0" indent="0">
                <a:buNone/>
              </a:pPr>
              <a:r>
                <a:rPr lang="en-US" sz="2400">
                  <a:solidFill>
                    <a:srgbClr val="C1BFB8"/>
                  </a:solidFill>
                  <a:ea typeface="Neue Machina Plain" pitchFamily="34" charset="-122"/>
                  <a:cs typeface="Neue Machina Plain" pitchFamily="34" charset="-120"/>
                </a:rPr>
                <a:t>01</a:t>
              </a:r>
              <a:endParaRPr lang="en-US" sz="2400"/>
            </a:p>
          </p:txBody>
        </p:sp>
        <p:sp>
          <p:nvSpPr>
            <p:cNvPr id="7" name="Text 7">
              <a:extLst>
                <a:ext uri="{FF2B5EF4-FFF2-40B4-BE49-F238E27FC236}">
                  <a16:creationId xmlns:a16="http://schemas.microsoft.com/office/drawing/2014/main" id="{F79AADA1-2E61-C94A-7F87-6E085D67AA06}"/>
                </a:ext>
              </a:extLst>
            </p:cNvPr>
            <p:cNvSpPr/>
            <p:nvPr/>
          </p:nvSpPr>
          <p:spPr>
            <a:xfrm>
              <a:off x="594360" y="1792224"/>
              <a:ext cx="3794760" cy="237744"/>
            </a:xfrm>
            <a:prstGeom prst="rect">
              <a:avLst/>
            </a:prstGeom>
            <a:noFill/>
            <a:ln/>
          </p:spPr>
          <p:txBody>
            <a:bodyPr wrap="square" lIns="0" tIns="0" rIns="0" bIns="0" rtlCol="0" anchor="ctr"/>
            <a:lstStyle/>
            <a:p>
              <a:pPr marL="0" indent="0">
                <a:buNone/>
              </a:pPr>
              <a:r>
                <a:rPr lang="en-US" b="1">
                  <a:solidFill>
                    <a:srgbClr val="024854"/>
                  </a:solidFill>
                  <a:ea typeface="GT America" pitchFamily="34" charset="-122"/>
                  <a:cs typeface="GT America" pitchFamily="34" charset="-120"/>
                </a:rPr>
                <a:t>Client Portal Messaging</a:t>
              </a:r>
              <a:endParaRPr lang="en-US"/>
            </a:p>
          </p:txBody>
        </p:sp>
        <p:sp>
          <p:nvSpPr>
            <p:cNvPr id="8" name="Text 8">
              <a:extLst>
                <a:ext uri="{FF2B5EF4-FFF2-40B4-BE49-F238E27FC236}">
                  <a16:creationId xmlns:a16="http://schemas.microsoft.com/office/drawing/2014/main" id="{3A14723B-64C8-696C-8F54-1DE9C1FF733C}"/>
                </a:ext>
              </a:extLst>
            </p:cNvPr>
            <p:cNvSpPr/>
            <p:nvPr/>
          </p:nvSpPr>
          <p:spPr>
            <a:xfrm>
              <a:off x="594360" y="2048256"/>
              <a:ext cx="3794760" cy="411480"/>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Direct messaging to assigned staff member, manager, or attorney group from within the portal.</a:t>
              </a:r>
              <a:endParaRPr lang="en-US" sz="1200"/>
            </a:p>
          </p:txBody>
        </p:sp>
        <p:sp>
          <p:nvSpPr>
            <p:cNvPr id="9" name="Shape 9">
              <a:extLst>
                <a:ext uri="{FF2B5EF4-FFF2-40B4-BE49-F238E27FC236}">
                  <a16:creationId xmlns:a16="http://schemas.microsoft.com/office/drawing/2014/main" id="{68B43274-E7FB-FD89-5970-0FE71FE9E492}"/>
                </a:ext>
              </a:extLst>
            </p:cNvPr>
            <p:cNvSpPr/>
            <p:nvPr/>
          </p:nvSpPr>
          <p:spPr>
            <a:xfrm>
              <a:off x="4800600" y="1444752"/>
              <a:ext cx="4023360" cy="1078992"/>
            </a:xfrm>
            <a:prstGeom prst="rect">
              <a:avLst/>
            </a:prstGeom>
            <a:solidFill>
              <a:srgbClr val="EFEFEE"/>
            </a:solidFill>
            <a:ln w="6350">
              <a:solidFill>
                <a:srgbClr val="D8D8CE"/>
              </a:solidFill>
              <a:prstDash val="solid"/>
            </a:ln>
          </p:spPr>
          <p:txBody>
            <a:bodyPr/>
            <a:lstStyle/>
            <a:p>
              <a:endParaRPr lang="en-IN" sz="3200"/>
            </a:p>
          </p:txBody>
        </p:sp>
        <p:sp>
          <p:nvSpPr>
            <p:cNvPr id="10" name="Shape 10">
              <a:extLst>
                <a:ext uri="{FF2B5EF4-FFF2-40B4-BE49-F238E27FC236}">
                  <a16:creationId xmlns:a16="http://schemas.microsoft.com/office/drawing/2014/main" id="{A539FFF8-6375-9625-6D23-700F82BC760F}"/>
                </a:ext>
              </a:extLst>
            </p:cNvPr>
            <p:cNvSpPr/>
            <p:nvPr/>
          </p:nvSpPr>
          <p:spPr>
            <a:xfrm>
              <a:off x="4800600" y="1444752"/>
              <a:ext cx="54864" cy="1078992"/>
            </a:xfrm>
            <a:prstGeom prst="rect">
              <a:avLst/>
            </a:prstGeom>
            <a:solidFill>
              <a:srgbClr val="00B8BB"/>
            </a:solidFill>
            <a:ln w="12700">
              <a:solidFill>
                <a:srgbClr val="00B8BB"/>
              </a:solidFill>
              <a:prstDash val="solid"/>
            </a:ln>
          </p:spPr>
          <p:txBody>
            <a:bodyPr/>
            <a:lstStyle/>
            <a:p>
              <a:endParaRPr lang="en-IN" sz="3200"/>
            </a:p>
          </p:txBody>
        </p:sp>
        <p:sp>
          <p:nvSpPr>
            <p:cNvPr id="11" name="Text 11">
              <a:extLst>
                <a:ext uri="{FF2B5EF4-FFF2-40B4-BE49-F238E27FC236}">
                  <a16:creationId xmlns:a16="http://schemas.microsoft.com/office/drawing/2014/main" id="{E34A66FB-14B6-3864-3852-24542522BBC7}"/>
                </a:ext>
              </a:extLst>
            </p:cNvPr>
            <p:cNvSpPr/>
            <p:nvPr/>
          </p:nvSpPr>
          <p:spPr>
            <a:xfrm>
              <a:off x="4937760" y="1517904"/>
              <a:ext cx="365760" cy="256032"/>
            </a:xfrm>
            <a:prstGeom prst="rect">
              <a:avLst/>
            </a:prstGeom>
            <a:noFill/>
            <a:ln/>
          </p:spPr>
          <p:txBody>
            <a:bodyPr wrap="square" lIns="0" tIns="0" rIns="0" bIns="0" rtlCol="0" anchor="ctr"/>
            <a:lstStyle/>
            <a:p>
              <a:pPr marL="0" indent="0">
                <a:buNone/>
              </a:pPr>
              <a:r>
                <a:rPr lang="en-US" sz="2400">
                  <a:solidFill>
                    <a:srgbClr val="C1BFB8"/>
                  </a:solidFill>
                  <a:ea typeface="Neue Machina Plain" pitchFamily="34" charset="-122"/>
                  <a:cs typeface="Neue Machina Plain" pitchFamily="34" charset="-120"/>
                </a:rPr>
                <a:t>02</a:t>
              </a:r>
              <a:endParaRPr lang="en-US" sz="2400"/>
            </a:p>
          </p:txBody>
        </p:sp>
        <p:sp>
          <p:nvSpPr>
            <p:cNvPr id="12" name="Text 12">
              <a:extLst>
                <a:ext uri="{FF2B5EF4-FFF2-40B4-BE49-F238E27FC236}">
                  <a16:creationId xmlns:a16="http://schemas.microsoft.com/office/drawing/2014/main" id="{E831BB59-2C1E-79F9-833C-6809B3DA6DB6}"/>
                </a:ext>
              </a:extLst>
            </p:cNvPr>
            <p:cNvSpPr/>
            <p:nvPr/>
          </p:nvSpPr>
          <p:spPr>
            <a:xfrm>
              <a:off x="4937760" y="1792224"/>
              <a:ext cx="3794760" cy="237744"/>
            </a:xfrm>
            <a:prstGeom prst="rect">
              <a:avLst/>
            </a:prstGeom>
            <a:noFill/>
            <a:ln/>
          </p:spPr>
          <p:txBody>
            <a:bodyPr wrap="square" lIns="0" tIns="0" rIns="0" bIns="0" rtlCol="0" anchor="ctr"/>
            <a:lstStyle/>
            <a:p>
              <a:pPr marL="0" indent="0">
                <a:buNone/>
              </a:pPr>
              <a:r>
                <a:rPr lang="en-US" b="1">
                  <a:solidFill>
                    <a:srgbClr val="024854"/>
                  </a:solidFill>
                  <a:ea typeface="GT America" pitchFamily="34" charset="-122"/>
                  <a:cs typeface="GT America" pitchFamily="34" charset="-120"/>
                </a:rPr>
                <a:t>API Embedding</a:t>
              </a:r>
              <a:endParaRPr lang="en-US"/>
            </a:p>
          </p:txBody>
        </p:sp>
        <p:sp>
          <p:nvSpPr>
            <p:cNvPr id="13" name="Text 13">
              <a:extLst>
                <a:ext uri="{FF2B5EF4-FFF2-40B4-BE49-F238E27FC236}">
                  <a16:creationId xmlns:a16="http://schemas.microsoft.com/office/drawing/2014/main" id="{AD05C791-EA5D-5F72-106D-2268CA0C5E17}"/>
                </a:ext>
              </a:extLst>
            </p:cNvPr>
            <p:cNvSpPr/>
            <p:nvPr/>
          </p:nvSpPr>
          <p:spPr>
            <a:xfrm>
              <a:off x="4937760" y="2048256"/>
              <a:ext cx="3794760" cy="411480"/>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API embedding of portal in lender's own system.</a:t>
              </a:r>
              <a:endParaRPr lang="en-US" sz="1200"/>
            </a:p>
          </p:txBody>
        </p:sp>
        <p:sp>
          <p:nvSpPr>
            <p:cNvPr id="14" name="Shape 14">
              <a:extLst>
                <a:ext uri="{FF2B5EF4-FFF2-40B4-BE49-F238E27FC236}">
                  <a16:creationId xmlns:a16="http://schemas.microsoft.com/office/drawing/2014/main" id="{FB36C4AB-5700-4FFF-652F-AB5BA49BE786}"/>
                </a:ext>
              </a:extLst>
            </p:cNvPr>
            <p:cNvSpPr/>
            <p:nvPr/>
          </p:nvSpPr>
          <p:spPr>
            <a:xfrm>
              <a:off x="457200" y="2615184"/>
              <a:ext cx="4023360" cy="1078992"/>
            </a:xfrm>
            <a:prstGeom prst="rect">
              <a:avLst/>
            </a:prstGeom>
            <a:solidFill>
              <a:srgbClr val="EFEFEE"/>
            </a:solidFill>
            <a:ln w="6350">
              <a:solidFill>
                <a:srgbClr val="D8D8CE"/>
              </a:solidFill>
              <a:prstDash val="solid"/>
            </a:ln>
          </p:spPr>
          <p:txBody>
            <a:bodyPr/>
            <a:lstStyle/>
            <a:p>
              <a:endParaRPr lang="en-IN" sz="3200"/>
            </a:p>
          </p:txBody>
        </p:sp>
        <p:sp>
          <p:nvSpPr>
            <p:cNvPr id="15" name="Shape 15">
              <a:extLst>
                <a:ext uri="{FF2B5EF4-FFF2-40B4-BE49-F238E27FC236}">
                  <a16:creationId xmlns:a16="http://schemas.microsoft.com/office/drawing/2014/main" id="{9B5BC45B-B198-74A8-3555-07254414520C}"/>
                </a:ext>
              </a:extLst>
            </p:cNvPr>
            <p:cNvSpPr/>
            <p:nvPr/>
          </p:nvSpPr>
          <p:spPr>
            <a:xfrm>
              <a:off x="457200" y="2615184"/>
              <a:ext cx="54864" cy="1078992"/>
            </a:xfrm>
            <a:prstGeom prst="rect">
              <a:avLst/>
            </a:prstGeom>
            <a:solidFill>
              <a:srgbClr val="00B8BB"/>
            </a:solidFill>
            <a:ln w="12700">
              <a:solidFill>
                <a:srgbClr val="00B8BB"/>
              </a:solidFill>
              <a:prstDash val="solid"/>
            </a:ln>
          </p:spPr>
          <p:txBody>
            <a:bodyPr/>
            <a:lstStyle/>
            <a:p>
              <a:endParaRPr lang="en-IN" sz="3200"/>
            </a:p>
          </p:txBody>
        </p:sp>
        <p:sp>
          <p:nvSpPr>
            <p:cNvPr id="16" name="Text 16">
              <a:extLst>
                <a:ext uri="{FF2B5EF4-FFF2-40B4-BE49-F238E27FC236}">
                  <a16:creationId xmlns:a16="http://schemas.microsoft.com/office/drawing/2014/main" id="{E28AD18F-AD23-2D6C-9B0F-FF27591D4981}"/>
                </a:ext>
              </a:extLst>
            </p:cNvPr>
            <p:cNvSpPr/>
            <p:nvPr/>
          </p:nvSpPr>
          <p:spPr>
            <a:xfrm>
              <a:off x="594360" y="2688336"/>
              <a:ext cx="365760" cy="256032"/>
            </a:xfrm>
            <a:prstGeom prst="rect">
              <a:avLst/>
            </a:prstGeom>
            <a:noFill/>
            <a:ln/>
          </p:spPr>
          <p:txBody>
            <a:bodyPr wrap="square" lIns="0" tIns="0" rIns="0" bIns="0" rtlCol="0" anchor="ctr"/>
            <a:lstStyle/>
            <a:p>
              <a:pPr marL="0" indent="0">
                <a:buNone/>
              </a:pPr>
              <a:r>
                <a:rPr lang="en-US" sz="2400">
                  <a:solidFill>
                    <a:srgbClr val="C1BFB8"/>
                  </a:solidFill>
                  <a:ea typeface="Neue Machina Plain" pitchFamily="34" charset="-122"/>
                  <a:cs typeface="Neue Machina Plain" pitchFamily="34" charset="-120"/>
                </a:rPr>
                <a:t>03</a:t>
              </a:r>
              <a:endParaRPr lang="en-US" sz="2400"/>
            </a:p>
          </p:txBody>
        </p:sp>
        <p:sp>
          <p:nvSpPr>
            <p:cNvPr id="17" name="Text 17">
              <a:extLst>
                <a:ext uri="{FF2B5EF4-FFF2-40B4-BE49-F238E27FC236}">
                  <a16:creationId xmlns:a16="http://schemas.microsoft.com/office/drawing/2014/main" id="{9E2D23A3-21CA-1EBB-06D2-AB64BD0753CE}"/>
                </a:ext>
              </a:extLst>
            </p:cNvPr>
            <p:cNvSpPr/>
            <p:nvPr/>
          </p:nvSpPr>
          <p:spPr>
            <a:xfrm>
              <a:off x="594360" y="2962656"/>
              <a:ext cx="3794760" cy="237744"/>
            </a:xfrm>
            <a:prstGeom prst="rect">
              <a:avLst/>
            </a:prstGeom>
            <a:noFill/>
            <a:ln/>
          </p:spPr>
          <p:txBody>
            <a:bodyPr wrap="square" lIns="0" tIns="0" rIns="0" bIns="0" rtlCol="0" anchor="ctr"/>
            <a:lstStyle/>
            <a:p>
              <a:pPr marL="0" indent="0">
                <a:buNone/>
              </a:pPr>
              <a:r>
                <a:rPr lang="en-US" b="1">
                  <a:solidFill>
                    <a:srgbClr val="024854"/>
                  </a:solidFill>
                  <a:ea typeface="GT America" pitchFamily="34" charset="-122"/>
                  <a:cs typeface="GT America" pitchFamily="34" charset="-120"/>
                </a:rPr>
                <a:t>Staffing Prediction</a:t>
              </a:r>
              <a:endParaRPr lang="en-US"/>
            </a:p>
          </p:txBody>
        </p:sp>
        <p:sp>
          <p:nvSpPr>
            <p:cNvPr id="18" name="Text 18">
              <a:extLst>
                <a:ext uri="{FF2B5EF4-FFF2-40B4-BE49-F238E27FC236}">
                  <a16:creationId xmlns:a16="http://schemas.microsoft.com/office/drawing/2014/main" id="{227B02C2-B727-00D7-DB28-5F491086975B}"/>
                </a:ext>
              </a:extLst>
            </p:cNvPr>
            <p:cNvSpPr/>
            <p:nvPr/>
          </p:nvSpPr>
          <p:spPr>
            <a:xfrm>
              <a:off x="594360" y="3218688"/>
              <a:ext cx="3794760" cy="411480"/>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Staffing prediction based on historical volume and MBA weekly applications data.</a:t>
              </a:r>
              <a:endParaRPr lang="en-US" sz="1200"/>
            </a:p>
          </p:txBody>
        </p:sp>
        <p:sp>
          <p:nvSpPr>
            <p:cNvPr id="19" name="Shape 19">
              <a:extLst>
                <a:ext uri="{FF2B5EF4-FFF2-40B4-BE49-F238E27FC236}">
                  <a16:creationId xmlns:a16="http://schemas.microsoft.com/office/drawing/2014/main" id="{AE90DDD4-859B-1BFD-6F50-9EBE4EA62822}"/>
                </a:ext>
              </a:extLst>
            </p:cNvPr>
            <p:cNvSpPr/>
            <p:nvPr/>
          </p:nvSpPr>
          <p:spPr>
            <a:xfrm>
              <a:off x="4800600" y="2615184"/>
              <a:ext cx="4023360" cy="1078992"/>
            </a:xfrm>
            <a:prstGeom prst="rect">
              <a:avLst/>
            </a:prstGeom>
            <a:solidFill>
              <a:srgbClr val="EFEFEE"/>
            </a:solidFill>
            <a:ln w="6350">
              <a:solidFill>
                <a:srgbClr val="D8D8CE"/>
              </a:solidFill>
              <a:prstDash val="solid"/>
            </a:ln>
          </p:spPr>
          <p:txBody>
            <a:bodyPr/>
            <a:lstStyle/>
            <a:p>
              <a:endParaRPr lang="en-IN" sz="3200"/>
            </a:p>
          </p:txBody>
        </p:sp>
        <p:sp>
          <p:nvSpPr>
            <p:cNvPr id="20" name="Shape 20">
              <a:extLst>
                <a:ext uri="{FF2B5EF4-FFF2-40B4-BE49-F238E27FC236}">
                  <a16:creationId xmlns:a16="http://schemas.microsoft.com/office/drawing/2014/main" id="{C16B79B7-04E4-EE44-6E88-B8AA74978C1D}"/>
                </a:ext>
              </a:extLst>
            </p:cNvPr>
            <p:cNvSpPr/>
            <p:nvPr/>
          </p:nvSpPr>
          <p:spPr>
            <a:xfrm>
              <a:off x="4800600" y="2615184"/>
              <a:ext cx="54864" cy="1078992"/>
            </a:xfrm>
            <a:prstGeom prst="rect">
              <a:avLst/>
            </a:prstGeom>
            <a:solidFill>
              <a:srgbClr val="00B8BB"/>
            </a:solidFill>
            <a:ln w="12700">
              <a:solidFill>
                <a:srgbClr val="00B8BB"/>
              </a:solidFill>
              <a:prstDash val="solid"/>
            </a:ln>
          </p:spPr>
          <p:txBody>
            <a:bodyPr/>
            <a:lstStyle/>
            <a:p>
              <a:endParaRPr lang="en-IN" sz="3200"/>
            </a:p>
          </p:txBody>
        </p:sp>
        <p:sp>
          <p:nvSpPr>
            <p:cNvPr id="21" name="Text 21">
              <a:extLst>
                <a:ext uri="{FF2B5EF4-FFF2-40B4-BE49-F238E27FC236}">
                  <a16:creationId xmlns:a16="http://schemas.microsoft.com/office/drawing/2014/main" id="{A9D6EF6F-3068-DFAF-BFAF-7DD1D1C5037D}"/>
                </a:ext>
              </a:extLst>
            </p:cNvPr>
            <p:cNvSpPr/>
            <p:nvPr/>
          </p:nvSpPr>
          <p:spPr>
            <a:xfrm>
              <a:off x="4937760" y="2688336"/>
              <a:ext cx="365760" cy="256032"/>
            </a:xfrm>
            <a:prstGeom prst="rect">
              <a:avLst/>
            </a:prstGeom>
            <a:noFill/>
            <a:ln/>
          </p:spPr>
          <p:txBody>
            <a:bodyPr wrap="square" lIns="0" tIns="0" rIns="0" bIns="0" rtlCol="0" anchor="ctr"/>
            <a:lstStyle/>
            <a:p>
              <a:pPr marL="0" indent="0">
                <a:buNone/>
              </a:pPr>
              <a:r>
                <a:rPr lang="en-US" sz="2400">
                  <a:solidFill>
                    <a:srgbClr val="C1BFB8"/>
                  </a:solidFill>
                  <a:ea typeface="Neue Machina Plain" pitchFamily="34" charset="-122"/>
                  <a:cs typeface="Neue Machina Plain" pitchFamily="34" charset="-120"/>
                </a:rPr>
                <a:t>04</a:t>
              </a:r>
              <a:endParaRPr lang="en-US" sz="2400"/>
            </a:p>
          </p:txBody>
        </p:sp>
        <p:sp>
          <p:nvSpPr>
            <p:cNvPr id="22" name="Text 22">
              <a:extLst>
                <a:ext uri="{FF2B5EF4-FFF2-40B4-BE49-F238E27FC236}">
                  <a16:creationId xmlns:a16="http://schemas.microsoft.com/office/drawing/2014/main" id="{138E0544-5111-A6AE-AEF9-E260FD22AE81}"/>
                </a:ext>
              </a:extLst>
            </p:cNvPr>
            <p:cNvSpPr/>
            <p:nvPr/>
          </p:nvSpPr>
          <p:spPr>
            <a:xfrm>
              <a:off x="4937760" y="2962656"/>
              <a:ext cx="3794760" cy="237744"/>
            </a:xfrm>
            <a:prstGeom prst="rect">
              <a:avLst/>
            </a:prstGeom>
            <a:noFill/>
            <a:ln/>
          </p:spPr>
          <p:txBody>
            <a:bodyPr wrap="square" lIns="0" tIns="0" rIns="0" bIns="0" rtlCol="0" anchor="ctr"/>
            <a:lstStyle/>
            <a:p>
              <a:pPr marL="0" indent="0">
                <a:buNone/>
              </a:pPr>
              <a:r>
                <a:rPr lang="en-US" b="1">
                  <a:solidFill>
                    <a:srgbClr val="024854"/>
                  </a:solidFill>
                  <a:ea typeface="GT America" pitchFamily="34" charset="-122"/>
                  <a:cs typeface="GT America" pitchFamily="34" charset="-120"/>
                </a:rPr>
                <a:t>YTD / MTD Comparison Reporting</a:t>
              </a:r>
              <a:endParaRPr lang="en-US"/>
            </a:p>
          </p:txBody>
        </p:sp>
        <p:sp>
          <p:nvSpPr>
            <p:cNvPr id="23" name="Text 23">
              <a:extLst>
                <a:ext uri="{FF2B5EF4-FFF2-40B4-BE49-F238E27FC236}">
                  <a16:creationId xmlns:a16="http://schemas.microsoft.com/office/drawing/2014/main" id="{D4B9DC1F-8B35-40D7-2A82-7D3431846881}"/>
                </a:ext>
              </a:extLst>
            </p:cNvPr>
            <p:cNvSpPr/>
            <p:nvPr/>
          </p:nvSpPr>
          <p:spPr>
            <a:xfrm>
              <a:off x="4937760" y="3218688"/>
              <a:ext cx="3794760" cy="411480"/>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YTD/MTD comparison reporting to prior year.</a:t>
              </a:r>
              <a:endParaRPr lang="en-US" sz="1200"/>
            </a:p>
          </p:txBody>
        </p:sp>
        <p:sp>
          <p:nvSpPr>
            <p:cNvPr id="24" name="Shape 24">
              <a:extLst>
                <a:ext uri="{FF2B5EF4-FFF2-40B4-BE49-F238E27FC236}">
                  <a16:creationId xmlns:a16="http://schemas.microsoft.com/office/drawing/2014/main" id="{D710417D-1499-40CF-AA47-7DBAF008A1F6}"/>
                </a:ext>
              </a:extLst>
            </p:cNvPr>
            <p:cNvSpPr/>
            <p:nvPr/>
          </p:nvSpPr>
          <p:spPr>
            <a:xfrm>
              <a:off x="457200" y="3785616"/>
              <a:ext cx="4023360" cy="1078992"/>
            </a:xfrm>
            <a:prstGeom prst="rect">
              <a:avLst/>
            </a:prstGeom>
            <a:solidFill>
              <a:srgbClr val="EFEFEE"/>
            </a:solidFill>
            <a:ln w="6350">
              <a:solidFill>
                <a:srgbClr val="D8D8CE"/>
              </a:solidFill>
              <a:prstDash val="solid"/>
            </a:ln>
          </p:spPr>
          <p:txBody>
            <a:bodyPr/>
            <a:lstStyle/>
            <a:p>
              <a:endParaRPr lang="en-IN" sz="3200"/>
            </a:p>
          </p:txBody>
        </p:sp>
        <p:sp>
          <p:nvSpPr>
            <p:cNvPr id="25" name="Shape 25">
              <a:extLst>
                <a:ext uri="{FF2B5EF4-FFF2-40B4-BE49-F238E27FC236}">
                  <a16:creationId xmlns:a16="http://schemas.microsoft.com/office/drawing/2014/main" id="{94AF11EF-7A32-F698-2538-CEF1907E4C59}"/>
                </a:ext>
              </a:extLst>
            </p:cNvPr>
            <p:cNvSpPr/>
            <p:nvPr/>
          </p:nvSpPr>
          <p:spPr>
            <a:xfrm>
              <a:off x="457200" y="3785616"/>
              <a:ext cx="54864" cy="1078992"/>
            </a:xfrm>
            <a:prstGeom prst="rect">
              <a:avLst/>
            </a:prstGeom>
            <a:solidFill>
              <a:srgbClr val="00B8BB"/>
            </a:solidFill>
            <a:ln w="12700">
              <a:solidFill>
                <a:srgbClr val="00B8BB"/>
              </a:solidFill>
              <a:prstDash val="solid"/>
            </a:ln>
          </p:spPr>
          <p:txBody>
            <a:bodyPr/>
            <a:lstStyle/>
            <a:p>
              <a:endParaRPr lang="en-IN" sz="3200"/>
            </a:p>
          </p:txBody>
        </p:sp>
        <p:sp>
          <p:nvSpPr>
            <p:cNvPr id="26" name="Text 26">
              <a:extLst>
                <a:ext uri="{FF2B5EF4-FFF2-40B4-BE49-F238E27FC236}">
                  <a16:creationId xmlns:a16="http://schemas.microsoft.com/office/drawing/2014/main" id="{B5121A19-2B01-EFF8-0B2D-3525D710F29E}"/>
                </a:ext>
              </a:extLst>
            </p:cNvPr>
            <p:cNvSpPr/>
            <p:nvPr/>
          </p:nvSpPr>
          <p:spPr>
            <a:xfrm>
              <a:off x="594360" y="3858768"/>
              <a:ext cx="365760" cy="256032"/>
            </a:xfrm>
            <a:prstGeom prst="rect">
              <a:avLst/>
            </a:prstGeom>
            <a:noFill/>
            <a:ln/>
          </p:spPr>
          <p:txBody>
            <a:bodyPr wrap="square" lIns="0" tIns="0" rIns="0" bIns="0" rtlCol="0" anchor="ctr"/>
            <a:lstStyle/>
            <a:p>
              <a:pPr marL="0" indent="0">
                <a:buNone/>
              </a:pPr>
              <a:r>
                <a:rPr lang="en-US" sz="2400">
                  <a:solidFill>
                    <a:srgbClr val="C1BFB8"/>
                  </a:solidFill>
                  <a:ea typeface="Neue Machina Plain" pitchFamily="34" charset="-122"/>
                  <a:cs typeface="Neue Machina Plain" pitchFamily="34" charset="-120"/>
                </a:rPr>
                <a:t>05</a:t>
              </a:r>
              <a:endParaRPr lang="en-US" sz="2400"/>
            </a:p>
          </p:txBody>
        </p:sp>
        <p:sp>
          <p:nvSpPr>
            <p:cNvPr id="27" name="Text 27">
              <a:extLst>
                <a:ext uri="{FF2B5EF4-FFF2-40B4-BE49-F238E27FC236}">
                  <a16:creationId xmlns:a16="http://schemas.microsoft.com/office/drawing/2014/main" id="{03A40168-DA9B-2530-0305-D8856EAA38F6}"/>
                </a:ext>
              </a:extLst>
            </p:cNvPr>
            <p:cNvSpPr/>
            <p:nvPr/>
          </p:nvSpPr>
          <p:spPr>
            <a:xfrm>
              <a:off x="594360" y="4133088"/>
              <a:ext cx="3794760" cy="237744"/>
            </a:xfrm>
            <a:prstGeom prst="rect">
              <a:avLst/>
            </a:prstGeom>
            <a:noFill/>
            <a:ln/>
          </p:spPr>
          <p:txBody>
            <a:bodyPr wrap="square" lIns="0" tIns="0" rIns="0" bIns="0" rtlCol="0" anchor="ctr"/>
            <a:lstStyle/>
            <a:p>
              <a:pPr marL="0" indent="0">
                <a:buNone/>
              </a:pPr>
              <a:r>
                <a:rPr lang="en-US" b="1">
                  <a:solidFill>
                    <a:srgbClr val="024854"/>
                  </a:solidFill>
                  <a:ea typeface="GT America" pitchFamily="34" charset="-122"/>
                  <a:cs typeface="GT America" pitchFamily="34" charset="-120"/>
                </a:rPr>
                <a:t>New Client Onboarding Workflow</a:t>
              </a:r>
              <a:endParaRPr lang="en-US"/>
            </a:p>
          </p:txBody>
        </p:sp>
        <p:sp>
          <p:nvSpPr>
            <p:cNvPr id="28" name="Text 28">
              <a:extLst>
                <a:ext uri="{FF2B5EF4-FFF2-40B4-BE49-F238E27FC236}">
                  <a16:creationId xmlns:a16="http://schemas.microsoft.com/office/drawing/2014/main" id="{9B9059D0-4165-05B9-E66B-D0154BC19387}"/>
                </a:ext>
              </a:extLst>
            </p:cNvPr>
            <p:cNvSpPr/>
            <p:nvPr/>
          </p:nvSpPr>
          <p:spPr>
            <a:xfrm>
              <a:off x="594360" y="4389120"/>
              <a:ext cx="3794760" cy="411480"/>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New client onboarding workflow and first-file notification automation.</a:t>
              </a:r>
              <a:endParaRPr lang="en-US" sz="1200"/>
            </a:p>
          </p:txBody>
        </p:sp>
        <p:sp>
          <p:nvSpPr>
            <p:cNvPr id="29" name="Shape 29">
              <a:extLst>
                <a:ext uri="{FF2B5EF4-FFF2-40B4-BE49-F238E27FC236}">
                  <a16:creationId xmlns:a16="http://schemas.microsoft.com/office/drawing/2014/main" id="{3436373E-132E-9C74-7208-7ABC0F6ABA92}"/>
                </a:ext>
              </a:extLst>
            </p:cNvPr>
            <p:cNvSpPr/>
            <p:nvPr/>
          </p:nvSpPr>
          <p:spPr>
            <a:xfrm>
              <a:off x="4800600" y="3785616"/>
              <a:ext cx="4023360" cy="1078992"/>
            </a:xfrm>
            <a:prstGeom prst="rect">
              <a:avLst/>
            </a:prstGeom>
            <a:solidFill>
              <a:srgbClr val="EFEFEE"/>
            </a:solidFill>
            <a:ln w="6350">
              <a:solidFill>
                <a:srgbClr val="D8D8CE"/>
              </a:solidFill>
              <a:prstDash val="solid"/>
            </a:ln>
          </p:spPr>
          <p:txBody>
            <a:bodyPr/>
            <a:lstStyle/>
            <a:p>
              <a:endParaRPr lang="en-IN" sz="3200"/>
            </a:p>
          </p:txBody>
        </p:sp>
        <p:sp>
          <p:nvSpPr>
            <p:cNvPr id="30" name="Shape 30">
              <a:extLst>
                <a:ext uri="{FF2B5EF4-FFF2-40B4-BE49-F238E27FC236}">
                  <a16:creationId xmlns:a16="http://schemas.microsoft.com/office/drawing/2014/main" id="{63212DAA-47BF-A855-1FC0-843849E6A50D}"/>
                </a:ext>
              </a:extLst>
            </p:cNvPr>
            <p:cNvSpPr/>
            <p:nvPr/>
          </p:nvSpPr>
          <p:spPr>
            <a:xfrm>
              <a:off x="4800600" y="3785616"/>
              <a:ext cx="54864" cy="1078992"/>
            </a:xfrm>
            <a:prstGeom prst="rect">
              <a:avLst/>
            </a:prstGeom>
            <a:solidFill>
              <a:srgbClr val="00B8BB"/>
            </a:solidFill>
            <a:ln w="12700">
              <a:solidFill>
                <a:srgbClr val="00B8BB"/>
              </a:solidFill>
              <a:prstDash val="solid"/>
            </a:ln>
          </p:spPr>
          <p:txBody>
            <a:bodyPr/>
            <a:lstStyle/>
            <a:p>
              <a:endParaRPr lang="en-IN" sz="3200"/>
            </a:p>
          </p:txBody>
        </p:sp>
        <p:sp>
          <p:nvSpPr>
            <p:cNvPr id="31" name="Text 31">
              <a:extLst>
                <a:ext uri="{FF2B5EF4-FFF2-40B4-BE49-F238E27FC236}">
                  <a16:creationId xmlns:a16="http://schemas.microsoft.com/office/drawing/2014/main" id="{5015A9B8-E0B0-49BE-55AE-639EDBC78F18}"/>
                </a:ext>
              </a:extLst>
            </p:cNvPr>
            <p:cNvSpPr/>
            <p:nvPr/>
          </p:nvSpPr>
          <p:spPr>
            <a:xfrm>
              <a:off x="4937760" y="3858768"/>
              <a:ext cx="365760" cy="256032"/>
            </a:xfrm>
            <a:prstGeom prst="rect">
              <a:avLst/>
            </a:prstGeom>
            <a:noFill/>
            <a:ln/>
          </p:spPr>
          <p:txBody>
            <a:bodyPr wrap="square" lIns="0" tIns="0" rIns="0" bIns="0" rtlCol="0" anchor="ctr"/>
            <a:lstStyle/>
            <a:p>
              <a:pPr marL="0" indent="0">
                <a:buNone/>
              </a:pPr>
              <a:r>
                <a:rPr lang="en-US" sz="2400">
                  <a:solidFill>
                    <a:srgbClr val="C1BFB8"/>
                  </a:solidFill>
                  <a:ea typeface="Neue Machina Plain" pitchFamily="34" charset="-122"/>
                  <a:cs typeface="Neue Machina Plain" pitchFamily="34" charset="-120"/>
                </a:rPr>
                <a:t>06</a:t>
              </a:r>
              <a:endParaRPr lang="en-US" sz="2400"/>
            </a:p>
          </p:txBody>
        </p:sp>
        <p:sp>
          <p:nvSpPr>
            <p:cNvPr id="32" name="Text 32">
              <a:extLst>
                <a:ext uri="{FF2B5EF4-FFF2-40B4-BE49-F238E27FC236}">
                  <a16:creationId xmlns:a16="http://schemas.microsoft.com/office/drawing/2014/main" id="{177BB8B7-87C2-37CD-7C7E-1A6679421992}"/>
                </a:ext>
              </a:extLst>
            </p:cNvPr>
            <p:cNvSpPr/>
            <p:nvPr/>
          </p:nvSpPr>
          <p:spPr>
            <a:xfrm>
              <a:off x="4937760" y="4133088"/>
              <a:ext cx="3794760" cy="237744"/>
            </a:xfrm>
            <a:prstGeom prst="rect">
              <a:avLst/>
            </a:prstGeom>
            <a:noFill/>
            <a:ln/>
          </p:spPr>
          <p:txBody>
            <a:bodyPr wrap="square" lIns="0" tIns="0" rIns="0" bIns="0" rtlCol="0" anchor="ctr"/>
            <a:lstStyle/>
            <a:p>
              <a:pPr marL="0" indent="0">
                <a:buNone/>
              </a:pPr>
              <a:r>
                <a:rPr lang="en-US" b="1">
                  <a:solidFill>
                    <a:srgbClr val="024854"/>
                  </a:solidFill>
                  <a:ea typeface="GT America" pitchFamily="34" charset="-122"/>
                  <a:cs typeface="GT America" pitchFamily="34" charset="-120"/>
                </a:rPr>
                <a:t>Production Breakdown by Loan Type</a:t>
              </a:r>
              <a:endParaRPr lang="en-US"/>
            </a:p>
          </p:txBody>
        </p:sp>
        <p:sp>
          <p:nvSpPr>
            <p:cNvPr id="33" name="Text 33">
              <a:extLst>
                <a:ext uri="{FF2B5EF4-FFF2-40B4-BE49-F238E27FC236}">
                  <a16:creationId xmlns:a16="http://schemas.microsoft.com/office/drawing/2014/main" id="{A0FC7A90-CD6B-BE14-1D88-39408962E0DB}"/>
                </a:ext>
              </a:extLst>
            </p:cNvPr>
            <p:cNvSpPr/>
            <p:nvPr/>
          </p:nvSpPr>
          <p:spPr>
            <a:xfrm>
              <a:off x="4937760" y="4389120"/>
              <a:ext cx="3794760" cy="411480"/>
            </a:xfrm>
            <a:prstGeom prst="rect">
              <a:avLst/>
            </a:prstGeom>
            <a:noFill/>
            <a:ln/>
          </p:spPr>
          <p:txBody>
            <a:bodyPr wrap="square" lIns="0" tIns="0" rIns="0" bIns="0" rtlCol="0" anchor="ctr"/>
            <a:lstStyle/>
            <a:p>
              <a:pPr marL="0" indent="0">
                <a:buNone/>
              </a:pPr>
              <a:r>
                <a:rPr lang="en-US" sz="1200">
                  <a:solidFill>
                    <a:srgbClr val="282828"/>
                  </a:solidFill>
                  <a:ea typeface="GT America" pitchFamily="34" charset="-122"/>
                  <a:cs typeface="GT America" pitchFamily="34" charset="-120"/>
                </a:rPr>
                <a:t>Production breakdown by loan type.</a:t>
              </a:r>
              <a:endParaRPr lang="en-US" sz="1200"/>
            </a:p>
          </p:txBody>
        </p:sp>
      </p:grpSp>
    </p:spTree>
    <p:extLst>
      <p:ext uri="{BB962C8B-B14F-4D97-AF65-F5344CB8AC3E}">
        <p14:creationId xmlns:p14="http://schemas.microsoft.com/office/powerpoint/2010/main" val="3603859508"/>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F6E12-C962-3F1D-7DA9-CF7D3F7DA099}"/>
              </a:ext>
            </a:extLst>
          </p:cNvPr>
          <p:cNvSpPr>
            <a:spLocks noGrp="1"/>
          </p:cNvSpPr>
          <p:nvPr>
            <p:ph type="title"/>
          </p:nvPr>
        </p:nvSpPr>
        <p:spPr>
          <a:xfrm>
            <a:off x="304801" y="304833"/>
            <a:ext cx="7877174" cy="477203"/>
          </a:xfrm>
        </p:spPr>
        <p:txBody>
          <a:bodyPr/>
          <a:lstStyle/>
          <a:p>
            <a:r>
              <a:rPr lang="en-IN"/>
              <a:t>Delivery &amp; Transition Strategy</a:t>
            </a:r>
          </a:p>
        </p:txBody>
      </p:sp>
      <p:sp>
        <p:nvSpPr>
          <p:cNvPr id="4" name="Shape 2">
            <a:extLst>
              <a:ext uri="{FF2B5EF4-FFF2-40B4-BE49-F238E27FC236}">
                <a16:creationId xmlns:a16="http://schemas.microsoft.com/office/drawing/2014/main" id="{7D8A8C94-F807-E5C8-0A6E-97634749EB40}"/>
              </a:ext>
            </a:extLst>
          </p:cNvPr>
          <p:cNvSpPr/>
          <p:nvPr/>
        </p:nvSpPr>
        <p:spPr>
          <a:xfrm>
            <a:off x="457200" y="896112"/>
            <a:ext cx="8229600" cy="0"/>
          </a:xfrm>
          <a:prstGeom prst="line">
            <a:avLst/>
          </a:prstGeom>
          <a:noFill/>
          <a:ln w="10160">
            <a:solidFill>
              <a:srgbClr val="D8D8CE"/>
            </a:solidFill>
            <a:prstDash val="solid"/>
          </a:ln>
        </p:spPr>
        <p:txBody>
          <a:bodyPr/>
          <a:lstStyle/>
          <a:p>
            <a:endParaRPr lang="en-IN"/>
          </a:p>
        </p:txBody>
      </p:sp>
      <p:sp>
        <p:nvSpPr>
          <p:cNvPr id="6" name="Shape 4">
            <a:extLst>
              <a:ext uri="{FF2B5EF4-FFF2-40B4-BE49-F238E27FC236}">
                <a16:creationId xmlns:a16="http://schemas.microsoft.com/office/drawing/2014/main" id="{2C845DB4-9BC0-1272-9935-C32077EA890A}"/>
              </a:ext>
            </a:extLst>
          </p:cNvPr>
          <p:cNvSpPr/>
          <p:nvPr/>
        </p:nvSpPr>
        <p:spPr>
          <a:xfrm>
            <a:off x="304800" y="1049923"/>
            <a:ext cx="3253009" cy="346181"/>
          </a:xfrm>
          <a:prstGeom prst="rect">
            <a:avLst/>
          </a:prstGeom>
          <a:solidFill>
            <a:srgbClr val="00B8BB"/>
          </a:solidFill>
          <a:ln w="12700">
            <a:solidFill>
              <a:srgbClr val="00B8BB"/>
            </a:solidFill>
            <a:prstDash val="solid"/>
          </a:ln>
        </p:spPr>
        <p:txBody>
          <a:bodyPr/>
          <a:lstStyle/>
          <a:p>
            <a:endParaRPr lang="en-IN" sz="2800"/>
          </a:p>
        </p:txBody>
      </p:sp>
      <p:sp>
        <p:nvSpPr>
          <p:cNvPr id="7" name="Text 5">
            <a:extLst>
              <a:ext uri="{FF2B5EF4-FFF2-40B4-BE49-F238E27FC236}">
                <a16:creationId xmlns:a16="http://schemas.microsoft.com/office/drawing/2014/main" id="{348D6A2F-6265-0D2A-5059-6E865D03D0B3}"/>
              </a:ext>
            </a:extLst>
          </p:cNvPr>
          <p:cNvSpPr/>
          <p:nvPr/>
        </p:nvSpPr>
        <p:spPr>
          <a:xfrm>
            <a:off x="406623" y="1059539"/>
            <a:ext cx="3487447" cy="326949"/>
          </a:xfrm>
          <a:prstGeom prst="rect">
            <a:avLst/>
          </a:prstGeom>
          <a:noFill/>
          <a:ln/>
        </p:spPr>
        <p:txBody>
          <a:bodyPr wrap="square" lIns="0" tIns="0" rIns="0" bIns="0" rtlCol="0" anchor="ctr"/>
          <a:lstStyle/>
          <a:p>
            <a:pPr marL="0" indent="0">
              <a:buNone/>
            </a:pPr>
            <a:r>
              <a:rPr lang="en-US" sz="1400" b="1">
                <a:solidFill>
                  <a:srgbClr val="FFFFFF"/>
                </a:solidFill>
                <a:ea typeface="GT America" pitchFamily="34" charset="-122"/>
                <a:cs typeface="GT America" pitchFamily="34" charset="-120"/>
              </a:rPr>
              <a:t>Phase 1  |  Sprints 0 – 4 · 10 Weeks</a:t>
            </a:r>
            <a:endParaRPr lang="en-US" sz="1400"/>
          </a:p>
        </p:txBody>
      </p:sp>
      <p:sp>
        <p:nvSpPr>
          <p:cNvPr id="8" name="Text 6">
            <a:extLst>
              <a:ext uri="{FF2B5EF4-FFF2-40B4-BE49-F238E27FC236}">
                <a16:creationId xmlns:a16="http://schemas.microsoft.com/office/drawing/2014/main" id="{79D7046F-D51C-51E1-4170-CBE95E27F504}"/>
              </a:ext>
            </a:extLst>
          </p:cNvPr>
          <p:cNvSpPr/>
          <p:nvPr/>
        </p:nvSpPr>
        <p:spPr>
          <a:xfrm>
            <a:off x="321547" y="1471631"/>
            <a:ext cx="3253009" cy="1317288"/>
          </a:xfrm>
          <a:prstGeom prst="rect">
            <a:avLst/>
          </a:prstGeom>
          <a:noFill/>
          <a:ln/>
        </p:spPr>
        <p:txBody>
          <a:bodyPr wrap="square" lIns="0" tIns="0" rIns="0" bIns="0" rtlCol="0" anchor="t"/>
          <a:lstStyle/>
          <a:p>
            <a:pPr marL="171450" indent="-171450">
              <a:buFont typeface="Wingdings" panose="05000000000000000000" pitchFamily="2" charset="2"/>
              <a:buChar char="ü"/>
            </a:pPr>
            <a:r>
              <a:rPr lang="en-US" sz="1200">
                <a:solidFill>
                  <a:srgbClr val="282828"/>
                </a:solidFill>
                <a:ea typeface="GT America" pitchFamily="34" charset="-122"/>
                <a:cs typeface="GT America" pitchFamily="34" charset="-120"/>
              </a:rPr>
              <a:t>Deploys the orchestration layer alongside existing system</a:t>
            </a:r>
          </a:p>
          <a:p>
            <a:pPr marL="171450" indent="-171450">
              <a:buFont typeface="Wingdings" panose="05000000000000000000" pitchFamily="2" charset="2"/>
              <a:buChar char="ü"/>
            </a:pPr>
            <a:r>
              <a:rPr lang="en-US" sz="1200" err="1">
                <a:solidFill>
                  <a:srgbClr val="282828"/>
                </a:solidFill>
                <a:ea typeface="GT America" pitchFamily="34" charset="-122"/>
                <a:cs typeface="GT America" pitchFamily="34" charset="-120"/>
              </a:rPr>
              <a:t>LoanTrack</a:t>
            </a:r>
            <a:r>
              <a:rPr lang="en-US" sz="1200">
                <a:solidFill>
                  <a:srgbClr val="282828"/>
                </a:solidFill>
                <a:ea typeface="GT America" pitchFamily="34" charset="-122"/>
                <a:cs typeface="GT America" pitchFamily="34" charset="-120"/>
              </a:rPr>
              <a:t> and </a:t>
            </a:r>
            <a:r>
              <a:rPr lang="en-US" sz="1200" err="1">
                <a:solidFill>
                  <a:srgbClr val="282828"/>
                </a:solidFill>
                <a:ea typeface="GT America" pitchFamily="34" charset="-122"/>
                <a:cs typeface="GT America" pitchFamily="34" charset="-120"/>
              </a:rPr>
              <a:t>ClosingExpress</a:t>
            </a:r>
            <a:r>
              <a:rPr lang="en-US" sz="1200">
                <a:solidFill>
                  <a:srgbClr val="282828"/>
                </a:solidFill>
                <a:ea typeface="GT America" pitchFamily="34" charset="-122"/>
                <a:cs typeface="GT America" pitchFamily="34" charset="-120"/>
              </a:rPr>
              <a:t> continue operating unchanged</a:t>
            </a:r>
          </a:p>
          <a:p>
            <a:pPr marL="171450" indent="-171450">
              <a:buFont typeface="Wingdings" panose="05000000000000000000" pitchFamily="2" charset="2"/>
              <a:buChar char="ü"/>
            </a:pPr>
            <a:r>
              <a:rPr lang="en-US" sz="1200"/>
              <a:t>Select 3–5 lenders from the top 45 lenders are </a:t>
            </a:r>
            <a:r>
              <a:rPr lang="en-US" sz="1200">
                <a:solidFill>
                  <a:srgbClr val="282828"/>
                </a:solidFill>
                <a:ea typeface="GT America" pitchFamily="34" charset="-122"/>
                <a:cs typeface="GT America" pitchFamily="34" charset="-120"/>
              </a:rPr>
              <a:t>piloted on the new intake flow while the remainder continue on </a:t>
            </a:r>
            <a:r>
              <a:rPr lang="en-US" sz="1200" err="1">
                <a:solidFill>
                  <a:srgbClr val="282828"/>
                </a:solidFill>
                <a:ea typeface="GT America" pitchFamily="34" charset="-122"/>
                <a:cs typeface="GT America" pitchFamily="34" charset="-120"/>
              </a:rPr>
              <a:t>JetDocs</a:t>
            </a:r>
            <a:endParaRPr lang="en-US" sz="1200"/>
          </a:p>
        </p:txBody>
      </p:sp>
      <p:sp>
        <p:nvSpPr>
          <p:cNvPr id="9" name="Shape 7">
            <a:extLst>
              <a:ext uri="{FF2B5EF4-FFF2-40B4-BE49-F238E27FC236}">
                <a16:creationId xmlns:a16="http://schemas.microsoft.com/office/drawing/2014/main" id="{29B23351-20AC-2E81-0CC5-1A12BE34D5B4}"/>
              </a:ext>
            </a:extLst>
          </p:cNvPr>
          <p:cNvSpPr/>
          <p:nvPr/>
        </p:nvSpPr>
        <p:spPr>
          <a:xfrm>
            <a:off x="4405654" y="1049923"/>
            <a:ext cx="3253009" cy="346181"/>
          </a:xfrm>
          <a:prstGeom prst="rect">
            <a:avLst/>
          </a:prstGeom>
          <a:solidFill>
            <a:srgbClr val="024854"/>
          </a:solidFill>
          <a:ln w="12700">
            <a:solidFill>
              <a:srgbClr val="024854"/>
            </a:solidFill>
            <a:prstDash val="solid"/>
          </a:ln>
        </p:spPr>
        <p:txBody>
          <a:bodyPr/>
          <a:lstStyle/>
          <a:p>
            <a:endParaRPr lang="en-IN" sz="2800"/>
          </a:p>
        </p:txBody>
      </p:sp>
      <p:sp>
        <p:nvSpPr>
          <p:cNvPr id="10" name="Text 8">
            <a:extLst>
              <a:ext uri="{FF2B5EF4-FFF2-40B4-BE49-F238E27FC236}">
                <a16:creationId xmlns:a16="http://schemas.microsoft.com/office/drawing/2014/main" id="{B885823B-8035-1E36-2951-B64025E35F32}"/>
              </a:ext>
            </a:extLst>
          </p:cNvPr>
          <p:cNvSpPr/>
          <p:nvPr/>
        </p:nvSpPr>
        <p:spPr>
          <a:xfrm>
            <a:off x="4497953" y="1059539"/>
            <a:ext cx="3129834" cy="326949"/>
          </a:xfrm>
          <a:prstGeom prst="rect">
            <a:avLst/>
          </a:prstGeom>
          <a:noFill/>
          <a:ln/>
        </p:spPr>
        <p:txBody>
          <a:bodyPr wrap="square" lIns="0" tIns="0" rIns="0" bIns="0" rtlCol="0" anchor="ctr"/>
          <a:lstStyle/>
          <a:p>
            <a:pPr marL="0" indent="0">
              <a:buNone/>
            </a:pPr>
            <a:r>
              <a:rPr lang="en-US" sz="1400" b="1">
                <a:solidFill>
                  <a:srgbClr val="FFFFFF"/>
                </a:solidFill>
                <a:ea typeface="GT America" pitchFamily="34" charset="-122"/>
                <a:cs typeface="GT America" pitchFamily="34" charset="-120"/>
              </a:rPr>
              <a:t>Phase 2  |  Sprints 5 – 10 · 12 Weeks</a:t>
            </a:r>
            <a:endParaRPr lang="en-US" sz="1400"/>
          </a:p>
        </p:txBody>
      </p:sp>
      <p:sp>
        <p:nvSpPr>
          <p:cNvPr id="11" name="Text 9">
            <a:extLst>
              <a:ext uri="{FF2B5EF4-FFF2-40B4-BE49-F238E27FC236}">
                <a16:creationId xmlns:a16="http://schemas.microsoft.com/office/drawing/2014/main" id="{3FF543D7-3BDB-CF76-5465-028652589F06}"/>
              </a:ext>
            </a:extLst>
          </p:cNvPr>
          <p:cNvSpPr/>
          <p:nvPr/>
        </p:nvSpPr>
        <p:spPr>
          <a:xfrm>
            <a:off x="4422401" y="1471631"/>
            <a:ext cx="3253009" cy="1317288"/>
          </a:xfrm>
          <a:prstGeom prst="rect">
            <a:avLst/>
          </a:prstGeom>
          <a:noFill/>
          <a:ln/>
        </p:spPr>
        <p:txBody>
          <a:bodyPr wrap="square" lIns="0" tIns="0" rIns="0" bIns="0" rtlCol="0" anchor="t"/>
          <a:lstStyle/>
          <a:p>
            <a:pPr marL="171450" indent="-171450">
              <a:buFont typeface="Wingdings" panose="05000000000000000000" pitchFamily="2" charset="2"/>
              <a:buChar char="ü"/>
            </a:pPr>
            <a:r>
              <a:rPr lang="en-US" sz="1200">
                <a:solidFill>
                  <a:srgbClr val="282828"/>
                </a:solidFill>
                <a:ea typeface="GT America" pitchFamily="34" charset="-122"/>
              </a:rPr>
              <a:t>Runs the new modern platform in parallel with </a:t>
            </a:r>
            <a:r>
              <a:rPr lang="en-US" sz="1200" err="1">
                <a:solidFill>
                  <a:srgbClr val="282828"/>
                </a:solidFill>
                <a:ea typeface="GT America" pitchFamily="34" charset="-122"/>
              </a:rPr>
              <a:t>LoanTrack</a:t>
            </a:r>
            <a:endParaRPr lang="en-US" sz="1200">
              <a:solidFill>
                <a:srgbClr val="282828"/>
              </a:solidFill>
              <a:ea typeface="GT America" pitchFamily="34" charset="-122"/>
            </a:endParaRPr>
          </a:p>
          <a:p>
            <a:pPr marL="171450" indent="-171450">
              <a:buFont typeface="Wingdings" panose="05000000000000000000" pitchFamily="2" charset="2"/>
              <a:buChar char="ü"/>
            </a:pPr>
            <a:r>
              <a:rPr lang="en-US" sz="1200">
                <a:solidFill>
                  <a:srgbClr val="282828"/>
                </a:solidFill>
                <a:ea typeface="GT America" pitchFamily="34" charset="-122"/>
              </a:rPr>
              <a:t>All active orders, lender master records, and 90-day transaction history migrate</a:t>
            </a:r>
          </a:p>
        </p:txBody>
      </p:sp>
      <p:sp>
        <p:nvSpPr>
          <p:cNvPr id="12" name="Shape 10">
            <a:extLst>
              <a:ext uri="{FF2B5EF4-FFF2-40B4-BE49-F238E27FC236}">
                <a16:creationId xmlns:a16="http://schemas.microsoft.com/office/drawing/2014/main" id="{5101BA08-EFF7-088C-26A8-28E858702010}"/>
              </a:ext>
            </a:extLst>
          </p:cNvPr>
          <p:cNvSpPr/>
          <p:nvPr/>
        </p:nvSpPr>
        <p:spPr>
          <a:xfrm>
            <a:off x="8567577" y="1049923"/>
            <a:ext cx="3253009" cy="346181"/>
          </a:xfrm>
          <a:prstGeom prst="rect">
            <a:avLst/>
          </a:prstGeom>
          <a:solidFill>
            <a:schemeClr val="accent1">
              <a:lumMod val="75000"/>
            </a:schemeClr>
          </a:solidFill>
          <a:ln w="12700">
            <a:solidFill>
              <a:schemeClr val="bg1">
                <a:lumMod val="75000"/>
              </a:schemeClr>
            </a:solidFill>
            <a:prstDash val="solid"/>
          </a:ln>
        </p:spPr>
        <p:txBody>
          <a:bodyPr/>
          <a:lstStyle/>
          <a:p>
            <a:endParaRPr lang="en-IN" sz="2800"/>
          </a:p>
        </p:txBody>
      </p:sp>
      <p:sp>
        <p:nvSpPr>
          <p:cNvPr id="13" name="Text 11">
            <a:extLst>
              <a:ext uri="{FF2B5EF4-FFF2-40B4-BE49-F238E27FC236}">
                <a16:creationId xmlns:a16="http://schemas.microsoft.com/office/drawing/2014/main" id="{5289DD3D-D5A9-5C5E-BDEB-FC805143A57D}"/>
              </a:ext>
            </a:extLst>
          </p:cNvPr>
          <p:cNvSpPr/>
          <p:nvPr/>
        </p:nvSpPr>
        <p:spPr>
          <a:xfrm>
            <a:off x="8669402" y="1059539"/>
            <a:ext cx="2931634" cy="326949"/>
          </a:xfrm>
          <a:prstGeom prst="rect">
            <a:avLst/>
          </a:prstGeom>
          <a:noFill/>
          <a:ln/>
        </p:spPr>
        <p:txBody>
          <a:bodyPr wrap="square" lIns="0" tIns="0" rIns="0" bIns="0" rtlCol="0" anchor="ctr"/>
          <a:lstStyle/>
          <a:p>
            <a:pPr marL="0" indent="0">
              <a:buNone/>
            </a:pPr>
            <a:r>
              <a:rPr lang="en-US" sz="1400" b="1">
                <a:solidFill>
                  <a:srgbClr val="FFFFFF"/>
                </a:solidFill>
                <a:ea typeface="GT America" pitchFamily="34" charset="-122"/>
                <a:cs typeface="GT America" pitchFamily="34" charset="-120"/>
              </a:rPr>
              <a:t>Phase 3  |  Sprints 11 – 15 · 8 Weeks</a:t>
            </a:r>
            <a:endParaRPr lang="en-US" sz="1400"/>
          </a:p>
        </p:txBody>
      </p:sp>
      <p:sp>
        <p:nvSpPr>
          <p:cNvPr id="14" name="Text 12">
            <a:extLst>
              <a:ext uri="{FF2B5EF4-FFF2-40B4-BE49-F238E27FC236}">
                <a16:creationId xmlns:a16="http://schemas.microsoft.com/office/drawing/2014/main" id="{AD07A4DA-8A5C-1596-58FF-01333CB21E46}"/>
              </a:ext>
            </a:extLst>
          </p:cNvPr>
          <p:cNvSpPr/>
          <p:nvPr/>
        </p:nvSpPr>
        <p:spPr>
          <a:xfrm>
            <a:off x="8584324" y="1471631"/>
            <a:ext cx="3253009" cy="1317288"/>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200">
                <a:solidFill>
                  <a:srgbClr val="282828"/>
                </a:solidFill>
                <a:ea typeface="GT America" pitchFamily="34" charset="-122"/>
              </a:rPr>
              <a:t>Migrates all 300 lenders to the new intake portal with advance communication and a structured onboarding window.</a:t>
            </a:r>
          </a:p>
          <a:p>
            <a:pPr marL="171450" indent="-171450">
              <a:buFont typeface="Arial" panose="020B0604020202020204" pitchFamily="34" charset="0"/>
              <a:buChar char="•"/>
            </a:pPr>
            <a:r>
              <a:rPr lang="en-US" sz="1200" err="1">
                <a:solidFill>
                  <a:srgbClr val="282828"/>
                </a:solidFill>
                <a:ea typeface="GT America" pitchFamily="34" charset="-122"/>
              </a:rPr>
              <a:t>ClosingExpress</a:t>
            </a:r>
            <a:r>
              <a:rPr lang="en-US" sz="1200">
                <a:solidFill>
                  <a:srgbClr val="282828"/>
                </a:solidFill>
                <a:ea typeface="GT America" pitchFamily="34" charset="-122"/>
              </a:rPr>
              <a:t> is retained as a backend generation engine behind the new wrapper service before eventual decommission.</a:t>
            </a:r>
          </a:p>
          <a:p>
            <a:pPr marL="171450" indent="-171450">
              <a:buFont typeface="Arial" panose="020B0604020202020204" pitchFamily="34" charset="0"/>
              <a:buChar char="•"/>
            </a:pPr>
            <a:endParaRPr lang="en-US" sz="1200">
              <a:solidFill>
                <a:srgbClr val="282828"/>
              </a:solidFill>
              <a:ea typeface="GT America" pitchFamily="34" charset="-122"/>
            </a:endParaRPr>
          </a:p>
        </p:txBody>
      </p:sp>
      <p:sp>
        <p:nvSpPr>
          <p:cNvPr id="15" name="Text 13">
            <a:extLst>
              <a:ext uri="{FF2B5EF4-FFF2-40B4-BE49-F238E27FC236}">
                <a16:creationId xmlns:a16="http://schemas.microsoft.com/office/drawing/2014/main" id="{33BADB86-E892-78E4-94F5-C85140751B88}"/>
              </a:ext>
            </a:extLst>
          </p:cNvPr>
          <p:cNvSpPr/>
          <p:nvPr/>
        </p:nvSpPr>
        <p:spPr>
          <a:xfrm>
            <a:off x="457199" y="3086374"/>
            <a:ext cx="1828800" cy="201168"/>
          </a:xfrm>
          <a:prstGeom prst="rect">
            <a:avLst/>
          </a:prstGeom>
          <a:noFill/>
          <a:ln/>
        </p:spPr>
        <p:txBody>
          <a:bodyPr wrap="square" lIns="0" tIns="0" rIns="0" bIns="0" rtlCol="0" anchor="ctr"/>
          <a:lstStyle/>
          <a:p>
            <a:r>
              <a:rPr lang="en-US" sz="1400" b="1" kern="0" spc="100">
                <a:solidFill>
                  <a:srgbClr val="00B8BB"/>
                </a:solidFill>
                <a:latin typeface="GT America" pitchFamily="34" charset="0"/>
                <a:ea typeface="GT America" pitchFamily="34" charset="-122"/>
              </a:rPr>
              <a:t>SPRINT GATES</a:t>
            </a:r>
          </a:p>
        </p:txBody>
      </p:sp>
      <p:sp>
        <p:nvSpPr>
          <p:cNvPr id="16" name="Shape 14">
            <a:extLst>
              <a:ext uri="{FF2B5EF4-FFF2-40B4-BE49-F238E27FC236}">
                <a16:creationId xmlns:a16="http://schemas.microsoft.com/office/drawing/2014/main" id="{8A1A141D-51B9-2B25-35CF-C2F56D85F8B6}"/>
              </a:ext>
            </a:extLst>
          </p:cNvPr>
          <p:cNvSpPr/>
          <p:nvPr/>
        </p:nvSpPr>
        <p:spPr>
          <a:xfrm>
            <a:off x="406623" y="3342855"/>
            <a:ext cx="11533181" cy="0"/>
          </a:xfrm>
          <a:prstGeom prst="line">
            <a:avLst/>
          </a:prstGeom>
          <a:noFill/>
          <a:ln w="6350">
            <a:solidFill>
              <a:srgbClr val="D8D8CE"/>
            </a:solidFill>
            <a:prstDash val="solid"/>
          </a:ln>
        </p:spPr>
        <p:txBody>
          <a:bodyPr/>
          <a:lstStyle/>
          <a:p>
            <a:endParaRPr lang="en-IN"/>
          </a:p>
        </p:txBody>
      </p:sp>
      <p:sp>
        <p:nvSpPr>
          <p:cNvPr id="17" name="Shape 15">
            <a:extLst>
              <a:ext uri="{FF2B5EF4-FFF2-40B4-BE49-F238E27FC236}">
                <a16:creationId xmlns:a16="http://schemas.microsoft.com/office/drawing/2014/main" id="{66CD2231-0C35-8DFA-A327-9D469CED1B2B}"/>
              </a:ext>
            </a:extLst>
          </p:cNvPr>
          <p:cNvSpPr/>
          <p:nvPr/>
        </p:nvSpPr>
        <p:spPr>
          <a:xfrm>
            <a:off x="4358030" y="3342855"/>
            <a:ext cx="3269756" cy="1200314"/>
          </a:xfrm>
          <a:prstGeom prst="rect">
            <a:avLst/>
          </a:prstGeom>
          <a:solidFill>
            <a:srgbClr val="FFF3EB"/>
          </a:solidFill>
          <a:ln w="10160">
            <a:solidFill>
              <a:srgbClr val="F26A21"/>
            </a:solidFill>
            <a:prstDash val="solid"/>
          </a:ln>
        </p:spPr>
        <p:txBody>
          <a:bodyPr/>
          <a:lstStyle/>
          <a:p>
            <a:endParaRPr lang="en-IN"/>
          </a:p>
        </p:txBody>
      </p:sp>
      <p:sp>
        <p:nvSpPr>
          <p:cNvPr id="18" name="Text 16">
            <a:extLst>
              <a:ext uri="{FF2B5EF4-FFF2-40B4-BE49-F238E27FC236}">
                <a16:creationId xmlns:a16="http://schemas.microsoft.com/office/drawing/2014/main" id="{C0F8D8D7-3775-773F-6CE6-0E36BB307E23}"/>
              </a:ext>
            </a:extLst>
          </p:cNvPr>
          <p:cNvSpPr/>
          <p:nvPr/>
        </p:nvSpPr>
        <p:spPr>
          <a:xfrm>
            <a:off x="4420781" y="3434070"/>
            <a:ext cx="2953960" cy="228600"/>
          </a:xfrm>
          <a:prstGeom prst="rect">
            <a:avLst/>
          </a:prstGeom>
          <a:noFill/>
          <a:ln/>
        </p:spPr>
        <p:txBody>
          <a:bodyPr wrap="square" lIns="0" tIns="0" rIns="0" bIns="0" rtlCol="0" anchor="ctr"/>
          <a:lstStyle/>
          <a:p>
            <a:pPr marL="0" indent="0">
              <a:buNone/>
            </a:pPr>
            <a:r>
              <a:rPr lang="en-US" sz="1400" b="1">
                <a:solidFill>
                  <a:srgbClr val="F26A21"/>
                </a:solidFill>
                <a:latin typeface="GT America" pitchFamily="34" charset="0"/>
                <a:ea typeface="GT America" pitchFamily="34" charset="-122"/>
                <a:cs typeface="GT America" pitchFamily="34" charset="-120"/>
              </a:rPr>
              <a:t>Sprint 5 Gate</a:t>
            </a:r>
            <a:endParaRPr lang="en-US" sz="1400"/>
          </a:p>
        </p:txBody>
      </p:sp>
      <p:sp>
        <p:nvSpPr>
          <p:cNvPr id="19" name="Text 17">
            <a:extLst>
              <a:ext uri="{FF2B5EF4-FFF2-40B4-BE49-F238E27FC236}">
                <a16:creationId xmlns:a16="http://schemas.microsoft.com/office/drawing/2014/main" id="{72797FF9-0A08-527C-3E76-E9339C54D627}"/>
              </a:ext>
            </a:extLst>
          </p:cNvPr>
          <p:cNvSpPr/>
          <p:nvPr/>
        </p:nvSpPr>
        <p:spPr>
          <a:xfrm>
            <a:off x="4459853" y="3745190"/>
            <a:ext cx="2953960" cy="685797"/>
          </a:xfrm>
          <a:prstGeom prst="rect">
            <a:avLst/>
          </a:prstGeom>
          <a:noFill/>
          <a:ln/>
        </p:spPr>
        <p:txBody>
          <a:bodyPr wrap="square" lIns="0" tIns="0" rIns="0" bIns="0" rtlCol="0" anchor="ctr"/>
          <a:lstStyle/>
          <a:p>
            <a:pPr marL="0" indent="0">
              <a:buNone/>
            </a:pPr>
            <a:r>
              <a:rPr lang="en-US" sz="1100">
                <a:solidFill>
                  <a:srgbClr val="282828"/>
                </a:solidFill>
                <a:latin typeface="GT America" pitchFamily="34" charset="0"/>
                <a:ea typeface="GT America" pitchFamily="34" charset="-122"/>
                <a:cs typeface="GT America" pitchFamily="34" charset="-120"/>
              </a:rPr>
              <a:t>LoanTrack migration scope confirmed. Full schema analysis complete. If migration complexity exceeds estimate, scope is adjusted before Phase 2 build commits. No surprise mid-delivery.</a:t>
            </a:r>
            <a:endParaRPr lang="en-US" sz="1100"/>
          </a:p>
        </p:txBody>
      </p:sp>
      <p:sp>
        <p:nvSpPr>
          <p:cNvPr id="23" name="Text 21">
            <a:extLst>
              <a:ext uri="{FF2B5EF4-FFF2-40B4-BE49-F238E27FC236}">
                <a16:creationId xmlns:a16="http://schemas.microsoft.com/office/drawing/2014/main" id="{0C8E3048-52FB-1B73-2532-81F071C8A286}"/>
              </a:ext>
            </a:extLst>
          </p:cNvPr>
          <p:cNvSpPr/>
          <p:nvPr/>
        </p:nvSpPr>
        <p:spPr>
          <a:xfrm>
            <a:off x="406623" y="4543169"/>
            <a:ext cx="3622038" cy="403285"/>
          </a:xfrm>
          <a:prstGeom prst="rect">
            <a:avLst/>
          </a:prstGeom>
          <a:noFill/>
          <a:ln/>
        </p:spPr>
        <p:txBody>
          <a:bodyPr wrap="square" lIns="0" tIns="0" rIns="0" bIns="0" rtlCol="0" anchor="ctr"/>
          <a:lstStyle/>
          <a:p>
            <a:pPr marL="0" indent="0">
              <a:buNone/>
            </a:pPr>
            <a:r>
              <a:rPr lang="en-US" sz="1400" b="1" kern="0" spc="100">
                <a:solidFill>
                  <a:srgbClr val="00B8BB"/>
                </a:solidFill>
                <a:latin typeface="GT America" pitchFamily="34" charset="0"/>
                <a:ea typeface="GT America" pitchFamily="34" charset="-122"/>
                <a:cs typeface="GT America" pitchFamily="34" charset="-120"/>
              </a:rPr>
              <a:t>DATA MIGRATION STRATEGY</a:t>
            </a:r>
            <a:endParaRPr lang="en-US" sz="1400"/>
          </a:p>
        </p:txBody>
      </p:sp>
      <p:sp>
        <p:nvSpPr>
          <p:cNvPr id="24" name="Shape 22">
            <a:extLst>
              <a:ext uri="{FF2B5EF4-FFF2-40B4-BE49-F238E27FC236}">
                <a16:creationId xmlns:a16="http://schemas.microsoft.com/office/drawing/2014/main" id="{8ABDE695-1649-6A31-89ED-A3A8CBAAB4C1}"/>
              </a:ext>
            </a:extLst>
          </p:cNvPr>
          <p:cNvSpPr/>
          <p:nvPr/>
        </p:nvSpPr>
        <p:spPr>
          <a:xfrm>
            <a:off x="457199" y="4992622"/>
            <a:ext cx="11340354" cy="0"/>
          </a:xfrm>
          <a:prstGeom prst="line">
            <a:avLst/>
          </a:prstGeom>
          <a:noFill/>
          <a:ln w="6350">
            <a:solidFill>
              <a:srgbClr val="D8D8CE"/>
            </a:solidFill>
            <a:prstDash val="solid"/>
          </a:ln>
        </p:spPr>
        <p:txBody>
          <a:bodyPr/>
          <a:lstStyle/>
          <a:p>
            <a:endParaRPr lang="en-IN"/>
          </a:p>
        </p:txBody>
      </p:sp>
      <p:graphicFrame>
        <p:nvGraphicFramePr>
          <p:cNvPr id="25" name="Table 0">
            <a:extLst>
              <a:ext uri="{FF2B5EF4-FFF2-40B4-BE49-F238E27FC236}">
                <a16:creationId xmlns:a16="http://schemas.microsoft.com/office/drawing/2014/main" id="{0252C882-0195-F666-D646-77BE01B4778D}"/>
              </a:ext>
            </a:extLst>
          </p:cNvPr>
          <p:cNvGraphicFramePr>
            <a:graphicFrameLocks noGrp="1"/>
          </p:cNvGraphicFramePr>
          <p:nvPr>
            <p:extLst>
              <p:ext uri="{D42A27DB-BD31-4B8C-83A1-F6EECF244321}">
                <p14:modId xmlns:p14="http://schemas.microsoft.com/office/powerpoint/2010/main" val="4110195112"/>
              </p:ext>
            </p:extLst>
          </p:nvPr>
        </p:nvGraphicFramePr>
        <p:xfrm>
          <a:off x="412376" y="5001767"/>
          <a:ext cx="11429999" cy="1155594"/>
        </p:xfrm>
        <a:graphic>
          <a:graphicData uri="http://schemas.openxmlformats.org/drawingml/2006/table">
            <a:tbl>
              <a:tblPr/>
              <a:tblGrid>
                <a:gridCol w="7991476">
                  <a:extLst>
                    <a:ext uri="{9D8B030D-6E8A-4147-A177-3AD203B41FA5}">
                      <a16:colId xmlns:a16="http://schemas.microsoft.com/office/drawing/2014/main" val="20000"/>
                    </a:ext>
                  </a:extLst>
                </a:gridCol>
                <a:gridCol w="3438523">
                  <a:extLst>
                    <a:ext uri="{9D8B030D-6E8A-4147-A177-3AD203B41FA5}">
                      <a16:colId xmlns:a16="http://schemas.microsoft.com/office/drawing/2014/main" val="20001"/>
                    </a:ext>
                  </a:extLst>
                </a:gridCol>
              </a:tblGrid>
              <a:tr h="207564">
                <a:tc>
                  <a:txBody>
                    <a:bodyPr/>
                    <a:lstStyle/>
                    <a:p>
                      <a:pPr marL="0" indent="0">
                        <a:buNone/>
                      </a:pPr>
                      <a:r>
                        <a:rPr lang="en-US" sz="1200">
                          <a:solidFill>
                            <a:srgbClr val="282828"/>
                          </a:solidFill>
                          <a:latin typeface="+mn-lt"/>
                          <a:ea typeface="GT America" pitchFamily="34" charset="-122"/>
                          <a:cs typeface="GT America" pitchFamily="34" charset="-120"/>
                        </a:rPr>
                        <a:t>Active orders and open transactions</a:t>
                      </a:r>
                      <a:endParaRPr lang="en-US" sz="1200">
                        <a:latin typeface="+mn-lt"/>
                        <a:ea typeface="GT America" charset="0"/>
                        <a:cs typeface="GT America"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indent="0" algn="l">
                        <a:buNone/>
                      </a:pPr>
                      <a:r>
                        <a:rPr lang="en-US" sz="1200" b="1">
                          <a:solidFill>
                            <a:srgbClr val="024854"/>
                          </a:solidFill>
                          <a:latin typeface="+mn-lt"/>
                          <a:ea typeface="GT America" pitchFamily="34" charset="-122"/>
                          <a:cs typeface="GT America" pitchFamily="34" charset="-120"/>
                        </a:rPr>
                        <a:t>Fully migrated</a:t>
                      </a:r>
                      <a:endParaRPr lang="en-US" sz="1200">
                        <a:latin typeface="+mn-lt"/>
                        <a:ea typeface="GT America" charset="0"/>
                        <a:cs typeface="GT America"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0"/>
                  </a:ext>
                </a:extLst>
              </a:tr>
              <a:tr h="207564">
                <a:tc>
                  <a:txBody>
                    <a:bodyPr/>
                    <a:lstStyle/>
                    <a:p>
                      <a:pPr marL="0" indent="0">
                        <a:buNone/>
                      </a:pPr>
                      <a:r>
                        <a:rPr lang="en-US" sz="1200">
                          <a:solidFill>
                            <a:srgbClr val="282828"/>
                          </a:solidFill>
                          <a:latin typeface="+mn-lt"/>
                          <a:ea typeface="GT America" pitchFamily="34" charset="-122"/>
                          <a:cs typeface="GT America" pitchFamily="34" charset="-120"/>
                        </a:rPr>
                        <a:t>Lender master records and per-lender configuration (lender codes, closing conditions, trustee defaults)</a:t>
                      </a:r>
                      <a:endParaRPr lang="en-US" sz="1200">
                        <a:latin typeface="+mn-lt"/>
                        <a:ea typeface="GT America" charset="0"/>
                        <a:cs typeface="GT America"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indent="0" algn="l">
                        <a:buNone/>
                      </a:pPr>
                      <a:r>
                        <a:rPr lang="en-US" sz="1200" b="1">
                          <a:solidFill>
                            <a:srgbClr val="024854"/>
                          </a:solidFill>
                          <a:latin typeface="+mn-lt"/>
                          <a:ea typeface="GT America" pitchFamily="34" charset="-122"/>
                          <a:cs typeface="GT America" pitchFamily="34" charset="-120"/>
                        </a:rPr>
                        <a:t>Fully migrated</a:t>
                      </a:r>
                      <a:endParaRPr lang="en-US" sz="1200">
                        <a:latin typeface="+mn-lt"/>
                        <a:ea typeface="GT America" charset="0"/>
                        <a:cs typeface="GT America"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1"/>
                  </a:ext>
                </a:extLst>
              </a:tr>
              <a:tr h="207564">
                <a:tc>
                  <a:txBody>
                    <a:bodyPr/>
                    <a:lstStyle/>
                    <a:p>
                      <a:pPr marL="0" indent="0">
                        <a:buNone/>
                      </a:pPr>
                      <a:r>
                        <a:rPr lang="en-US" sz="1200">
                          <a:solidFill>
                            <a:srgbClr val="282828"/>
                          </a:solidFill>
                          <a:latin typeface="+mn-lt"/>
                          <a:ea typeface="GT America" pitchFamily="34" charset="-122"/>
                          <a:cs typeface="GT America" pitchFamily="34" charset="-120"/>
                        </a:rPr>
                        <a:t>Last 90 days of closed transactions</a:t>
                      </a:r>
                      <a:endParaRPr lang="en-US" sz="1200">
                        <a:latin typeface="+mn-lt"/>
                        <a:ea typeface="GT America" charset="0"/>
                        <a:cs typeface="GT America"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indent="0" algn="l">
                        <a:buNone/>
                      </a:pPr>
                      <a:r>
                        <a:rPr lang="en-US" sz="1200" b="1">
                          <a:solidFill>
                            <a:srgbClr val="024854"/>
                          </a:solidFill>
                          <a:latin typeface="+mn-lt"/>
                          <a:ea typeface="GT America" pitchFamily="34" charset="-122"/>
                          <a:cs typeface="GT America" pitchFamily="34" charset="-120"/>
                        </a:rPr>
                        <a:t>Migrated for continuity</a:t>
                      </a:r>
                      <a:endParaRPr lang="en-US" sz="1200">
                        <a:latin typeface="+mn-lt"/>
                        <a:ea typeface="GT America" charset="0"/>
                        <a:cs typeface="GT America"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r h="332634">
                <a:tc>
                  <a:txBody>
                    <a:bodyPr/>
                    <a:lstStyle/>
                    <a:p>
                      <a:pPr marL="0" indent="0">
                        <a:buNone/>
                      </a:pPr>
                      <a:r>
                        <a:rPr lang="en-US" sz="1200">
                          <a:solidFill>
                            <a:srgbClr val="282828"/>
                          </a:solidFill>
                          <a:latin typeface="+mn-lt"/>
                          <a:ea typeface="GT America" pitchFamily="34" charset="-122"/>
                          <a:cs typeface="GT America" pitchFamily="34" charset="-120"/>
                        </a:rPr>
                        <a:t>Historical data older than 90 days</a:t>
                      </a:r>
                      <a:endParaRPr lang="en-US" sz="1200">
                        <a:latin typeface="+mn-lt"/>
                        <a:ea typeface="GT America" charset="0"/>
                        <a:cs typeface="GT America"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indent="0" algn="l">
                        <a:buNone/>
                      </a:pPr>
                      <a:r>
                        <a:rPr lang="en-US" sz="1200" b="1">
                          <a:solidFill>
                            <a:srgbClr val="024854"/>
                          </a:solidFill>
                          <a:latin typeface="+mn-lt"/>
                          <a:ea typeface="GT America" pitchFamily="34" charset="-122"/>
                          <a:cs typeface="GT America" pitchFamily="34" charset="-120"/>
                        </a:rPr>
                        <a:t>Archived in read-only queryable store</a:t>
                      </a:r>
                      <a:endParaRPr lang="en-US" sz="1200">
                        <a:latin typeface="+mn-lt"/>
                        <a:ea typeface="GT America" charset="0"/>
                        <a:cs typeface="GT America"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7" name="Shape 15">
            <a:extLst>
              <a:ext uri="{FF2B5EF4-FFF2-40B4-BE49-F238E27FC236}">
                <a16:creationId xmlns:a16="http://schemas.microsoft.com/office/drawing/2014/main" id="{2363F092-65B2-0756-8959-66C0F0CE9E19}"/>
              </a:ext>
            </a:extLst>
          </p:cNvPr>
          <p:cNvSpPr/>
          <p:nvPr/>
        </p:nvSpPr>
        <p:spPr>
          <a:xfrm>
            <a:off x="8603374" y="3342855"/>
            <a:ext cx="3239001" cy="1200314"/>
          </a:xfrm>
          <a:prstGeom prst="rect">
            <a:avLst/>
          </a:prstGeom>
          <a:solidFill>
            <a:srgbClr val="FFF3EB"/>
          </a:solidFill>
          <a:ln w="10160">
            <a:solidFill>
              <a:srgbClr val="F26A21"/>
            </a:solidFill>
            <a:prstDash val="solid"/>
          </a:ln>
        </p:spPr>
        <p:txBody>
          <a:bodyPr/>
          <a:lstStyle/>
          <a:p>
            <a:endParaRPr lang="en-IN"/>
          </a:p>
        </p:txBody>
      </p:sp>
      <p:sp>
        <p:nvSpPr>
          <p:cNvPr id="28" name="Text 16">
            <a:extLst>
              <a:ext uri="{FF2B5EF4-FFF2-40B4-BE49-F238E27FC236}">
                <a16:creationId xmlns:a16="http://schemas.microsoft.com/office/drawing/2014/main" id="{67764908-D46C-7A56-6252-A06CF7D7A437}"/>
              </a:ext>
            </a:extLst>
          </p:cNvPr>
          <p:cNvSpPr/>
          <p:nvPr/>
        </p:nvSpPr>
        <p:spPr>
          <a:xfrm>
            <a:off x="8666125" y="3434070"/>
            <a:ext cx="2953960" cy="228600"/>
          </a:xfrm>
          <a:prstGeom prst="rect">
            <a:avLst/>
          </a:prstGeom>
          <a:noFill/>
          <a:ln/>
        </p:spPr>
        <p:txBody>
          <a:bodyPr wrap="square" lIns="0" tIns="0" rIns="0" bIns="0" rtlCol="0" anchor="ctr"/>
          <a:lstStyle/>
          <a:p>
            <a:pPr marL="0" indent="0">
              <a:buNone/>
            </a:pPr>
            <a:r>
              <a:rPr lang="en-US" sz="1400" b="1">
                <a:solidFill>
                  <a:srgbClr val="F26A21"/>
                </a:solidFill>
                <a:latin typeface="GT America" pitchFamily="34" charset="0"/>
                <a:ea typeface="GT America" pitchFamily="34" charset="-122"/>
                <a:cs typeface="GT America" pitchFamily="34" charset="-120"/>
              </a:rPr>
              <a:t>Sprint 11 Gate</a:t>
            </a:r>
            <a:endParaRPr lang="en-US" sz="1400"/>
          </a:p>
        </p:txBody>
      </p:sp>
      <p:sp>
        <p:nvSpPr>
          <p:cNvPr id="29" name="Text 17">
            <a:extLst>
              <a:ext uri="{FF2B5EF4-FFF2-40B4-BE49-F238E27FC236}">
                <a16:creationId xmlns:a16="http://schemas.microsoft.com/office/drawing/2014/main" id="{81E15887-43C6-CC86-BBB3-A645841EA0C5}"/>
              </a:ext>
            </a:extLst>
          </p:cNvPr>
          <p:cNvSpPr/>
          <p:nvPr/>
        </p:nvSpPr>
        <p:spPr>
          <a:xfrm>
            <a:off x="8705196" y="3745190"/>
            <a:ext cx="3167933" cy="685797"/>
          </a:xfrm>
          <a:prstGeom prst="rect">
            <a:avLst/>
          </a:prstGeom>
          <a:noFill/>
          <a:ln/>
        </p:spPr>
        <p:txBody>
          <a:bodyPr wrap="square" lIns="0" tIns="0" rIns="0" bIns="0" rtlCol="0" anchor="ctr"/>
          <a:lstStyle/>
          <a:p>
            <a:r>
              <a:rPr lang="en-US" sz="1100">
                <a:solidFill>
                  <a:srgbClr val="282828"/>
                </a:solidFill>
                <a:latin typeface="GT America" pitchFamily="34" charset="0"/>
                <a:ea typeface="GT America" pitchFamily="34" charset="-122"/>
              </a:rPr>
              <a:t>ClosingExpress complexity confirmed. Template inventory complete. Wrapper approach validated as viable. If constraints are identified, Phase 3 plan is adjusted before build begins.</a:t>
            </a:r>
          </a:p>
        </p:txBody>
      </p:sp>
    </p:spTree>
    <p:extLst>
      <p:ext uri="{BB962C8B-B14F-4D97-AF65-F5344CB8AC3E}">
        <p14:creationId xmlns:p14="http://schemas.microsoft.com/office/powerpoint/2010/main" val="415784759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D600C-18D9-0990-C22F-BF0339B20036}"/>
              </a:ext>
            </a:extLst>
          </p:cNvPr>
          <p:cNvSpPr>
            <a:spLocks noGrp="1"/>
          </p:cNvSpPr>
          <p:nvPr>
            <p:ph type="title"/>
          </p:nvPr>
        </p:nvSpPr>
        <p:spPr/>
        <p:txBody>
          <a:bodyPr/>
          <a:lstStyle/>
          <a:p>
            <a:r>
              <a:rPr lang="en-IN"/>
              <a:t>AI-Assisted Engineering Delivery Model</a:t>
            </a:r>
          </a:p>
        </p:txBody>
      </p:sp>
      <p:sp>
        <p:nvSpPr>
          <p:cNvPr id="4" name="Shape 2">
            <a:extLst>
              <a:ext uri="{FF2B5EF4-FFF2-40B4-BE49-F238E27FC236}">
                <a16:creationId xmlns:a16="http://schemas.microsoft.com/office/drawing/2014/main" id="{809A60EE-5089-F059-78A2-AFF6831DB63A}"/>
              </a:ext>
            </a:extLst>
          </p:cNvPr>
          <p:cNvSpPr/>
          <p:nvPr/>
        </p:nvSpPr>
        <p:spPr>
          <a:xfrm>
            <a:off x="457200" y="896112"/>
            <a:ext cx="8229600" cy="0"/>
          </a:xfrm>
          <a:prstGeom prst="line">
            <a:avLst/>
          </a:prstGeom>
          <a:noFill/>
          <a:ln w="10160">
            <a:solidFill>
              <a:srgbClr val="D8D8CE"/>
            </a:solidFill>
            <a:prstDash val="solid"/>
          </a:ln>
        </p:spPr>
        <p:txBody>
          <a:bodyPr/>
          <a:lstStyle/>
          <a:p>
            <a:endParaRPr lang="en-IN"/>
          </a:p>
        </p:txBody>
      </p:sp>
      <p:sp>
        <p:nvSpPr>
          <p:cNvPr id="5" name="Shape 3">
            <a:extLst>
              <a:ext uri="{FF2B5EF4-FFF2-40B4-BE49-F238E27FC236}">
                <a16:creationId xmlns:a16="http://schemas.microsoft.com/office/drawing/2014/main" id="{417E6282-B17D-9432-293A-362AFC7D1490}"/>
              </a:ext>
            </a:extLst>
          </p:cNvPr>
          <p:cNvSpPr/>
          <p:nvPr/>
        </p:nvSpPr>
        <p:spPr>
          <a:xfrm>
            <a:off x="304801" y="960120"/>
            <a:ext cx="11582395" cy="402336"/>
          </a:xfrm>
          <a:prstGeom prst="rect">
            <a:avLst/>
          </a:prstGeom>
          <a:solidFill>
            <a:srgbClr val="024854"/>
          </a:solidFill>
          <a:ln w="12700">
            <a:solidFill>
              <a:srgbClr val="024854"/>
            </a:solidFill>
            <a:prstDash val="solid"/>
          </a:ln>
        </p:spPr>
        <p:txBody>
          <a:bodyPr/>
          <a:lstStyle/>
          <a:p>
            <a:pPr algn="ctr"/>
            <a:endParaRPr lang="en-IN"/>
          </a:p>
        </p:txBody>
      </p:sp>
      <p:sp>
        <p:nvSpPr>
          <p:cNvPr id="6" name="Text 4">
            <a:extLst>
              <a:ext uri="{FF2B5EF4-FFF2-40B4-BE49-F238E27FC236}">
                <a16:creationId xmlns:a16="http://schemas.microsoft.com/office/drawing/2014/main" id="{6D026A49-D55B-B10B-DE00-B61A372726A2}"/>
              </a:ext>
            </a:extLst>
          </p:cNvPr>
          <p:cNvSpPr/>
          <p:nvPr/>
        </p:nvSpPr>
        <p:spPr>
          <a:xfrm>
            <a:off x="1090800" y="978142"/>
            <a:ext cx="10010396" cy="365760"/>
          </a:xfrm>
          <a:prstGeom prst="rect">
            <a:avLst/>
          </a:prstGeom>
          <a:noFill/>
          <a:ln/>
        </p:spPr>
        <p:txBody>
          <a:bodyPr wrap="square" lIns="0" tIns="0" rIns="0" bIns="0" rtlCol="0" anchor="ctr"/>
          <a:lstStyle/>
          <a:p>
            <a:pPr marL="0" indent="0" algn="ctr">
              <a:buNone/>
            </a:pPr>
            <a:r>
              <a:rPr lang="en-US" i="1">
                <a:solidFill>
                  <a:srgbClr val="FFFFFF"/>
                </a:solidFill>
                <a:latin typeface="+mj-lt"/>
                <a:ea typeface="GT America" pitchFamily="34" charset="-122"/>
                <a:cs typeface="GT America" pitchFamily="34" charset="-120"/>
              </a:rPr>
              <a:t>"AI generates. Engineers direct, validate, and own. Every sprint, every service."</a:t>
            </a:r>
            <a:endParaRPr lang="en-US">
              <a:latin typeface="+mj-lt"/>
            </a:endParaRPr>
          </a:p>
        </p:txBody>
      </p:sp>
      <p:sp>
        <p:nvSpPr>
          <p:cNvPr id="7" name="Text 5">
            <a:extLst>
              <a:ext uri="{FF2B5EF4-FFF2-40B4-BE49-F238E27FC236}">
                <a16:creationId xmlns:a16="http://schemas.microsoft.com/office/drawing/2014/main" id="{7A42CA34-B544-E479-D5F0-F7DE9963BF54}"/>
              </a:ext>
            </a:extLst>
          </p:cNvPr>
          <p:cNvSpPr/>
          <p:nvPr/>
        </p:nvSpPr>
        <p:spPr>
          <a:xfrm>
            <a:off x="304800" y="1381102"/>
            <a:ext cx="11582397" cy="505795"/>
          </a:xfrm>
          <a:prstGeom prst="rect">
            <a:avLst/>
          </a:prstGeom>
          <a:noFill/>
          <a:ln/>
        </p:spPr>
        <p:txBody>
          <a:bodyPr wrap="square" lIns="0" tIns="0" rIns="0" bIns="0" rtlCol="0" anchor="ctr"/>
          <a:lstStyle/>
          <a:p>
            <a:pPr marL="0" indent="0">
              <a:buNone/>
            </a:pPr>
            <a:r>
              <a:rPr lang="en-US" sz="1100">
                <a:ea typeface="GT America" pitchFamily="34" charset="-122"/>
                <a:cs typeface="GT America" pitchFamily="34" charset="-120"/>
              </a:rPr>
              <a:t>AI tooling accelerates engineering throughput. It does not replace architecture judgment, security review, or QA gates. The team is sized based on effective output, not headcount - AI productivity uplift of 25–35% on development tasks is built into the team composition and timeline. This is what makes a 6.5-person team credible for a program of this scope over 30 weeks.</a:t>
            </a:r>
            <a:endParaRPr lang="en-US" sz="1100"/>
          </a:p>
        </p:txBody>
      </p:sp>
      <p:sp>
        <p:nvSpPr>
          <p:cNvPr id="8" name="Text 6">
            <a:extLst>
              <a:ext uri="{FF2B5EF4-FFF2-40B4-BE49-F238E27FC236}">
                <a16:creationId xmlns:a16="http://schemas.microsoft.com/office/drawing/2014/main" id="{D1E9843F-FEB1-59D6-B982-B1ACECB01B2A}"/>
              </a:ext>
            </a:extLst>
          </p:cNvPr>
          <p:cNvSpPr/>
          <p:nvPr/>
        </p:nvSpPr>
        <p:spPr>
          <a:xfrm>
            <a:off x="334384" y="1958796"/>
            <a:ext cx="2743200" cy="201168"/>
          </a:xfrm>
          <a:prstGeom prst="rect">
            <a:avLst/>
          </a:prstGeom>
          <a:noFill/>
          <a:ln/>
        </p:spPr>
        <p:txBody>
          <a:bodyPr wrap="square" lIns="0" tIns="0" rIns="0" bIns="0" rtlCol="0" anchor="ctr"/>
          <a:lstStyle/>
          <a:p>
            <a:r>
              <a:rPr lang="en-US" sz="1200" b="1" kern="0" spc="100">
                <a:solidFill>
                  <a:srgbClr val="00B8BB"/>
                </a:solidFill>
                <a:ea typeface="GT America" pitchFamily="34" charset="-122"/>
              </a:rPr>
              <a:t>10-DAY SPRINT PATTERN</a:t>
            </a:r>
          </a:p>
        </p:txBody>
      </p:sp>
      <p:graphicFrame>
        <p:nvGraphicFramePr>
          <p:cNvPr id="9" name="Table 0">
            <a:extLst>
              <a:ext uri="{FF2B5EF4-FFF2-40B4-BE49-F238E27FC236}">
                <a16:creationId xmlns:a16="http://schemas.microsoft.com/office/drawing/2014/main" id="{826D1123-8D8D-044C-4A2D-A460CB94DA39}"/>
              </a:ext>
            </a:extLst>
          </p:cNvPr>
          <p:cNvGraphicFramePr>
            <a:graphicFrameLocks noGrp="1"/>
          </p:cNvGraphicFramePr>
          <p:nvPr>
            <p:extLst>
              <p:ext uri="{D42A27DB-BD31-4B8C-83A1-F6EECF244321}">
                <p14:modId xmlns:p14="http://schemas.microsoft.com/office/powerpoint/2010/main" val="2956837276"/>
              </p:ext>
            </p:extLst>
          </p:nvPr>
        </p:nvGraphicFramePr>
        <p:xfrm>
          <a:off x="304799" y="2281702"/>
          <a:ext cx="11582397" cy="1945863"/>
        </p:xfrm>
        <a:graphic>
          <a:graphicData uri="http://schemas.openxmlformats.org/drawingml/2006/table">
            <a:tbl>
              <a:tblPr/>
              <a:tblGrid>
                <a:gridCol w="1415627">
                  <a:extLst>
                    <a:ext uri="{9D8B030D-6E8A-4147-A177-3AD203B41FA5}">
                      <a16:colId xmlns:a16="http://schemas.microsoft.com/office/drawing/2014/main" val="20000"/>
                    </a:ext>
                  </a:extLst>
                </a:gridCol>
                <a:gridCol w="2573865">
                  <a:extLst>
                    <a:ext uri="{9D8B030D-6E8A-4147-A177-3AD203B41FA5}">
                      <a16:colId xmlns:a16="http://schemas.microsoft.com/office/drawing/2014/main" val="20001"/>
                    </a:ext>
                  </a:extLst>
                </a:gridCol>
                <a:gridCol w="7592905">
                  <a:extLst>
                    <a:ext uri="{9D8B030D-6E8A-4147-A177-3AD203B41FA5}">
                      <a16:colId xmlns:a16="http://schemas.microsoft.com/office/drawing/2014/main" val="20002"/>
                    </a:ext>
                  </a:extLst>
                </a:gridCol>
              </a:tblGrid>
              <a:tr h="377902">
                <a:tc>
                  <a:txBody>
                    <a:bodyPr/>
                    <a:lstStyle/>
                    <a:p>
                      <a:pPr marL="0" indent="0" algn="ctr">
                        <a:buNone/>
                      </a:pPr>
                      <a:r>
                        <a:rPr lang="en-US" sz="1100" b="1">
                          <a:solidFill>
                            <a:srgbClr val="FFFFFF"/>
                          </a:solidFill>
                          <a:latin typeface="GT America" pitchFamily="34" charset="0"/>
                          <a:ea typeface="GT America" pitchFamily="34" charset="-122"/>
                          <a:cs typeface="GT America" pitchFamily="34" charset="-120"/>
                        </a:rPr>
                        <a:t>Days 1–2</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1100" b="1">
                          <a:solidFill>
                            <a:srgbClr val="024854"/>
                          </a:solidFill>
                          <a:latin typeface="GT America" pitchFamily="34" charset="0"/>
                          <a:ea typeface="GT America" pitchFamily="34" charset="-122"/>
                          <a:cs typeface="GT America" pitchFamily="34" charset="-120"/>
                        </a:rPr>
                        <a:t>Define service contracts</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282828"/>
                          </a:solidFill>
                          <a:latin typeface="GT America" pitchFamily="34" charset="0"/>
                          <a:ea typeface="GT America" pitchFamily="34" charset="-122"/>
                          <a:cs typeface="GT America" pitchFamily="34" charset="-120"/>
                        </a:rPr>
                        <a:t>Engineer defines API contracts, data model, business rules. Architect reviews. BA confirms acceptance criteria.</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7902">
                <a:tc>
                  <a:txBody>
                    <a:bodyPr/>
                    <a:lstStyle/>
                    <a:p>
                      <a:pPr marL="0" indent="0" algn="ctr">
                        <a:buNone/>
                      </a:pPr>
                      <a:r>
                        <a:rPr lang="en-US" sz="1100" b="1">
                          <a:solidFill>
                            <a:srgbClr val="FFFFFF"/>
                          </a:solidFill>
                          <a:latin typeface="GT America" pitchFamily="34" charset="0"/>
                          <a:ea typeface="GT America" pitchFamily="34" charset="-122"/>
                          <a:cs typeface="GT America" pitchFamily="34" charset="-120"/>
                        </a:rPr>
                        <a:t>Day 3</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1100" b="1">
                          <a:solidFill>
                            <a:srgbClr val="024854"/>
                          </a:solidFill>
                          <a:latin typeface="GT America" pitchFamily="34" charset="0"/>
                          <a:ea typeface="GT America" pitchFamily="34" charset="-122"/>
                          <a:cs typeface="GT America" pitchFamily="34" charset="-120"/>
                        </a:rPr>
                        <a:t>AI generates first draft</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282828"/>
                          </a:solidFill>
                          <a:latin typeface="GT America" pitchFamily="34" charset="0"/>
                          <a:ea typeface="GT America" pitchFamily="34" charset="-122"/>
                          <a:cs typeface="GT America" pitchFamily="34" charset="-120"/>
                        </a:rPr>
                        <a:t>AI generates service implementation, test suite, and API documentation from defined contracts.</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4366">
                <a:tc>
                  <a:txBody>
                    <a:bodyPr/>
                    <a:lstStyle/>
                    <a:p>
                      <a:pPr marL="0" indent="0" algn="ctr">
                        <a:buNone/>
                      </a:pPr>
                      <a:r>
                        <a:rPr lang="en-US" sz="1100" b="1">
                          <a:solidFill>
                            <a:srgbClr val="FFFFFF"/>
                          </a:solidFill>
                          <a:latin typeface="GT America" pitchFamily="34" charset="0"/>
                          <a:ea typeface="GT America" pitchFamily="34" charset="-122"/>
                          <a:cs typeface="GT America" pitchFamily="34" charset="-120"/>
                        </a:rPr>
                        <a:t>Days 4–7</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1100" b="1">
                          <a:solidFill>
                            <a:srgbClr val="024854"/>
                          </a:solidFill>
                          <a:latin typeface="GT America" pitchFamily="34" charset="0"/>
                          <a:ea typeface="GT America" pitchFamily="34" charset="-122"/>
                          <a:cs typeface="GT America" pitchFamily="34" charset="-120"/>
                        </a:rPr>
                        <a:t>Engineer reviews and refines</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282828"/>
                          </a:solidFill>
                          <a:latin typeface="GT America" pitchFamily="34" charset="0"/>
                          <a:ea typeface="GT America" pitchFamily="34" charset="-122"/>
                          <a:cs typeface="GT America" pitchFamily="34" charset="-120"/>
                        </a:rPr>
                        <a:t>Engineer reviews all AI output, validates against contracts, refines edge cases, integrates with platform.</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7791">
                <a:tc>
                  <a:txBody>
                    <a:bodyPr/>
                    <a:lstStyle/>
                    <a:p>
                      <a:pPr marL="0" indent="0" algn="ctr">
                        <a:buNone/>
                      </a:pPr>
                      <a:r>
                        <a:rPr lang="en-US" sz="1100" b="1">
                          <a:solidFill>
                            <a:srgbClr val="FFFFFF"/>
                          </a:solidFill>
                          <a:latin typeface="GT America" pitchFamily="34" charset="0"/>
                          <a:ea typeface="GT America" pitchFamily="34" charset="-122"/>
                          <a:cs typeface="GT America" pitchFamily="34" charset="-120"/>
                        </a:rPr>
                        <a:t>Days 8–9</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1100" b="1">
                          <a:solidFill>
                            <a:srgbClr val="024854"/>
                          </a:solidFill>
                          <a:latin typeface="GT America" pitchFamily="34" charset="0"/>
                          <a:ea typeface="GT America" pitchFamily="34" charset="-122"/>
                          <a:cs typeface="GT America" pitchFamily="34" charset="-120"/>
                        </a:rPr>
                        <a:t>QA tests</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282828"/>
                          </a:solidFill>
                          <a:latin typeface="GT America" pitchFamily="34" charset="0"/>
                          <a:ea typeface="GT America" pitchFamily="34" charset="-122"/>
                          <a:cs typeface="GT America" pitchFamily="34" charset="-120"/>
                        </a:rPr>
                        <a:t>QA runs integration tests, validates AI-generated test coverage, performs regression on affected services.</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7902">
                <a:tc>
                  <a:txBody>
                    <a:bodyPr/>
                    <a:lstStyle/>
                    <a:p>
                      <a:pPr marL="0" indent="0" algn="ctr">
                        <a:buNone/>
                      </a:pPr>
                      <a:r>
                        <a:rPr lang="en-US" sz="1100" b="1">
                          <a:solidFill>
                            <a:srgbClr val="FFFFFF"/>
                          </a:solidFill>
                          <a:latin typeface="GT America" pitchFamily="34" charset="0"/>
                          <a:ea typeface="GT America" pitchFamily="34" charset="-122"/>
                          <a:cs typeface="GT America" pitchFamily="34" charset="-120"/>
                        </a:rPr>
                        <a:t>Day 10</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1100" b="1">
                          <a:solidFill>
                            <a:srgbClr val="024854"/>
                          </a:solidFill>
                          <a:latin typeface="GT America" pitchFamily="34" charset="0"/>
                          <a:ea typeface="GT America" pitchFamily="34" charset="-122"/>
                          <a:cs typeface="GT America" pitchFamily="34" charset="-120"/>
                        </a:rPr>
                        <a:t>Deploy to staging</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100">
                          <a:solidFill>
                            <a:srgbClr val="282828"/>
                          </a:solidFill>
                          <a:latin typeface="GT America" pitchFamily="34" charset="0"/>
                          <a:ea typeface="GT America" pitchFamily="34" charset="-122"/>
                          <a:cs typeface="GT America" pitchFamily="34" charset="-120"/>
                        </a:rPr>
                        <a:t>DevOps promotes build to staging. Sprint demo. Stakeholder sign-off. ADR documented.</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Text 7">
            <a:extLst>
              <a:ext uri="{FF2B5EF4-FFF2-40B4-BE49-F238E27FC236}">
                <a16:creationId xmlns:a16="http://schemas.microsoft.com/office/drawing/2014/main" id="{9950F1B9-9848-0214-0477-E425F9778375}"/>
              </a:ext>
            </a:extLst>
          </p:cNvPr>
          <p:cNvSpPr/>
          <p:nvPr/>
        </p:nvSpPr>
        <p:spPr>
          <a:xfrm>
            <a:off x="304798" y="4622370"/>
            <a:ext cx="3657600" cy="201168"/>
          </a:xfrm>
          <a:prstGeom prst="rect">
            <a:avLst/>
          </a:prstGeom>
          <a:noFill/>
          <a:ln/>
        </p:spPr>
        <p:txBody>
          <a:bodyPr wrap="square" lIns="0" tIns="0" rIns="0" bIns="0" rtlCol="0" anchor="ctr"/>
          <a:lstStyle/>
          <a:p>
            <a:pPr marL="0" indent="0">
              <a:buNone/>
            </a:pPr>
            <a:r>
              <a:rPr lang="en-US" sz="1200" b="1" kern="0" spc="100">
                <a:solidFill>
                  <a:srgbClr val="00B8BB"/>
                </a:solidFill>
                <a:ea typeface="GT America" pitchFamily="34" charset="-122"/>
                <a:cs typeface="GT America" pitchFamily="34" charset="-120"/>
              </a:rPr>
              <a:t>GOVERNANCE GATES ON AI OUTPUT</a:t>
            </a:r>
            <a:endParaRPr lang="en-US" sz="1200"/>
          </a:p>
        </p:txBody>
      </p:sp>
      <p:sp>
        <p:nvSpPr>
          <p:cNvPr id="11" name="Shape 8">
            <a:extLst>
              <a:ext uri="{FF2B5EF4-FFF2-40B4-BE49-F238E27FC236}">
                <a16:creationId xmlns:a16="http://schemas.microsoft.com/office/drawing/2014/main" id="{E440438A-3400-6D16-9A17-37FDF13C4A72}"/>
              </a:ext>
            </a:extLst>
          </p:cNvPr>
          <p:cNvSpPr/>
          <p:nvPr/>
        </p:nvSpPr>
        <p:spPr>
          <a:xfrm>
            <a:off x="304799" y="4841647"/>
            <a:ext cx="11409380" cy="0"/>
          </a:xfrm>
          <a:prstGeom prst="line">
            <a:avLst/>
          </a:prstGeom>
          <a:noFill/>
          <a:ln w="6350">
            <a:solidFill>
              <a:srgbClr val="D8D8CE"/>
            </a:solidFill>
            <a:prstDash val="solid"/>
          </a:ln>
        </p:spPr>
        <p:txBody>
          <a:bodyPr/>
          <a:lstStyle/>
          <a:p>
            <a:endParaRPr lang="en-IN" sz="1200"/>
          </a:p>
        </p:txBody>
      </p:sp>
      <p:sp>
        <p:nvSpPr>
          <p:cNvPr id="12" name="Text 9">
            <a:extLst>
              <a:ext uri="{FF2B5EF4-FFF2-40B4-BE49-F238E27FC236}">
                <a16:creationId xmlns:a16="http://schemas.microsoft.com/office/drawing/2014/main" id="{B799E381-C1B9-9FB0-B395-A65B2207DC9B}"/>
              </a:ext>
            </a:extLst>
          </p:cNvPr>
          <p:cNvSpPr/>
          <p:nvPr/>
        </p:nvSpPr>
        <p:spPr>
          <a:xfrm>
            <a:off x="415960" y="5086329"/>
            <a:ext cx="182880" cy="201168"/>
          </a:xfrm>
          <a:prstGeom prst="rect">
            <a:avLst/>
          </a:prstGeom>
          <a:noFill/>
          <a:ln/>
        </p:spPr>
        <p:txBody>
          <a:bodyPr wrap="square" lIns="0" tIns="0" rIns="0" bIns="0" rtlCol="0" anchor="ctr"/>
          <a:lstStyle/>
          <a:p>
            <a:pPr marL="0" indent="0">
              <a:buNone/>
            </a:pPr>
            <a:r>
              <a:rPr lang="en-US" sz="1200">
                <a:solidFill>
                  <a:srgbClr val="00B8BB"/>
                </a:solidFill>
                <a:ea typeface="GT America" pitchFamily="34" charset="-122"/>
                <a:cs typeface="GT America" pitchFamily="34" charset="-120"/>
              </a:rPr>
              <a:t>→</a:t>
            </a:r>
            <a:endParaRPr lang="en-US" sz="1200"/>
          </a:p>
        </p:txBody>
      </p:sp>
      <p:sp>
        <p:nvSpPr>
          <p:cNvPr id="13" name="Text 10">
            <a:extLst>
              <a:ext uri="{FF2B5EF4-FFF2-40B4-BE49-F238E27FC236}">
                <a16:creationId xmlns:a16="http://schemas.microsoft.com/office/drawing/2014/main" id="{F02C24E5-E396-B442-15D3-9FFFEA05D463}"/>
              </a:ext>
            </a:extLst>
          </p:cNvPr>
          <p:cNvSpPr/>
          <p:nvPr/>
        </p:nvSpPr>
        <p:spPr>
          <a:xfrm>
            <a:off x="644559" y="5086329"/>
            <a:ext cx="4797911" cy="201153"/>
          </a:xfrm>
          <a:prstGeom prst="rect">
            <a:avLst/>
          </a:prstGeom>
          <a:noFill/>
          <a:ln/>
        </p:spPr>
        <p:txBody>
          <a:bodyPr wrap="square" lIns="0" tIns="0" rIns="0" bIns="0" rtlCol="0" anchor="ctr"/>
          <a:lstStyle/>
          <a:p>
            <a:pPr marL="0" indent="0">
              <a:buNone/>
            </a:pPr>
            <a:r>
              <a:rPr lang="en-US" sz="1200" b="1">
                <a:solidFill>
                  <a:srgbClr val="282828"/>
                </a:solidFill>
                <a:ea typeface="GT America" pitchFamily="34" charset="-122"/>
                <a:cs typeface="GT America" pitchFamily="34" charset="-120"/>
              </a:rPr>
              <a:t>Architecture review - all AI-generated components reviewed by Tech Lead before integration</a:t>
            </a:r>
            <a:endParaRPr lang="en-US" sz="1200" b="1"/>
          </a:p>
        </p:txBody>
      </p:sp>
      <p:sp>
        <p:nvSpPr>
          <p:cNvPr id="14" name="Text 11">
            <a:extLst>
              <a:ext uri="{FF2B5EF4-FFF2-40B4-BE49-F238E27FC236}">
                <a16:creationId xmlns:a16="http://schemas.microsoft.com/office/drawing/2014/main" id="{6D190F7F-A16C-6F69-90B4-5450E1E8C0AF}"/>
              </a:ext>
            </a:extLst>
          </p:cNvPr>
          <p:cNvSpPr/>
          <p:nvPr/>
        </p:nvSpPr>
        <p:spPr>
          <a:xfrm>
            <a:off x="6481480" y="5095474"/>
            <a:ext cx="182880" cy="201168"/>
          </a:xfrm>
          <a:prstGeom prst="rect">
            <a:avLst/>
          </a:prstGeom>
          <a:noFill/>
          <a:ln/>
        </p:spPr>
        <p:txBody>
          <a:bodyPr wrap="square" lIns="0" tIns="0" rIns="0" bIns="0" rtlCol="0" anchor="ctr"/>
          <a:lstStyle/>
          <a:p>
            <a:pPr marL="0" indent="0">
              <a:buNone/>
            </a:pPr>
            <a:r>
              <a:rPr lang="en-US" sz="1200">
                <a:solidFill>
                  <a:srgbClr val="00B8BB"/>
                </a:solidFill>
                <a:ea typeface="GT America" pitchFamily="34" charset="-122"/>
                <a:cs typeface="GT America" pitchFamily="34" charset="-120"/>
              </a:rPr>
              <a:t>→</a:t>
            </a:r>
            <a:endParaRPr lang="en-US" sz="1200"/>
          </a:p>
        </p:txBody>
      </p:sp>
      <p:sp>
        <p:nvSpPr>
          <p:cNvPr id="15" name="Text 12">
            <a:extLst>
              <a:ext uri="{FF2B5EF4-FFF2-40B4-BE49-F238E27FC236}">
                <a16:creationId xmlns:a16="http://schemas.microsoft.com/office/drawing/2014/main" id="{E8303341-999D-AA63-8421-D245D61D6AB2}"/>
              </a:ext>
            </a:extLst>
          </p:cNvPr>
          <p:cNvSpPr/>
          <p:nvPr/>
        </p:nvSpPr>
        <p:spPr>
          <a:xfrm>
            <a:off x="6710079" y="5095474"/>
            <a:ext cx="4797911" cy="201153"/>
          </a:xfrm>
          <a:prstGeom prst="rect">
            <a:avLst/>
          </a:prstGeom>
          <a:noFill/>
          <a:ln/>
        </p:spPr>
        <p:txBody>
          <a:bodyPr wrap="square" lIns="0" tIns="0" rIns="0" bIns="0" rtlCol="0" anchor="ctr"/>
          <a:lstStyle/>
          <a:p>
            <a:pPr marL="0" indent="0">
              <a:buNone/>
            </a:pPr>
            <a:r>
              <a:rPr lang="en-US" sz="1200" b="1">
                <a:solidFill>
                  <a:srgbClr val="282828"/>
                </a:solidFill>
                <a:ea typeface="GT America" pitchFamily="34" charset="-122"/>
                <a:cs typeface="GT America" pitchFamily="34" charset="-120"/>
              </a:rPr>
              <a:t>Security gate - every service handling PII undergoes explicit security review before staging</a:t>
            </a:r>
            <a:endParaRPr lang="en-US" sz="1200" b="1"/>
          </a:p>
        </p:txBody>
      </p:sp>
      <p:sp>
        <p:nvSpPr>
          <p:cNvPr id="16" name="Text 13">
            <a:extLst>
              <a:ext uri="{FF2B5EF4-FFF2-40B4-BE49-F238E27FC236}">
                <a16:creationId xmlns:a16="http://schemas.microsoft.com/office/drawing/2014/main" id="{840F2258-1DF0-7CED-58A9-4F85929428EF}"/>
              </a:ext>
            </a:extLst>
          </p:cNvPr>
          <p:cNvSpPr/>
          <p:nvPr/>
        </p:nvSpPr>
        <p:spPr>
          <a:xfrm>
            <a:off x="442854" y="5698669"/>
            <a:ext cx="182880" cy="201168"/>
          </a:xfrm>
          <a:prstGeom prst="rect">
            <a:avLst/>
          </a:prstGeom>
          <a:noFill/>
          <a:ln/>
        </p:spPr>
        <p:txBody>
          <a:bodyPr wrap="square" lIns="0" tIns="0" rIns="0" bIns="0" rtlCol="0" anchor="ctr"/>
          <a:lstStyle/>
          <a:p>
            <a:pPr marL="0" indent="0">
              <a:buNone/>
            </a:pPr>
            <a:r>
              <a:rPr lang="en-US" sz="1200">
                <a:solidFill>
                  <a:srgbClr val="00B8BB"/>
                </a:solidFill>
                <a:ea typeface="GT America" pitchFamily="34" charset="-122"/>
                <a:cs typeface="GT America" pitchFamily="34" charset="-120"/>
              </a:rPr>
              <a:t>→</a:t>
            </a:r>
            <a:endParaRPr lang="en-US" sz="1200"/>
          </a:p>
        </p:txBody>
      </p:sp>
      <p:sp>
        <p:nvSpPr>
          <p:cNvPr id="17" name="Text 14">
            <a:extLst>
              <a:ext uri="{FF2B5EF4-FFF2-40B4-BE49-F238E27FC236}">
                <a16:creationId xmlns:a16="http://schemas.microsoft.com/office/drawing/2014/main" id="{65FE64AD-6ED4-1989-170E-8AD2237933A1}"/>
              </a:ext>
            </a:extLst>
          </p:cNvPr>
          <p:cNvSpPr/>
          <p:nvPr/>
        </p:nvSpPr>
        <p:spPr>
          <a:xfrm>
            <a:off x="671453" y="5698669"/>
            <a:ext cx="4797911" cy="201153"/>
          </a:xfrm>
          <a:prstGeom prst="rect">
            <a:avLst/>
          </a:prstGeom>
          <a:noFill/>
          <a:ln/>
        </p:spPr>
        <p:txBody>
          <a:bodyPr wrap="square" lIns="0" tIns="0" rIns="0" bIns="0" rtlCol="0" anchor="ctr"/>
          <a:lstStyle/>
          <a:p>
            <a:pPr marL="0" indent="0">
              <a:buNone/>
            </a:pPr>
            <a:r>
              <a:rPr lang="en-US" sz="1200" b="1">
                <a:solidFill>
                  <a:srgbClr val="282828"/>
                </a:solidFill>
                <a:ea typeface="GT America" pitchFamily="34" charset="-122"/>
                <a:cs typeface="GT America" pitchFamily="34" charset="-120"/>
              </a:rPr>
              <a:t>Human QA mandatory - no AI-generated code ships without engineer sign-off and test coverage confirmed</a:t>
            </a:r>
            <a:endParaRPr lang="en-US" sz="1200" b="1"/>
          </a:p>
        </p:txBody>
      </p:sp>
      <p:sp>
        <p:nvSpPr>
          <p:cNvPr id="18" name="Text 15">
            <a:extLst>
              <a:ext uri="{FF2B5EF4-FFF2-40B4-BE49-F238E27FC236}">
                <a16:creationId xmlns:a16="http://schemas.microsoft.com/office/drawing/2014/main" id="{5C7D301D-26FD-5D6A-F975-889514FD1ED9}"/>
              </a:ext>
            </a:extLst>
          </p:cNvPr>
          <p:cNvSpPr/>
          <p:nvPr/>
        </p:nvSpPr>
        <p:spPr>
          <a:xfrm>
            <a:off x="6508374" y="5707814"/>
            <a:ext cx="182880" cy="201168"/>
          </a:xfrm>
          <a:prstGeom prst="rect">
            <a:avLst/>
          </a:prstGeom>
          <a:noFill/>
          <a:ln/>
        </p:spPr>
        <p:txBody>
          <a:bodyPr wrap="square" lIns="0" tIns="0" rIns="0" bIns="0" rtlCol="0" anchor="ctr"/>
          <a:lstStyle/>
          <a:p>
            <a:pPr marL="0" indent="0">
              <a:buNone/>
            </a:pPr>
            <a:r>
              <a:rPr lang="en-US" sz="1200">
                <a:solidFill>
                  <a:srgbClr val="00B8BB"/>
                </a:solidFill>
                <a:ea typeface="GT America" pitchFamily="34" charset="-122"/>
                <a:cs typeface="GT America" pitchFamily="34" charset="-120"/>
              </a:rPr>
              <a:t>→</a:t>
            </a:r>
            <a:endParaRPr lang="en-US" sz="1200"/>
          </a:p>
        </p:txBody>
      </p:sp>
      <p:sp>
        <p:nvSpPr>
          <p:cNvPr id="19" name="Text 16">
            <a:extLst>
              <a:ext uri="{FF2B5EF4-FFF2-40B4-BE49-F238E27FC236}">
                <a16:creationId xmlns:a16="http://schemas.microsoft.com/office/drawing/2014/main" id="{C15964A7-E50E-76BA-FBD5-114FF11B4B33}"/>
              </a:ext>
            </a:extLst>
          </p:cNvPr>
          <p:cNvSpPr/>
          <p:nvPr/>
        </p:nvSpPr>
        <p:spPr>
          <a:xfrm>
            <a:off x="6736973" y="5707814"/>
            <a:ext cx="4797911" cy="201153"/>
          </a:xfrm>
          <a:prstGeom prst="rect">
            <a:avLst/>
          </a:prstGeom>
          <a:noFill/>
          <a:ln/>
        </p:spPr>
        <p:txBody>
          <a:bodyPr wrap="square" lIns="0" tIns="0" rIns="0" bIns="0" rtlCol="0" anchor="ctr"/>
          <a:lstStyle/>
          <a:p>
            <a:pPr marL="0" indent="0">
              <a:buNone/>
            </a:pPr>
            <a:r>
              <a:rPr lang="en-US" sz="1200" b="1">
                <a:solidFill>
                  <a:srgbClr val="282828"/>
                </a:solidFill>
                <a:ea typeface="GT America" pitchFamily="34" charset="-122"/>
                <a:cs typeface="GT America" pitchFamily="34" charset="-120"/>
              </a:rPr>
              <a:t>Prompt library - all extraction prompts versioned, documented, and handed to BM&amp;G at program close</a:t>
            </a:r>
            <a:endParaRPr lang="en-US" sz="1200" b="1"/>
          </a:p>
        </p:txBody>
      </p:sp>
      <p:sp>
        <p:nvSpPr>
          <p:cNvPr id="20" name="Shape 8">
            <a:extLst>
              <a:ext uri="{FF2B5EF4-FFF2-40B4-BE49-F238E27FC236}">
                <a16:creationId xmlns:a16="http://schemas.microsoft.com/office/drawing/2014/main" id="{401DCD97-8123-FCE8-C105-E75C357C10F0}"/>
              </a:ext>
            </a:extLst>
          </p:cNvPr>
          <p:cNvSpPr/>
          <p:nvPr/>
        </p:nvSpPr>
        <p:spPr>
          <a:xfrm>
            <a:off x="304801" y="2215549"/>
            <a:ext cx="11438963" cy="0"/>
          </a:xfrm>
          <a:prstGeom prst="line">
            <a:avLst/>
          </a:prstGeom>
          <a:noFill/>
          <a:ln w="6350">
            <a:solidFill>
              <a:srgbClr val="D8D8CE"/>
            </a:solidFill>
            <a:prstDash val="solid"/>
          </a:ln>
        </p:spPr>
        <p:txBody>
          <a:bodyPr/>
          <a:lstStyle/>
          <a:p>
            <a:endParaRPr lang="en-IN" sz="1200"/>
          </a:p>
        </p:txBody>
      </p:sp>
    </p:spTree>
    <p:extLst>
      <p:ext uri="{BB962C8B-B14F-4D97-AF65-F5344CB8AC3E}">
        <p14:creationId xmlns:p14="http://schemas.microsoft.com/office/powerpoint/2010/main" val="331602649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6A9B7-E42C-9137-2839-4D4E5DAB0B64}"/>
              </a:ext>
            </a:extLst>
          </p:cNvPr>
          <p:cNvSpPr>
            <a:spLocks noGrp="1"/>
          </p:cNvSpPr>
          <p:nvPr>
            <p:ph type="title"/>
          </p:nvPr>
        </p:nvSpPr>
        <p:spPr/>
        <p:txBody>
          <a:bodyPr/>
          <a:lstStyle/>
          <a:p>
            <a:r>
              <a:rPr lang="en-IN"/>
              <a:t>Delivery Team &amp; Governance Model</a:t>
            </a:r>
          </a:p>
        </p:txBody>
      </p:sp>
      <p:sp>
        <p:nvSpPr>
          <p:cNvPr id="4" name="Text 3">
            <a:extLst>
              <a:ext uri="{FF2B5EF4-FFF2-40B4-BE49-F238E27FC236}">
                <a16:creationId xmlns:a16="http://schemas.microsoft.com/office/drawing/2014/main" id="{4F17DE25-D029-503D-0AB7-44E20D1C5A34}"/>
              </a:ext>
            </a:extLst>
          </p:cNvPr>
          <p:cNvSpPr/>
          <p:nvPr/>
        </p:nvSpPr>
        <p:spPr>
          <a:xfrm>
            <a:off x="304800" y="960120"/>
            <a:ext cx="11582397" cy="477202"/>
          </a:xfrm>
          <a:prstGeom prst="rect">
            <a:avLst/>
          </a:prstGeom>
          <a:solidFill>
            <a:schemeClr val="bg1">
              <a:lumMod val="95000"/>
            </a:schemeClr>
          </a:solidFill>
          <a:ln/>
        </p:spPr>
        <p:txBody>
          <a:bodyPr wrap="square" lIns="36000" tIns="0" rIns="0" bIns="0" rtlCol="0" anchor="ctr"/>
          <a:lstStyle/>
          <a:p>
            <a:pPr marL="0" indent="0">
              <a:buNone/>
            </a:pPr>
            <a:r>
              <a:rPr lang="en-US" sz="1100" b="1" i="1">
                <a:latin typeface="GT America" pitchFamily="34" charset="0"/>
                <a:ea typeface="GT America" pitchFamily="34" charset="-122"/>
                <a:cs typeface="GT America" pitchFamily="34" charset="-120"/>
              </a:rPr>
              <a:t>The delivery team is structured for continuity across all three phases. No sudden ramp-ups or ramp-downs. </a:t>
            </a:r>
          </a:p>
          <a:p>
            <a:pPr marL="0" indent="0">
              <a:buNone/>
            </a:pPr>
            <a:r>
              <a:rPr lang="en-US" sz="1100" b="1" i="1">
                <a:latin typeface="GT America" pitchFamily="34" charset="0"/>
                <a:ea typeface="GT America" pitchFamily="34" charset="-122"/>
                <a:cs typeface="GT America" pitchFamily="34" charset="-120"/>
              </a:rPr>
              <a:t>The same people who make the Sprint 0 architecture decisions are present at the Sprint 15 go-live.</a:t>
            </a:r>
            <a:endParaRPr lang="en-US" sz="1100" b="1"/>
          </a:p>
        </p:txBody>
      </p:sp>
      <p:graphicFrame>
        <p:nvGraphicFramePr>
          <p:cNvPr id="5" name="Table 0">
            <a:extLst>
              <a:ext uri="{FF2B5EF4-FFF2-40B4-BE49-F238E27FC236}">
                <a16:creationId xmlns:a16="http://schemas.microsoft.com/office/drawing/2014/main" id="{6C846497-BAE5-233B-7FF2-8C1D26592F94}"/>
              </a:ext>
            </a:extLst>
          </p:cNvPr>
          <p:cNvGraphicFramePr>
            <a:graphicFrameLocks noGrp="1"/>
          </p:cNvGraphicFramePr>
          <p:nvPr>
            <p:extLst>
              <p:ext uri="{D42A27DB-BD31-4B8C-83A1-F6EECF244321}">
                <p14:modId xmlns:p14="http://schemas.microsoft.com/office/powerpoint/2010/main" val="1028447549"/>
              </p:ext>
            </p:extLst>
          </p:nvPr>
        </p:nvGraphicFramePr>
        <p:xfrm>
          <a:off x="304800" y="1520263"/>
          <a:ext cx="11582395" cy="2539476"/>
        </p:xfrm>
        <a:graphic>
          <a:graphicData uri="http://schemas.openxmlformats.org/drawingml/2006/table">
            <a:tbl>
              <a:tblPr/>
              <a:tblGrid>
                <a:gridCol w="2284719">
                  <a:extLst>
                    <a:ext uri="{9D8B030D-6E8A-4147-A177-3AD203B41FA5}">
                      <a16:colId xmlns:a16="http://schemas.microsoft.com/office/drawing/2014/main" val="20000"/>
                    </a:ext>
                  </a:extLst>
                </a:gridCol>
                <a:gridCol w="591671">
                  <a:extLst>
                    <a:ext uri="{9D8B030D-6E8A-4147-A177-3AD203B41FA5}">
                      <a16:colId xmlns:a16="http://schemas.microsoft.com/office/drawing/2014/main" val="20001"/>
                    </a:ext>
                  </a:extLst>
                </a:gridCol>
                <a:gridCol w="1559859">
                  <a:extLst>
                    <a:ext uri="{9D8B030D-6E8A-4147-A177-3AD203B41FA5}">
                      <a16:colId xmlns:a16="http://schemas.microsoft.com/office/drawing/2014/main" val="20002"/>
                    </a:ext>
                  </a:extLst>
                </a:gridCol>
                <a:gridCol w="1144921">
                  <a:extLst>
                    <a:ext uri="{9D8B030D-6E8A-4147-A177-3AD203B41FA5}">
                      <a16:colId xmlns:a16="http://schemas.microsoft.com/office/drawing/2014/main" val="20003"/>
                    </a:ext>
                  </a:extLst>
                </a:gridCol>
                <a:gridCol w="6001225">
                  <a:extLst>
                    <a:ext uri="{9D8B030D-6E8A-4147-A177-3AD203B41FA5}">
                      <a16:colId xmlns:a16="http://schemas.microsoft.com/office/drawing/2014/main" val="20004"/>
                    </a:ext>
                  </a:extLst>
                </a:gridCol>
              </a:tblGrid>
              <a:tr h="331068">
                <a:tc>
                  <a:txBody>
                    <a:bodyPr/>
                    <a:lstStyle/>
                    <a:p>
                      <a:pPr marL="0" indent="0" algn="l">
                        <a:buNone/>
                      </a:pPr>
                      <a:r>
                        <a:rPr lang="en-US" sz="1100" b="1">
                          <a:solidFill>
                            <a:srgbClr val="FFFFFF"/>
                          </a:solidFill>
                          <a:latin typeface="GT America" pitchFamily="34" charset="0"/>
                          <a:ea typeface="GT America" pitchFamily="34" charset="-122"/>
                          <a:cs typeface="GT America" pitchFamily="34" charset="-120"/>
                        </a:rPr>
                        <a:t>Role</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ctr">
                        <a:buNone/>
                      </a:pPr>
                      <a:r>
                        <a:rPr lang="en-US" sz="1100" b="1">
                          <a:solidFill>
                            <a:srgbClr val="FFFFFF"/>
                          </a:solidFill>
                          <a:latin typeface="GT America" pitchFamily="34" charset="0"/>
                          <a:ea typeface="GT America" pitchFamily="34" charset="-122"/>
                          <a:cs typeface="GT America" pitchFamily="34" charset="-120"/>
                        </a:rPr>
                        <a:t>#</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ctr">
                        <a:buNone/>
                      </a:pPr>
                      <a:r>
                        <a:rPr lang="en-US" sz="1100" b="1">
                          <a:solidFill>
                            <a:srgbClr val="FFFFFF"/>
                          </a:solidFill>
                          <a:latin typeface="GT America" pitchFamily="34" charset="0"/>
                          <a:ea typeface="GT America" pitchFamily="34" charset="-122"/>
                          <a:cs typeface="GT America" pitchFamily="34" charset="-120"/>
                        </a:rPr>
                        <a:t>Duration (in weeks)</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ctr">
                        <a:buNone/>
                      </a:pPr>
                      <a:r>
                        <a:rPr lang="en-US" sz="1100" b="1">
                          <a:solidFill>
                            <a:srgbClr val="FFFFFF"/>
                          </a:solidFill>
                          <a:latin typeface="GT America" pitchFamily="34" charset="0"/>
                          <a:ea typeface="GT America" pitchFamily="34" charset="-122"/>
                          <a:cs typeface="GT America" pitchFamily="34" charset="-120"/>
                        </a:rPr>
                        <a:t>Allocation</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l">
                        <a:buNone/>
                      </a:pPr>
                      <a:r>
                        <a:rPr lang="en-US" sz="1100" b="1">
                          <a:solidFill>
                            <a:srgbClr val="FFFFFF"/>
                          </a:solidFill>
                          <a:latin typeface="GT America" pitchFamily="34" charset="0"/>
                          <a:ea typeface="GT America" pitchFamily="34" charset="-122"/>
                          <a:cs typeface="GT America" pitchFamily="34" charset="-120"/>
                        </a:rPr>
                        <a:t>Primary Responsibility</a:t>
                      </a:r>
                      <a:endParaRPr lang="en-US" sz="11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extLst>
                  <a:ext uri="{0D108BD9-81ED-4DB2-BD59-A6C34878D82A}">
                    <a16:rowId xmlns:a16="http://schemas.microsoft.com/office/drawing/2014/main" val="10000"/>
                  </a:ext>
                </a:extLst>
              </a:tr>
              <a:tr h="276051">
                <a:tc>
                  <a:txBody>
                    <a:bodyPr/>
                    <a:lstStyle/>
                    <a:p>
                      <a:pPr marL="0" indent="0">
                        <a:buNone/>
                      </a:pPr>
                      <a:r>
                        <a:rPr lang="en-US" sz="1100">
                          <a:solidFill>
                            <a:schemeClr val="tx1"/>
                          </a:solidFill>
                          <a:latin typeface="+mn-lt"/>
                          <a:ea typeface="GT America" charset="0"/>
                          <a:cs typeface="GT America" charset="0"/>
                        </a:rPr>
                        <a:t>Project Manager</a:t>
                      </a: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defTabSz="914400" rtl="0" eaLnBrk="1" latinLnBrk="0" hangingPunct="1">
                        <a:buNone/>
                      </a:pPr>
                      <a:r>
                        <a:rPr lang="en-US" sz="1100" b="1" kern="1200">
                          <a:solidFill>
                            <a:schemeClr val="tx1"/>
                          </a:solidFill>
                          <a:latin typeface="+mn-lt"/>
                          <a:ea typeface="GT America" pitchFamily="34" charset="-122"/>
                          <a:cs typeface="GT America" charset="0"/>
                        </a:rPr>
                        <a:t>1</a:t>
                      </a: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latin typeface="+mn-lt"/>
                          <a:ea typeface="GT America" pitchFamily="34" charset="-122"/>
                          <a:cs typeface="GT America" pitchFamily="34" charset="-120"/>
                        </a:rPr>
                        <a:t>30</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a:solidFill>
                            <a:schemeClr val="tx1"/>
                          </a:solidFill>
                          <a:latin typeface="+mn-lt"/>
                          <a:ea typeface="GT America" charset="0"/>
                          <a:cs typeface="GT America" charset="0"/>
                        </a:rPr>
                        <a:t>Full Time</a:t>
                      </a: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buNone/>
                      </a:pPr>
                      <a:r>
                        <a:rPr lang="en-US" sz="1100" kern="1200">
                          <a:solidFill>
                            <a:schemeClr val="tx1"/>
                          </a:solidFill>
                          <a:latin typeface="+mn-lt"/>
                          <a:ea typeface="GT America" pitchFamily="34" charset="-122"/>
                          <a:cs typeface="GT America" charset="0"/>
                        </a:rPr>
                        <a:t>Project governance, coordination, and delivery management</a:t>
                      </a: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extLst>
                  <a:ext uri="{0D108BD9-81ED-4DB2-BD59-A6C34878D82A}">
                    <a16:rowId xmlns:a16="http://schemas.microsoft.com/office/drawing/2014/main" val="2560963424"/>
                  </a:ext>
                </a:extLst>
              </a:tr>
              <a:tr h="276051">
                <a:tc>
                  <a:txBody>
                    <a:bodyPr/>
                    <a:lstStyle/>
                    <a:p>
                      <a:pPr marL="0" indent="0">
                        <a:buNone/>
                      </a:pPr>
                      <a:r>
                        <a:rPr lang="en-US" sz="1100">
                          <a:solidFill>
                            <a:schemeClr val="tx1"/>
                          </a:solidFill>
                          <a:latin typeface="+mn-lt"/>
                          <a:ea typeface="GT America" pitchFamily="34" charset="-122"/>
                          <a:cs typeface="GT America" pitchFamily="34" charset="-120"/>
                        </a:rPr>
                        <a:t>Tech Lead / Architect</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b="1">
                          <a:solidFill>
                            <a:schemeClr val="tx1"/>
                          </a:solidFill>
                          <a:latin typeface="+mn-lt"/>
                          <a:ea typeface="GT America" pitchFamily="34" charset="-122"/>
                          <a:cs typeface="GT America" pitchFamily="34" charset="-120"/>
                        </a:rPr>
                        <a:t>0.5</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uLnTx/>
                          <a:uFillTx/>
                          <a:latin typeface="+mn-lt"/>
                          <a:ea typeface="GT America" pitchFamily="34" charset="-122"/>
                          <a:cs typeface="GT America" pitchFamily="34" charset="-120"/>
                        </a:rPr>
                        <a:t>30 </a:t>
                      </a:r>
                      <a:endParaRPr kumimoji="0" lang="en-US" sz="1100" b="0" i="0" u="none" strike="noStrike" kern="1200" cap="none" spc="0" normalizeH="0" baseline="0" noProof="0">
                        <a:ln>
                          <a:noFill/>
                        </a:ln>
                        <a:solidFill>
                          <a:srgbClr val="212121"/>
                        </a:solidFill>
                        <a:effectLst/>
                        <a:uLnTx/>
                        <a:uFillTx/>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a:solidFill>
                            <a:schemeClr val="tx1"/>
                          </a:solidFill>
                          <a:latin typeface="+mn-lt"/>
                          <a:ea typeface="GT America" pitchFamily="34" charset="-122"/>
                          <a:cs typeface="GT America" pitchFamily="34" charset="-120"/>
                        </a:rPr>
                        <a:t>Part-time</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buNone/>
                      </a:pPr>
                      <a:r>
                        <a:rPr lang="en-US" sz="1100">
                          <a:solidFill>
                            <a:schemeClr val="tx1"/>
                          </a:solidFill>
                          <a:latin typeface="+mn-lt"/>
                          <a:ea typeface="GT America" pitchFamily="34" charset="-122"/>
                          <a:cs typeface="GT America" pitchFamily="34" charset="-120"/>
                        </a:rPr>
                        <a:t>Architecture decisions, integration design, AI extraction prompting, Sprint gate sign-off</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extLst>
                  <a:ext uri="{0D108BD9-81ED-4DB2-BD59-A6C34878D82A}">
                    <a16:rowId xmlns:a16="http://schemas.microsoft.com/office/drawing/2014/main" val="10001"/>
                  </a:ext>
                </a:extLst>
              </a:tr>
              <a:tr h="276051">
                <a:tc>
                  <a:txBody>
                    <a:bodyPr/>
                    <a:lstStyle/>
                    <a:p>
                      <a:pPr marL="0" indent="0">
                        <a:buNone/>
                      </a:pPr>
                      <a:r>
                        <a:rPr lang="en-US" sz="1100">
                          <a:solidFill>
                            <a:schemeClr val="tx1"/>
                          </a:solidFill>
                          <a:latin typeface="+mn-lt"/>
                          <a:ea typeface="GT America" pitchFamily="34" charset="-122"/>
                          <a:cs typeface="GT America" pitchFamily="34" charset="-120"/>
                        </a:rPr>
                        <a:t>Senior Full Stack Engineer</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b="1">
                          <a:solidFill>
                            <a:schemeClr val="tx1"/>
                          </a:solidFill>
                          <a:latin typeface="+mn-lt"/>
                          <a:ea typeface="GT America" pitchFamily="34" charset="-122"/>
                          <a:cs typeface="GT America" pitchFamily="34" charset="-120"/>
                        </a:rPr>
                        <a:t>1</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uLnTx/>
                          <a:uFillTx/>
                          <a:latin typeface="GT America Lt"/>
                          <a:ea typeface="GT America" pitchFamily="34" charset="-122"/>
                          <a:cs typeface="GT America" pitchFamily="34" charset="-120"/>
                        </a:rPr>
                        <a:t>30 </a:t>
                      </a:r>
                      <a:endParaRPr kumimoji="0" lang="en-US" sz="1100" b="0" i="0" u="none" strike="noStrike" kern="1200" cap="none" spc="0" normalizeH="0" baseline="0" noProof="0">
                        <a:ln>
                          <a:noFill/>
                        </a:ln>
                        <a:solidFill>
                          <a:srgbClr val="212121"/>
                        </a:solidFill>
                        <a:effectLst/>
                        <a:uLnTx/>
                        <a:uFillTx/>
                        <a:latin typeface="GT America 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a:solidFill>
                            <a:schemeClr val="tx1"/>
                          </a:solidFill>
                          <a:latin typeface="+mn-lt"/>
                          <a:ea typeface="GT America" pitchFamily="34" charset="-122"/>
                          <a:cs typeface="GT America" pitchFamily="34" charset="-120"/>
                        </a:rPr>
                        <a:t>Full-time</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buNone/>
                      </a:pPr>
                      <a:r>
                        <a:rPr lang="en-US" sz="1100">
                          <a:solidFill>
                            <a:schemeClr val="tx1"/>
                          </a:solidFill>
                          <a:latin typeface="+mn-lt"/>
                          <a:ea typeface="GT America" pitchFamily="34" charset="-122"/>
                          <a:cs typeface="GT America" pitchFamily="34" charset="-120"/>
                        </a:rPr>
                        <a:t>Platform build, extraction service, rules engine, queue backend</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extLst>
                  <a:ext uri="{0D108BD9-81ED-4DB2-BD59-A6C34878D82A}">
                    <a16:rowId xmlns:a16="http://schemas.microsoft.com/office/drawing/2014/main" val="10002"/>
                  </a:ext>
                </a:extLst>
              </a:tr>
              <a:tr h="276051">
                <a:tc>
                  <a:txBody>
                    <a:bodyPr/>
                    <a:lstStyle/>
                    <a:p>
                      <a:pPr marL="0" indent="0">
                        <a:buNone/>
                      </a:pPr>
                      <a:r>
                        <a:rPr lang="en-US" sz="1100">
                          <a:solidFill>
                            <a:schemeClr val="tx1"/>
                          </a:solidFill>
                          <a:latin typeface="+mn-lt"/>
                          <a:ea typeface="GT America" pitchFamily="34" charset="-122"/>
                          <a:cs typeface="GT America" pitchFamily="34" charset="-120"/>
                        </a:rPr>
                        <a:t>Mid-Level Full Stack Engineer</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b="1">
                          <a:solidFill>
                            <a:schemeClr val="tx1"/>
                          </a:solidFill>
                          <a:latin typeface="+mn-lt"/>
                          <a:ea typeface="GT America" pitchFamily="34" charset="-122"/>
                          <a:cs typeface="GT America" pitchFamily="34" charset="-120"/>
                        </a:rPr>
                        <a:t>1</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uLnTx/>
                          <a:uFillTx/>
                          <a:latin typeface="GT America Lt"/>
                          <a:ea typeface="GT America" pitchFamily="34" charset="-122"/>
                          <a:cs typeface="GT America" pitchFamily="34" charset="-120"/>
                        </a:rPr>
                        <a:t>30 </a:t>
                      </a:r>
                      <a:endParaRPr kumimoji="0" lang="en-US" sz="1100" b="0" i="0" u="none" strike="noStrike" kern="1200" cap="none" spc="0" normalizeH="0" baseline="0" noProof="0">
                        <a:ln>
                          <a:noFill/>
                        </a:ln>
                        <a:solidFill>
                          <a:srgbClr val="212121"/>
                        </a:solidFill>
                        <a:effectLst/>
                        <a:uLnTx/>
                        <a:uFillTx/>
                        <a:latin typeface="GT America 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a:solidFill>
                            <a:schemeClr val="tx1"/>
                          </a:solidFill>
                          <a:latin typeface="+mn-lt"/>
                          <a:ea typeface="GT America" pitchFamily="34" charset="-122"/>
                          <a:cs typeface="GT America" pitchFamily="34" charset="-120"/>
                        </a:rPr>
                        <a:t>Full-time</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buNone/>
                      </a:pPr>
                      <a:r>
                        <a:rPr lang="en-US" sz="1100">
                          <a:solidFill>
                            <a:schemeClr val="tx1"/>
                          </a:solidFill>
                          <a:latin typeface="+mn-lt"/>
                          <a:ea typeface="GT America" pitchFamily="34" charset="-122"/>
                          <a:cs typeface="GT America" pitchFamily="34" charset="-120"/>
                        </a:rPr>
                        <a:t>Backend services, data migration, lender code lookup, integrations</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extLst>
                  <a:ext uri="{0D108BD9-81ED-4DB2-BD59-A6C34878D82A}">
                    <a16:rowId xmlns:a16="http://schemas.microsoft.com/office/drawing/2014/main" val="10003"/>
                  </a:ext>
                </a:extLst>
              </a:tr>
              <a:tr h="276051">
                <a:tc>
                  <a:txBody>
                    <a:bodyPr/>
                    <a:lstStyle/>
                    <a:p>
                      <a:pPr marL="0" indent="0">
                        <a:buNone/>
                      </a:pPr>
                      <a:r>
                        <a:rPr lang="en-US" sz="1100">
                          <a:solidFill>
                            <a:schemeClr val="tx1"/>
                          </a:solidFill>
                          <a:latin typeface="+mn-lt"/>
                          <a:ea typeface="GT America" pitchFamily="34" charset="-122"/>
                          <a:cs typeface="GT America" pitchFamily="34" charset="-120"/>
                        </a:rPr>
                        <a:t>Senior React Developer</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b="1">
                          <a:solidFill>
                            <a:schemeClr val="tx1"/>
                          </a:solidFill>
                          <a:latin typeface="+mn-lt"/>
                          <a:ea typeface="GT America" pitchFamily="34" charset="-122"/>
                          <a:cs typeface="GT America" pitchFamily="34" charset="-120"/>
                        </a:rPr>
                        <a:t>1</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uLnTx/>
                          <a:uFillTx/>
                          <a:latin typeface="GT America Lt"/>
                          <a:ea typeface="GT America" pitchFamily="34" charset="-122"/>
                          <a:cs typeface="GT America" pitchFamily="34" charset="-120"/>
                        </a:rPr>
                        <a:t>30 </a:t>
                      </a:r>
                      <a:endParaRPr kumimoji="0" lang="en-US" sz="1100" b="0" i="0" u="none" strike="noStrike" kern="1200" cap="none" spc="0" normalizeH="0" baseline="0" noProof="0">
                        <a:ln>
                          <a:noFill/>
                        </a:ln>
                        <a:solidFill>
                          <a:srgbClr val="212121"/>
                        </a:solidFill>
                        <a:effectLst/>
                        <a:uLnTx/>
                        <a:uFillTx/>
                        <a:latin typeface="GT America 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a:solidFill>
                            <a:schemeClr val="tx1"/>
                          </a:solidFill>
                          <a:latin typeface="+mn-lt"/>
                          <a:ea typeface="GT America" pitchFamily="34" charset="-122"/>
                          <a:cs typeface="GT America" pitchFamily="34" charset="-120"/>
                        </a:rPr>
                        <a:t>Full-time</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buNone/>
                      </a:pPr>
                      <a:r>
                        <a:rPr lang="en-US" sz="1100">
                          <a:solidFill>
                            <a:schemeClr val="tx1"/>
                          </a:solidFill>
                          <a:latin typeface="+mn-lt"/>
                          <a:ea typeface="GT America" pitchFamily="34" charset="-122"/>
                          <a:cs typeface="GT America" pitchFamily="34" charset="-120"/>
                        </a:rPr>
                        <a:t>QC Workbench, client portal, ops dashboards, all frontend surfaces</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extLst>
                  <a:ext uri="{0D108BD9-81ED-4DB2-BD59-A6C34878D82A}">
                    <a16:rowId xmlns:a16="http://schemas.microsoft.com/office/drawing/2014/main" val="10004"/>
                  </a:ext>
                </a:extLst>
              </a:tr>
              <a:tr h="276051">
                <a:tc>
                  <a:txBody>
                    <a:bodyPr/>
                    <a:lstStyle/>
                    <a:p>
                      <a:pPr marL="0" indent="0">
                        <a:buNone/>
                      </a:pPr>
                      <a:r>
                        <a:rPr lang="en-US" sz="1100">
                          <a:solidFill>
                            <a:schemeClr val="tx1"/>
                          </a:solidFill>
                          <a:latin typeface="+mn-lt"/>
                          <a:ea typeface="GT America" pitchFamily="34" charset="-122"/>
                          <a:cs typeface="GT America" pitchFamily="34" charset="-120"/>
                        </a:rPr>
                        <a:t>Senior Business Analyst</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b="1">
                          <a:solidFill>
                            <a:schemeClr val="tx1"/>
                          </a:solidFill>
                          <a:latin typeface="+mn-lt"/>
                          <a:ea typeface="GT America" pitchFamily="34" charset="-122"/>
                          <a:cs typeface="GT America" pitchFamily="34" charset="-120"/>
                        </a:rPr>
                        <a:t>1</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uLnTx/>
                          <a:uFillTx/>
                          <a:latin typeface="GT America Lt"/>
                          <a:ea typeface="GT America" pitchFamily="34" charset="-122"/>
                          <a:cs typeface="GT America" pitchFamily="34" charset="-120"/>
                        </a:rPr>
                        <a:t>30 </a:t>
                      </a:r>
                      <a:endParaRPr kumimoji="0" lang="en-US" sz="1100" b="0" i="0" u="none" strike="noStrike" kern="1200" cap="none" spc="0" normalizeH="0" baseline="0" noProof="0">
                        <a:ln>
                          <a:noFill/>
                        </a:ln>
                        <a:solidFill>
                          <a:srgbClr val="212121"/>
                        </a:solidFill>
                        <a:effectLst/>
                        <a:uLnTx/>
                        <a:uFillTx/>
                        <a:latin typeface="GT America 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a:solidFill>
                            <a:schemeClr val="tx1"/>
                          </a:solidFill>
                          <a:latin typeface="+mn-lt"/>
                          <a:ea typeface="GT America" pitchFamily="34" charset="-122"/>
                          <a:cs typeface="GT America" pitchFamily="34" charset="-120"/>
                        </a:rPr>
                        <a:t>Full-time</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buNone/>
                      </a:pPr>
                      <a:r>
                        <a:rPr lang="en-US" sz="1100">
                          <a:solidFill>
                            <a:schemeClr val="tx1"/>
                          </a:solidFill>
                          <a:latin typeface="+mn-lt"/>
                          <a:ea typeface="GT America" pitchFamily="34" charset="-122"/>
                          <a:cs typeface="GT America" pitchFamily="34" charset="-120"/>
                        </a:rPr>
                        <a:t>Rules definition workshops, UAT, change management, reporting requirements</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extLst>
                  <a:ext uri="{0D108BD9-81ED-4DB2-BD59-A6C34878D82A}">
                    <a16:rowId xmlns:a16="http://schemas.microsoft.com/office/drawing/2014/main" val="10005"/>
                  </a:ext>
                </a:extLst>
              </a:tr>
              <a:tr h="276051">
                <a:tc>
                  <a:txBody>
                    <a:bodyPr/>
                    <a:lstStyle/>
                    <a:p>
                      <a:pPr marL="0" indent="0">
                        <a:buNone/>
                      </a:pPr>
                      <a:r>
                        <a:rPr lang="en-US" sz="1100">
                          <a:solidFill>
                            <a:schemeClr val="tx1"/>
                          </a:solidFill>
                          <a:latin typeface="+mn-lt"/>
                          <a:ea typeface="GT America" pitchFamily="34" charset="-122"/>
                          <a:cs typeface="GT America" pitchFamily="34" charset="-120"/>
                        </a:rPr>
                        <a:t>Senior QA Engineer</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b="1">
                          <a:solidFill>
                            <a:schemeClr val="tx1"/>
                          </a:solidFill>
                          <a:latin typeface="+mn-lt"/>
                          <a:ea typeface="GT America" pitchFamily="34" charset="-122"/>
                          <a:cs typeface="GT America" pitchFamily="34" charset="-120"/>
                        </a:rPr>
                        <a:t>1</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uLnTx/>
                          <a:uFillTx/>
                          <a:latin typeface="GT America Lt"/>
                          <a:ea typeface="GT America" pitchFamily="34" charset="-122"/>
                          <a:cs typeface="GT America" pitchFamily="34" charset="-120"/>
                        </a:rPr>
                        <a:t>30 </a:t>
                      </a:r>
                      <a:endParaRPr kumimoji="0" lang="en-US" sz="1100" b="0" i="0" u="none" strike="noStrike" kern="1200" cap="none" spc="0" normalizeH="0" baseline="0" noProof="0">
                        <a:ln>
                          <a:noFill/>
                        </a:ln>
                        <a:solidFill>
                          <a:srgbClr val="212121"/>
                        </a:solidFill>
                        <a:effectLst/>
                        <a:uLnTx/>
                        <a:uFillTx/>
                        <a:latin typeface="GT America 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a:solidFill>
                            <a:schemeClr val="tx1"/>
                          </a:solidFill>
                          <a:latin typeface="+mn-lt"/>
                          <a:ea typeface="GT America" pitchFamily="34" charset="-122"/>
                          <a:cs typeface="GT America" pitchFamily="34" charset="-120"/>
                        </a:rPr>
                        <a:t>Full-time</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buNone/>
                      </a:pPr>
                      <a:r>
                        <a:rPr lang="en-US" sz="1100">
                          <a:solidFill>
                            <a:schemeClr val="tx1"/>
                          </a:solidFill>
                          <a:latin typeface="+mn-lt"/>
                          <a:ea typeface="GT America" pitchFamily="34" charset="-122"/>
                          <a:cs typeface="GT America" pitchFamily="34" charset="-120"/>
                        </a:rPr>
                        <a:t>Extraction accuracy validation, integration testing, regression, performance</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extLst>
                  <a:ext uri="{0D108BD9-81ED-4DB2-BD59-A6C34878D82A}">
                    <a16:rowId xmlns:a16="http://schemas.microsoft.com/office/drawing/2014/main" val="10006"/>
                  </a:ext>
                </a:extLst>
              </a:tr>
              <a:tr h="276051">
                <a:tc>
                  <a:txBody>
                    <a:bodyPr/>
                    <a:lstStyle/>
                    <a:p>
                      <a:pPr marL="0" indent="0">
                        <a:buNone/>
                      </a:pPr>
                      <a:r>
                        <a:rPr lang="en-US" sz="1100">
                          <a:solidFill>
                            <a:schemeClr val="tx1"/>
                          </a:solidFill>
                          <a:latin typeface="+mn-lt"/>
                          <a:ea typeface="GT America" pitchFamily="34" charset="-122"/>
                          <a:cs typeface="GT America" pitchFamily="34" charset="-120"/>
                        </a:rPr>
                        <a:t>DevOps Engineer</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b="1">
                          <a:solidFill>
                            <a:schemeClr val="tx1"/>
                          </a:solidFill>
                          <a:latin typeface="+mn-lt"/>
                          <a:ea typeface="GT America" pitchFamily="34" charset="-122"/>
                          <a:cs typeface="GT America" pitchFamily="34" charset="-120"/>
                        </a:rPr>
                        <a:t>0.5</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uLnTx/>
                          <a:uFillTx/>
                          <a:latin typeface="GT America Lt"/>
                          <a:ea typeface="GT America" pitchFamily="34" charset="-122"/>
                          <a:cs typeface="GT America" pitchFamily="34" charset="-120"/>
                        </a:rPr>
                        <a:t>30 </a:t>
                      </a:r>
                      <a:endParaRPr kumimoji="0" lang="en-US" sz="1100" b="0" i="0" u="none" strike="noStrike" kern="1200" cap="none" spc="0" normalizeH="0" baseline="0" noProof="0">
                        <a:ln>
                          <a:noFill/>
                        </a:ln>
                        <a:solidFill>
                          <a:srgbClr val="212121"/>
                        </a:solidFill>
                        <a:effectLst/>
                        <a:uLnTx/>
                        <a:uFillTx/>
                        <a:latin typeface="GT America 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lgn="ctr">
                        <a:buNone/>
                      </a:pPr>
                      <a:r>
                        <a:rPr lang="en-US" sz="1100">
                          <a:solidFill>
                            <a:schemeClr val="tx1"/>
                          </a:solidFill>
                          <a:latin typeface="+mn-lt"/>
                          <a:ea typeface="GT America" pitchFamily="34" charset="-122"/>
                          <a:cs typeface="GT America" pitchFamily="34" charset="-120"/>
                        </a:rPr>
                        <a:t>Part-time</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tc>
                  <a:txBody>
                    <a:bodyPr/>
                    <a:lstStyle/>
                    <a:p>
                      <a:pPr marL="0" indent="0">
                        <a:buNone/>
                      </a:pPr>
                      <a:r>
                        <a:rPr lang="en-US" sz="1100">
                          <a:solidFill>
                            <a:schemeClr val="tx1"/>
                          </a:solidFill>
                          <a:latin typeface="+mn-lt"/>
                          <a:ea typeface="GT America" pitchFamily="34" charset="-122"/>
                          <a:cs typeface="GT America" pitchFamily="34" charset="-120"/>
                        </a:rPr>
                        <a:t>On-prem infrastructure, CI/CD, security hardening, cutover execution</a:t>
                      </a:r>
                      <a:endParaRPr lang="en-US" sz="1100">
                        <a:solidFill>
                          <a:schemeClr val="tx1"/>
                        </a:solidFill>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4">
            <a:extLst>
              <a:ext uri="{FF2B5EF4-FFF2-40B4-BE49-F238E27FC236}">
                <a16:creationId xmlns:a16="http://schemas.microsoft.com/office/drawing/2014/main" id="{24D4AF90-1D6A-FA75-A6BE-A45EDB494877}"/>
              </a:ext>
            </a:extLst>
          </p:cNvPr>
          <p:cNvSpPr/>
          <p:nvPr/>
        </p:nvSpPr>
        <p:spPr>
          <a:xfrm>
            <a:off x="304800" y="4214035"/>
            <a:ext cx="11582394" cy="548640"/>
          </a:xfrm>
          <a:prstGeom prst="rect">
            <a:avLst/>
          </a:prstGeom>
          <a:solidFill>
            <a:srgbClr val="EFEFEE"/>
          </a:solidFill>
          <a:ln w="6350">
            <a:solidFill>
              <a:srgbClr val="D8D8CE"/>
            </a:solidFill>
            <a:prstDash val="solid"/>
          </a:ln>
        </p:spPr>
        <p:txBody>
          <a:bodyPr/>
          <a:lstStyle/>
          <a:p>
            <a:endParaRPr lang="en-IN"/>
          </a:p>
        </p:txBody>
      </p:sp>
      <p:sp>
        <p:nvSpPr>
          <p:cNvPr id="7" name="Shape 5">
            <a:extLst>
              <a:ext uri="{FF2B5EF4-FFF2-40B4-BE49-F238E27FC236}">
                <a16:creationId xmlns:a16="http://schemas.microsoft.com/office/drawing/2014/main" id="{476B0081-BD4D-2281-3DCF-61BCC288A1FB}"/>
              </a:ext>
            </a:extLst>
          </p:cNvPr>
          <p:cNvSpPr/>
          <p:nvPr/>
        </p:nvSpPr>
        <p:spPr>
          <a:xfrm>
            <a:off x="304800" y="4214035"/>
            <a:ext cx="54864" cy="548640"/>
          </a:xfrm>
          <a:prstGeom prst="rect">
            <a:avLst/>
          </a:prstGeom>
          <a:solidFill>
            <a:srgbClr val="F26A21"/>
          </a:solidFill>
          <a:ln w="12700">
            <a:solidFill>
              <a:srgbClr val="F26A21"/>
            </a:solidFill>
            <a:prstDash val="solid"/>
          </a:ln>
        </p:spPr>
        <p:txBody>
          <a:bodyPr/>
          <a:lstStyle/>
          <a:p>
            <a:endParaRPr lang="en-IN"/>
          </a:p>
        </p:txBody>
      </p:sp>
      <p:sp>
        <p:nvSpPr>
          <p:cNvPr id="8" name="Text 6">
            <a:extLst>
              <a:ext uri="{FF2B5EF4-FFF2-40B4-BE49-F238E27FC236}">
                <a16:creationId xmlns:a16="http://schemas.microsoft.com/office/drawing/2014/main" id="{84B2862C-D054-2E0F-D8D6-8195D84BDCC9}"/>
              </a:ext>
            </a:extLst>
          </p:cNvPr>
          <p:cNvSpPr/>
          <p:nvPr/>
        </p:nvSpPr>
        <p:spPr>
          <a:xfrm>
            <a:off x="441960" y="4232323"/>
            <a:ext cx="1463040" cy="201168"/>
          </a:xfrm>
          <a:prstGeom prst="rect">
            <a:avLst/>
          </a:prstGeom>
          <a:noFill/>
          <a:ln/>
        </p:spPr>
        <p:txBody>
          <a:bodyPr wrap="square" lIns="0" tIns="0" rIns="0" bIns="0" rtlCol="0" anchor="ctr"/>
          <a:lstStyle/>
          <a:p>
            <a:pPr marL="0" indent="0">
              <a:buNone/>
            </a:pPr>
            <a:r>
              <a:rPr lang="en-US" sz="1000" b="1">
                <a:solidFill>
                  <a:srgbClr val="F26A21"/>
                </a:solidFill>
                <a:latin typeface="GT America" pitchFamily="34" charset="0"/>
                <a:ea typeface="GT America" pitchFamily="34" charset="-122"/>
                <a:cs typeface="GT America" pitchFamily="34" charset="-120"/>
              </a:rPr>
              <a:t>Vendor Investment</a:t>
            </a:r>
            <a:endParaRPr lang="en-US" sz="1000"/>
          </a:p>
        </p:txBody>
      </p:sp>
      <p:sp>
        <p:nvSpPr>
          <p:cNvPr id="9" name="Text 7">
            <a:extLst>
              <a:ext uri="{FF2B5EF4-FFF2-40B4-BE49-F238E27FC236}">
                <a16:creationId xmlns:a16="http://schemas.microsoft.com/office/drawing/2014/main" id="{B80E6CEE-51F1-8275-3865-7BCC1251A9EF}"/>
              </a:ext>
            </a:extLst>
          </p:cNvPr>
          <p:cNvSpPr/>
          <p:nvPr/>
        </p:nvSpPr>
        <p:spPr>
          <a:xfrm>
            <a:off x="441960" y="4433491"/>
            <a:ext cx="11308080" cy="292608"/>
          </a:xfrm>
          <a:prstGeom prst="rect">
            <a:avLst/>
          </a:prstGeom>
          <a:noFill/>
          <a:ln/>
        </p:spPr>
        <p:txBody>
          <a:bodyPr wrap="square" lIns="0" tIns="0" rIns="0" bIns="0" rtlCol="0" anchor="ctr"/>
          <a:lstStyle/>
          <a:p>
            <a:pPr marL="0" indent="0">
              <a:buNone/>
            </a:pPr>
            <a:r>
              <a:rPr lang="en-US" sz="950">
                <a:solidFill>
                  <a:srgbClr val="282828"/>
                </a:solidFill>
                <a:latin typeface="GT America" pitchFamily="34" charset="0"/>
                <a:ea typeface="GT America" pitchFamily="34" charset="-122"/>
                <a:cs typeface="GT America" pitchFamily="34" charset="-120"/>
              </a:rPr>
              <a:t>The Tech Lead / Architect is absorbed at vendor cost. This role owns all architecture decisions from Sprint 0 through Sprint 15 - AI extraction prompt design, integration patterns, security architecture, Sprint gate sign-off. Its presence throughout the program is the control that makes AI-assisted delivery safe.</a:t>
            </a:r>
            <a:endParaRPr lang="en-US" sz="950"/>
          </a:p>
        </p:txBody>
      </p:sp>
      <p:sp>
        <p:nvSpPr>
          <p:cNvPr id="10" name="Text 8">
            <a:extLst>
              <a:ext uri="{FF2B5EF4-FFF2-40B4-BE49-F238E27FC236}">
                <a16:creationId xmlns:a16="http://schemas.microsoft.com/office/drawing/2014/main" id="{770C70E1-4724-C11D-7B52-D1CAA3234D99}"/>
              </a:ext>
            </a:extLst>
          </p:cNvPr>
          <p:cNvSpPr/>
          <p:nvPr/>
        </p:nvSpPr>
        <p:spPr>
          <a:xfrm>
            <a:off x="359664" y="4956716"/>
            <a:ext cx="2286000" cy="201168"/>
          </a:xfrm>
          <a:prstGeom prst="rect">
            <a:avLst/>
          </a:prstGeom>
          <a:noFill/>
          <a:ln/>
        </p:spPr>
        <p:txBody>
          <a:bodyPr wrap="square" lIns="0" tIns="0" rIns="0" bIns="0" rtlCol="0" anchor="ctr"/>
          <a:lstStyle/>
          <a:p>
            <a:pPr marL="0" indent="0">
              <a:buNone/>
            </a:pPr>
            <a:r>
              <a:rPr lang="en-US" sz="1200" b="1" kern="0" spc="100">
                <a:solidFill>
                  <a:srgbClr val="00B8BB"/>
                </a:solidFill>
                <a:latin typeface="GT America" pitchFamily="34" charset="0"/>
                <a:ea typeface="GT America" pitchFamily="34" charset="-122"/>
                <a:cs typeface="GT America" pitchFamily="34" charset="-120"/>
              </a:rPr>
              <a:t>GOVERNANCE CADENCE</a:t>
            </a:r>
            <a:endParaRPr lang="en-US" sz="1200"/>
          </a:p>
        </p:txBody>
      </p:sp>
      <p:sp>
        <p:nvSpPr>
          <p:cNvPr id="11" name="Shape 9">
            <a:extLst>
              <a:ext uri="{FF2B5EF4-FFF2-40B4-BE49-F238E27FC236}">
                <a16:creationId xmlns:a16="http://schemas.microsoft.com/office/drawing/2014/main" id="{EE953768-F4F7-A1E5-31AE-046C774D1887}"/>
              </a:ext>
            </a:extLst>
          </p:cNvPr>
          <p:cNvSpPr/>
          <p:nvPr/>
        </p:nvSpPr>
        <p:spPr>
          <a:xfrm>
            <a:off x="359663" y="5167028"/>
            <a:ext cx="11289411" cy="0"/>
          </a:xfrm>
          <a:prstGeom prst="line">
            <a:avLst/>
          </a:prstGeom>
          <a:noFill/>
          <a:ln w="6350">
            <a:solidFill>
              <a:srgbClr val="D8D8CE"/>
            </a:solidFill>
            <a:prstDash val="solid"/>
          </a:ln>
        </p:spPr>
        <p:txBody>
          <a:bodyPr/>
          <a:lstStyle/>
          <a:p>
            <a:endParaRPr lang="en-IN"/>
          </a:p>
        </p:txBody>
      </p:sp>
      <p:sp>
        <p:nvSpPr>
          <p:cNvPr id="12" name="Text 10">
            <a:extLst>
              <a:ext uri="{FF2B5EF4-FFF2-40B4-BE49-F238E27FC236}">
                <a16:creationId xmlns:a16="http://schemas.microsoft.com/office/drawing/2014/main" id="{F9A99D1C-9256-8658-8AF2-B38F806A7A27}"/>
              </a:ext>
            </a:extLst>
          </p:cNvPr>
          <p:cNvSpPr/>
          <p:nvPr/>
        </p:nvSpPr>
        <p:spPr>
          <a:xfrm>
            <a:off x="359664" y="5246228"/>
            <a:ext cx="10841736" cy="860863"/>
          </a:xfrm>
          <a:prstGeom prst="rect">
            <a:avLst/>
          </a:prstGeom>
          <a:noFill/>
          <a:ln/>
        </p:spPr>
        <p:txBody>
          <a:bodyPr wrap="square" lIns="0" tIns="0" rIns="0" bIns="0" rtlCol="0" anchor="ctr"/>
          <a:lstStyle/>
          <a:p>
            <a:pPr marL="171450" indent="-171450">
              <a:spcAft>
                <a:spcPts val="200"/>
              </a:spcAft>
              <a:buFont typeface="Arial" panose="020B0604020202020204" pitchFamily="34" charset="0"/>
              <a:buChar char="•"/>
            </a:pPr>
            <a:r>
              <a:rPr lang="en-US" sz="1050" b="1">
                <a:solidFill>
                  <a:srgbClr val="282828"/>
                </a:solidFill>
                <a:latin typeface="GT America" pitchFamily="34" charset="0"/>
                <a:ea typeface="GT America" pitchFamily="34" charset="-122"/>
                <a:cs typeface="GT America" pitchFamily="34" charset="-120"/>
              </a:rPr>
              <a:t>Sprint planning</a:t>
            </a:r>
            <a:r>
              <a:rPr lang="en-US" sz="1050">
                <a:solidFill>
                  <a:srgbClr val="282828"/>
                </a:solidFill>
                <a:latin typeface="GT America" pitchFamily="34" charset="0"/>
                <a:ea typeface="GT America" pitchFamily="34" charset="-122"/>
                <a:cs typeface="GT America" pitchFamily="34" charset="-120"/>
              </a:rPr>
              <a:t>: beginning of each 2-week sprint - backlog prioritization, capacity confirmation, dependency check</a:t>
            </a:r>
          </a:p>
          <a:p>
            <a:pPr marL="171450" indent="-171450">
              <a:spcAft>
                <a:spcPts val="200"/>
              </a:spcAft>
              <a:buFont typeface="Arial" panose="020B0604020202020204" pitchFamily="34" charset="0"/>
              <a:buChar char="•"/>
            </a:pPr>
            <a:r>
              <a:rPr lang="en-US" sz="1050" b="1">
                <a:solidFill>
                  <a:srgbClr val="282828"/>
                </a:solidFill>
                <a:latin typeface="GT America" pitchFamily="34" charset="0"/>
                <a:ea typeface="GT America" pitchFamily="34" charset="-122"/>
                <a:cs typeface="GT America" pitchFamily="34" charset="-120"/>
              </a:rPr>
              <a:t>Sprint demo</a:t>
            </a:r>
            <a:r>
              <a:rPr lang="en-US" sz="1050">
                <a:solidFill>
                  <a:srgbClr val="282828"/>
                </a:solidFill>
                <a:latin typeface="GT America" pitchFamily="34" charset="0"/>
                <a:ea typeface="GT America" pitchFamily="34" charset="-122"/>
                <a:cs typeface="GT America" pitchFamily="34" charset="-120"/>
              </a:rPr>
              <a:t>: end of each sprint - working software demonstrated to client stakeholders, not slide updates</a:t>
            </a:r>
          </a:p>
          <a:p>
            <a:pPr marL="171450" indent="-171450">
              <a:spcAft>
                <a:spcPts val="200"/>
              </a:spcAft>
              <a:buFont typeface="Arial" panose="020B0604020202020204" pitchFamily="34" charset="0"/>
              <a:buChar char="•"/>
            </a:pPr>
            <a:r>
              <a:rPr lang="en-US" sz="1050" b="1">
                <a:solidFill>
                  <a:srgbClr val="282828"/>
                </a:solidFill>
                <a:latin typeface="GT America" pitchFamily="34" charset="0"/>
                <a:ea typeface="GT America" pitchFamily="34" charset="-122"/>
                <a:cs typeface="GT America" pitchFamily="34" charset="-120"/>
              </a:rPr>
              <a:t>Sprint gate reviews</a:t>
            </a:r>
            <a:r>
              <a:rPr lang="en-US" sz="1050">
                <a:solidFill>
                  <a:srgbClr val="282828"/>
                </a:solidFill>
                <a:latin typeface="GT America" pitchFamily="34" charset="0"/>
                <a:ea typeface="GT America" pitchFamily="34" charset="-122"/>
                <a:cs typeface="GT America" pitchFamily="34" charset="-120"/>
              </a:rPr>
              <a:t>: Sprint 5 and Sprint 11 - formal go/no-go before Phase 2 and Phase 3 respectively</a:t>
            </a:r>
          </a:p>
          <a:p>
            <a:pPr marL="171450" indent="-171450">
              <a:spcAft>
                <a:spcPts val="200"/>
              </a:spcAft>
              <a:buFont typeface="Arial" panose="020B0604020202020204" pitchFamily="34" charset="0"/>
              <a:buChar char="•"/>
            </a:pPr>
            <a:r>
              <a:rPr lang="en-US" sz="1050" b="1">
                <a:solidFill>
                  <a:srgbClr val="282828"/>
                </a:solidFill>
                <a:latin typeface="GT America" pitchFamily="34" charset="0"/>
                <a:ea typeface="GT America" pitchFamily="34" charset="-122"/>
                <a:cs typeface="GT America" pitchFamily="34" charset="-120"/>
              </a:rPr>
              <a:t>Weekly status</a:t>
            </a:r>
            <a:r>
              <a:rPr lang="en-US" sz="1050">
                <a:solidFill>
                  <a:srgbClr val="282828"/>
                </a:solidFill>
                <a:latin typeface="GT America" pitchFamily="34" charset="0"/>
                <a:ea typeface="GT America" pitchFamily="34" charset="-122"/>
                <a:cs typeface="GT America" pitchFamily="34" charset="-120"/>
              </a:rPr>
              <a:t>: async written update - sprint progress, risks, decisions required, blockers</a:t>
            </a:r>
          </a:p>
          <a:p>
            <a:pPr marL="171450" indent="-171450">
              <a:spcAft>
                <a:spcPts val="200"/>
              </a:spcAft>
              <a:buFont typeface="Arial" panose="020B0604020202020204" pitchFamily="34" charset="0"/>
              <a:buChar char="•"/>
            </a:pPr>
            <a:r>
              <a:rPr lang="en-US" sz="1050" b="1">
                <a:solidFill>
                  <a:srgbClr val="282828"/>
                </a:solidFill>
                <a:latin typeface="GT America" pitchFamily="34" charset="0"/>
                <a:ea typeface="GT America" pitchFamily="34" charset="-122"/>
                <a:cs typeface="GT America" pitchFamily="34" charset="-120"/>
              </a:rPr>
              <a:t>Escalation path</a:t>
            </a:r>
            <a:r>
              <a:rPr lang="en-US" sz="1050">
                <a:solidFill>
                  <a:srgbClr val="282828"/>
                </a:solidFill>
                <a:latin typeface="GT America" pitchFamily="34" charset="0"/>
                <a:ea typeface="GT America" pitchFamily="34" charset="-122"/>
                <a:cs typeface="GT America" pitchFamily="34" charset="-120"/>
              </a:rPr>
              <a:t>: any risk that cannot be resolved within the sprint surfaces to client sponsor within 48 hours</a:t>
            </a:r>
          </a:p>
        </p:txBody>
      </p:sp>
    </p:spTree>
    <p:extLst>
      <p:ext uri="{BB962C8B-B14F-4D97-AF65-F5344CB8AC3E}">
        <p14:creationId xmlns:p14="http://schemas.microsoft.com/office/powerpoint/2010/main" val="267244031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37E4B-EFF7-8615-3541-7A830453CA74}"/>
              </a:ext>
            </a:extLst>
          </p:cNvPr>
          <p:cNvSpPr>
            <a:spLocks noGrp="1"/>
          </p:cNvSpPr>
          <p:nvPr>
            <p:ph type="title"/>
          </p:nvPr>
        </p:nvSpPr>
        <p:spPr/>
        <p:txBody>
          <a:bodyPr/>
          <a:lstStyle/>
          <a:p>
            <a:r>
              <a:rPr lang="en-IN"/>
              <a:t>Proposed Technology Stack</a:t>
            </a:r>
          </a:p>
        </p:txBody>
      </p:sp>
      <p:sp>
        <p:nvSpPr>
          <p:cNvPr id="5" name="Text 3">
            <a:extLst>
              <a:ext uri="{FF2B5EF4-FFF2-40B4-BE49-F238E27FC236}">
                <a16:creationId xmlns:a16="http://schemas.microsoft.com/office/drawing/2014/main" id="{D7850CA8-C35A-830C-6CDB-B877D0E85CE1}"/>
              </a:ext>
            </a:extLst>
          </p:cNvPr>
          <p:cNvSpPr/>
          <p:nvPr/>
        </p:nvSpPr>
        <p:spPr>
          <a:xfrm>
            <a:off x="304799" y="960120"/>
            <a:ext cx="11582397" cy="477203"/>
          </a:xfrm>
          <a:prstGeom prst="rect">
            <a:avLst/>
          </a:prstGeom>
          <a:noFill/>
          <a:ln/>
        </p:spPr>
        <p:txBody>
          <a:bodyPr wrap="square" lIns="0" tIns="0" rIns="0" bIns="0" rtlCol="0" anchor="ctr"/>
          <a:lstStyle/>
          <a:p>
            <a:pPr marL="0" indent="0">
              <a:buNone/>
            </a:pPr>
            <a:r>
              <a:rPr lang="en-US" sz="1200" b="1" i="1">
                <a:latin typeface="GT America" pitchFamily="34" charset="0"/>
                <a:ea typeface="GT America" pitchFamily="34" charset="-122"/>
                <a:cs typeface="GT America" pitchFamily="34" charset="-120"/>
              </a:rPr>
              <a:t>The technology choices below reflect four constraints specific to this program: on-premises deployment requirement, a team of senior generalist engineers (not specialists per technology), AI-assisted delivery accelerating the build, and the need for the firm to own and maintain the platform after handover without ongoing vendor dependency.</a:t>
            </a:r>
            <a:endParaRPr lang="en-US" sz="1200" b="1"/>
          </a:p>
        </p:txBody>
      </p:sp>
      <p:graphicFrame>
        <p:nvGraphicFramePr>
          <p:cNvPr id="6" name="Table 0">
            <a:extLst>
              <a:ext uri="{FF2B5EF4-FFF2-40B4-BE49-F238E27FC236}">
                <a16:creationId xmlns:a16="http://schemas.microsoft.com/office/drawing/2014/main" id="{656E21FB-411C-877C-7F15-A648AF045271}"/>
              </a:ext>
            </a:extLst>
          </p:cNvPr>
          <p:cNvGraphicFramePr>
            <a:graphicFrameLocks noGrp="1"/>
          </p:cNvGraphicFramePr>
          <p:nvPr>
            <p:extLst>
              <p:ext uri="{D42A27DB-BD31-4B8C-83A1-F6EECF244321}">
                <p14:modId xmlns:p14="http://schemas.microsoft.com/office/powerpoint/2010/main" val="1698832353"/>
              </p:ext>
            </p:extLst>
          </p:nvPr>
        </p:nvGraphicFramePr>
        <p:xfrm>
          <a:off x="304800" y="1764792"/>
          <a:ext cx="11582397" cy="4133087"/>
        </p:xfrm>
        <a:graphic>
          <a:graphicData uri="http://schemas.openxmlformats.org/drawingml/2006/table">
            <a:tbl>
              <a:tblPr/>
              <a:tblGrid>
                <a:gridCol w="3346026">
                  <a:extLst>
                    <a:ext uri="{9D8B030D-6E8A-4147-A177-3AD203B41FA5}">
                      <a16:colId xmlns:a16="http://schemas.microsoft.com/office/drawing/2014/main" val="20000"/>
                    </a:ext>
                  </a:extLst>
                </a:gridCol>
                <a:gridCol w="8236371">
                  <a:extLst>
                    <a:ext uri="{9D8B030D-6E8A-4147-A177-3AD203B41FA5}">
                      <a16:colId xmlns:a16="http://schemas.microsoft.com/office/drawing/2014/main" val="20001"/>
                    </a:ext>
                  </a:extLst>
                </a:gridCol>
              </a:tblGrid>
              <a:tr h="590441">
                <a:tc>
                  <a:txBody>
                    <a:bodyPr/>
                    <a:lstStyle/>
                    <a:p>
                      <a:pPr marL="0" indent="0">
                        <a:buNone/>
                      </a:pPr>
                      <a:r>
                        <a:rPr lang="en-US" sz="1200" b="1">
                          <a:solidFill>
                            <a:srgbClr val="FFFFFF"/>
                          </a:solidFill>
                          <a:latin typeface="GT America" pitchFamily="34" charset="0"/>
                          <a:ea typeface="GT America" pitchFamily="34" charset="-122"/>
                          <a:cs typeface="GT America" pitchFamily="34" charset="-120"/>
                        </a:rPr>
                        <a:t>Layer</a:t>
                      </a:r>
                      <a:endParaRPr lang="en-US" sz="1200">
                        <a:latin typeface="GT America" charset="0"/>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1200" b="1">
                          <a:solidFill>
                            <a:srgbClr val="FFFFFF"/>
                          </a:solidFill>
                          <a:latin typeface="GT America" pitchFamily="34" charset="0"/>
                          <a:ea typeface="GT America" pitchFamily="34" charset="-122"/>
                          <a:cs typeface="GT America" pitchFamily="34" charset="-120"/>
                        </a:rPr>
                        <a:t>Technology</a:t>
                      </a:r>
                      <a:endParaRPr lang="en-US" sz="1200">
                        <a:latin typeface="GT America" charset="0"/>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024854"/>
                    </a:solidFill>
                  </a:tcPr>
                </a:tc>
                <a:extLst>
                  <a:ext uri="{0D108BD9-81ED-4DB2-BD59-A6C34878D82A}">
                    <a16:rowId xmlns:a16="http://schemas.microsoft.com/office/drawing/2014/main" val="10000"/>
                  </a:ext>
                </a:extLst>
              </a:tr>
              <a:tr h="590441">
                <a:tc>
                  <a:txBody>
                    <a:bodyPr/>
                    <a:lstStyle/>
                    <a:p>
                      <a:pPr marL="0" indent="0">
                        <a:buNone/>
                      </a:pPr>
                      <a:r>
                        <a:rPr lang="en-US" sz="1200" b="1">
                          <a:solidFill>
                            <a:srgbClr val="024854"/>
                          </a:solidFill>
                          <a:latin typeface="+mn-lt"/>
                          <a:ea typeface="GT America" pitchFamily="34" charset="-122"/>
                          <a:cs typeface="GT America" pitchFamily="34" charset="-120"/>
                        </a:rPr>
                        <a:t>Client Portal</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React ·  Next.js ·  Tailwind CSS  ·  PDF.js</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0441">
                <a:tc>
                  <a:txBody>
                    <a:bodyPr/>
                    <a:lstStyle/>
                    <a:p>
                      <a:pPr marL="0" indent="0">
                        <a:buNone/>
                      </a:pPr>
                      <a:r>
                        <a:rPr lang="en-US" sz="1200" b="1">
                          <a:solidFill>
                            <a:srgbClr val="024854"/>
                          </a:solidFill>
                          <a:latin typeface="+mn-lt"/>
                          <a:ea typeface="GT America" pitchFamily="34" charset="-122"/>
                          <a:cs typeface="GT America" pitchFamily="34" charset="-120"/>
                        </a:rPr>
                        <a:t>Backend Services</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.NET 8 (C#)  ·  ASP.NET Core Web API  ·  SQL Server 2022</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0441">
                <a:tc>
                  <a:txBody>
                    <a:bodyPr/>
                    <a:lstStyle/>
                    <a:p>
                      <a:pPr marL="0" indent="0">
                        <a:buNone/>
                      </a:pPr>
                      <a:r>
                        <a:rPr lang="en-US" sz="1200" b="1">
                          <a:solidFill>
                            <a:srgbClr val="024854"/>
                          </a:solidFill>
                          <a:latin typeface="+mn-lt"/>
                          <a:ea typeface="GT America" pitchFamily="34" charset="-122"/>
                          <a:cs typeface="GT America" pitchFamily="34" charset="-120"/>
                        </a:rPr>
                        <a:t>Messaging &amp; Orchestration</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Azure Service Bus</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0441">
                <a:tc>
                  <a:txBody>
                    <a:bodyPr/>
                    <a:lstStyle/>
                    <a:p>
                      <a:pPr marL="0" indent="0">
                        <a:buNone/>
                      </a:pPr>
                      <a:r>
                        <a:rPr lang="en-US" sz="1200" b="1">
                          <a:solidFill>
                            <a:srgbClr val="024854"/>
                          </a:solidFill>
                          <a:latin typeface="+mn-lt"/>
                          <a:ea typeface="GT America" pitchFamily="34" charset="-122"/>
                          <a:cs typeface="GT America" pitchFamily="34" charset="-120"/>
                        </a:rPr>
                        <a:t>AI Extraction &amp; Rules</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Azure Document Intelligence  ·  LLM API  ·  LangChain.NET  ·  Custom Rules Engine (.NET)</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0441">
                <a:tc>
                  <a:txBody>
                    <a:bodyPr/>
                    <a:lstStyle/>
                    <a:p>
                      <a:pPr marL="0" indent="0">
                        <a:buNone/>
                      </a:pPr>
                      <a:r>
                        <a:rPr lang="en-US" sz="1200" b="1">
                          <a:solidFill>
                            <a:srgbClr val="024854"/>
                          </a:solidFill>
                          <a:latin typeface="+mn-lt"/>
                          <a:ea typeface="GT America" pitchFamily="34" charset="-122"/>
                          <a:cs typeface="GT America" pitchFamily="34" charset="-120"/>
                        </a:rPr>
                        <a:t>Infrastructure</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Docker + Docker Compose  ·  Azure DevOps  ·  Azure Active Directory</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0441">
                <a:tc>
                  <a:txBody>
                    <a:bodyPr/>
                    <a:lstStyle/>
                    <a:p>
                      <a:pPr marL="0" indent="0">
                        <a:buNone/>
                      </a:pPr>
                      <a:r>
                        <a:rPr lang="en-US" sz="1200" b="1">
                          <a:solidFill>
                            <a:srgbClr val="024854"/>
                          </a:solidFill>
                          <a:latin typeface="+mn-lt"/>
                          <a:ea typeface="GT America" pitchFamily="34" charset="-122"/>
                          <a:cs typeface="GT America" pitchFamily="34" charset="-120"/>
                        </a:rPr>
                        <a:t>Integrations</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EFEFEE"/>
                    </a:solidFill>
                  </a:tcPr>
                </a:tc>
                <a:tc>
                  <a:txBody>
                    <a:bodyPr/>
                    <a:lstStyle/>
                    <a:p>
                      <a:pPr marL="0" indent="0">
                        <a:buNone/>
                      </a:pPr>
                      <a:r>
                        <a:rPr lang="en-US" sz="1200">
                          <a:solidFill>
                            <a:srgbClr val="282828"/>
                          </a:solidFill>
                          <a:latin typeface="+mn-lt"/>
                          <a:ea typeface="GT America" pitchFamily="34" charset="-122"/>
                          <a:cs typeface="GT America" pitchFamily="34" charset="-120"/>
                        </a:rPr>
                        <a:t>EDM API  ·  SecureDocs API  ·  Sage 50 API  ·  ClosingExpress wrapper  ·  LendingPad redirect</a:t>
                      </a:r>
                      <a:endParaRPr lang="en-US" sz="1200">
                        <a:latin typeface="+mn-lt"/>
                        <a:ea typeface="GT America" charset="0"/>
                        <a:cs typeface="GT America" charset="0"/>
                      </a:endParaRPr>
                    </a:p>
                  </a:txBody>
                  <a:tcPr anchor="ctr">
                    <a:lnL w="5080" cap="flat" cmpd="sng" algn="ctr">
                      <a:solidFill>
                        <a:srgbClr val="D8D8CE"/>
                      </a:solidFill>
                      <a:prstDash val="solid"/>
                      <a:round/>
                      <a:headEnd type="none" w="med" len="med"/>
                      <a:tailEnd type="none" w="med" len="med"/>
                    </a:lnL>
                    <a:lnR w="5080" cap="flat" cmpd="sng" algn="ctr">
                      <a:solidFill>
                        <a:srgbClr val="D8D8CE"/>
                      </a:solidFill>
                      <a:prstDash val="solid"/>
                      <a:round/>
                      <a:headEnd type="none" w="med" len="med"/>
                      <a:tailEnd type="none" w="med" len="med"/>
                    </a:lnR>
                    <a:lnT w="5080" cap="flat" cmpd="sng" algn="ctr">
                      <a:solidFill>
                        <a:srgbClr val="D8D8CE"/>
                      </a:solidFill>
                      <a:prstDash val="solid"/>
                      <a:round/>
                      <a:headEnd type="none" w="med" len="med"/>
                      <a:tailEnd type="none" w="med" len="med"/>
                    </a:lnT>
                    <a:lnB w="508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8087104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95B9B-F19B-C600-6D8E-74AE344F6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6BFDD5-7804-BB7F-A975-73357D1FFB16}"/>
              </a:ext>
            </a:extLst>
          </p:cNvPr>
          <p:cNvSpPr>
            <a:spLocks noGrp="1"/>
          </p:cNvSpPr>
          <p:nvPr>
            <p:ph type="title"/>
          </p:nvPr>
        </p:nvSpPr>
        <p:spPr/>
        <p:txBody>
          <a:bodyPr/>
          <a:lstStyle/>
          <a:p>
            <a:r>
              <a:rPr lang="en-US"/>
              <a:t>Assumptions, Dependencies &amp; Exclusions</a:t>
            </a:r>
          </a:p>
        </p:txBody>
      </p:sp>
      <p:sp>
        <p:nvSpPr>
          <p:cNvPr id="4" name="TextBox 3">
            <a:extLst>
              <a:ext uri="{FF2B5EF4-FFF2-40B4-BE49-F238E27FC236}">
                <a16:creationId xmlns:a16="http://schemas.microsoft.com/office/drawing/2014/main" id="{887233A2-B961-AFB1-B27E-DD27C80BEA09}"/>
              </a:ext>
            </a:extLst>
          </p:cNvPr>
          <p:cNvSpPr txBox="1"/>
          <p:nvPr/>
        </p:nvSpPr>
        <p:spPr>
          <a:xfrm>
            <a:off x="304801" y="932396"/>
            <a:ext cx="11582397" cy="4985980"/>
          </a:xfrm>
          <a:prstGeom prst="rect">
            <a:avLst/>
          </a:prstGeom>
          <a:noFill/>
        </p:spPr>
        <p:txBody>
          <a:bodyPr wrap="square">
            <a:spAutoFit/>
          </a:bodyPr>
          <a:lstStyle/>
          <a:p>
            <a:pPr>
              <a:spcBef>
                <a:spcPts val="1600"/>
              </a:spcBef>
              <a:spcAft>
                <a:spcPts val="600"/>
              </a:spcAft>
              <a:buNone/>
            </a:pPr>
            <a:r>
              <a:rPr lang="en-IN" sz="1400" b="1">
                <a:effectLst/>
              </a:rPr>
              <a:t>Key Assumptions</a:t>
            </a:r>
          </a:p>
          <a:p>
            <a:pPr marL="342900" lvl="0" indent="-342900">
              <a:spcBef>
                <a:spcPts val="200"/>
              </a:spcBef>
              <a:spcAft>
                <a:spcPts val="200"/>
              </a:spcAft>
              <a:buFont typeface="Arial" panose="020B0604020202020204" pitchFamily="34" charset="0"/>
              <a:buChar char="•"/>
            </a:pPr>
            <a:r>
              <a:rPr lang="en-IN" sz="1400">
                <a:effectLst/>
                <a:ea typeface="Arial" panose="020B0604020202020204" pitchFamily="34" charset="0"/>
              </a:rPr>
              <a:t>BM&amp;G SPOC is available for structured knowledge transfer sessions throughout Phase 1 and Phase 2. This covers </a:t>
            </a:r>
            <a:r>
              <a:rPr lang="en-IN" sz="1400" err="1">
                <a:effectLst/>
                <a:ea typeface="Arial" panose="020B0604020202020204" pitchFamily="34" charset="0"/>
              </a:rPr>
              <a:t>JetDocs</a:t>
            </a:r>
            <a:r>
              <a:rPr lang="en-IN" sz="1400">
                <a:effectLst/>
                <a:ea typeface="Arial" panose="020B0604020202020204" pitchFamily="34" charset="0"/>
              </a:rPr>
              <a:t> web service behaviour, </a:t>
            </a:r>
            <a:r>
              <a:rPr lang="en-IN" sz="1400" err="1">
                <a:effectLst/>
                <a:ea typeface="Arial" panose="020B0604020202020204" pitchFamily="34" charset="0"/>
              </a:rPr>
              <a:t>LoanTrack</a:t>
            </a:r>
            <a:r>
              <a:rPr lang="en-IN" sz="1400">
                <a:effectLst/>
                <a:ea typeface="Arial" panose="020B0604020202020204" pitchFamily="34" charset="0"/>
              </a:rPr>
              <a:t> database schema, </a:t>
            </a:r>
            <a:r>
              <a:rPr lang="en-IN" sz="1400" err="1">
                <a:effectLst/>
                <a:ea typeface="Arial" panose="020B0604020202020204" pitchFamily="34" charset="0"/>
              </a:rPr>
              <a:t>ClosingExpress</a:t>
            </a:r>
            <a:r>
              <a:rPr lang="en-IN" sz="1400">
                <a:effectLst/>
                <a:ea typeface="Arial" panose="020B0604020202020204" pitchFamily="34" charset="0"/>
              </a:rPr>
              <a:t> template logic, and EDM interface.</a:t>
            </a:r>
          </a:p>
          <a:p>
            <a:pPr marL="342900" lvl="0" indent="-342900">
              <a:spcBef>
                <a:spcPts val="200"/>
              </a:spcBef>
              <a:spcAft>
                <a:spcPts val="200"/>
              </a:spcAft>
              <a:buFont typeface="Arial" panose="020B0604020202020204" pitchFamily="34" charset="0"/>
              <a:buChar char="•"/>
            </a:pPr>
            <a:r>
              <a:rPr lang="en-IN" sz="1400">
                <a:effectLst/>
                <a:ea typeface="Arial" panose="020B0604020202020204" pitchFamily="34" charset="0"/>
              </a:rPr>
              <a:t>Sample closing packages - minimum one per loan type (Conventional, FHA, VA, Home Equity, Purchase, Refi) - are provided before Sprint 1 begins. These are required to develop and validate the AI extraction service.</a:t>
            </a:r>
          </a:p>
          <a:p>
            <a:pPr marL="342900" lvl="0" indent="-342900">
              <a:spcBef>
                <a:spcPts val="200"/>
              </a:spcBef>
              <a:spcAft>
                <a:spcPts val="200"/>
              </a:spcAft>
              <a:buFont typeface="Arial" panose="020B0604020202020204" pitchFamily="34" charset="0"/>
              <a:buChar char="•"/>
            </a:pPr>
            <a:r>
              <a:rPr lang="en-IN" sz="1400">
                <a:effectLst/>
                <a:ea typeface="Arial" panose="020B0604020202020204" pitchFamily="34" charset="0"/>
              </a:rPr>
              <a:t>The ‘BMG Help File’ referenced in the examination process spreadsheet as the source for fees and survey exceptions is clarified in Sprint 0 - whether it is a static lookup, a per-lender configuration, or a calculated value.</a:t>
            </a:r>
          </a:p>
          <a:p>
            <a:pPr marL="342900" lvl="0" indent="-342900">
              <a:spcBef>
                <a:spcPts val="200"/>
              </a:spcBef>
              <a:spcAft>
                <a:spcPts val="200"/>
              </a:spcAft>
              <a:buFont typeface="Arial" panose="020B0604020202020204" pitchFamily="34" charset="0"/>
              <a:buChar char="•"/>
            </a:pPr>
            <a:r>
              <a:rPr lang="en-IN" sz="1400">
                <a:effectLst/>
                <a:ea typeface="Arial" panose="020B0604020202020204" pitchFamily="34" charset="0"/>
              </a:rPr>
              <a:t>Client stakeholders - Legal Assistants, ops team, and accounting - are available for UAT at defined sprint intervals. </a:t>
            </a:r>
          </a:p>
          <a:p>
            <a:pPr>
              <a:spcBef>
                <a:spcPts val="1600"/>
              </a:spcBef>
              <a:spcAft>
                <a:spcPts val="600"/>
              </a:spcAft>
              <a:buNone/>
            </a:pPr>
            <a:r>
              <a:rPr lang="en-IN" sz="1400" b="1">
                <a:effectLst/>
              </a:rPr>
              <a:t>Key Dependencies</a:t>
            </a:r>
          </a:p>
          <a:p>
            <a:pPr marL="342900" lvl="0" indent="-342900">
              <a:spcBef>
                <a:spcPts val="200"/>
              </a:spcBef>
              <a:spcAft>
                <a:spcPts val="200"/>
              </a:spcAft>
              <a:buFont typeface="Arial" panose="020B0604020202020204" pitchFamily="34" charset="0"/>
              <a:buChar char="•"/>
            </a:pPr>
            <a:r>
              <a:rPr lang="en-IN" sz="1400" err="1">
                <a:effectLst/>
                <a:ea typeface="Arial" panose="020B0604020202020204" pitchFamily="34" charset="0"/>
              </a:rPr>
              <a:t>ClosingExpress</a:t>
            </a:r>
            <a:r>
              <a:rPr lang="en-IN" sz="1400">
                <a:effectLst/>
                <a:ea typeface="Arial" panose="020B0604020202020204" pitchFamily="34" charset="0"/>
              </a:rPr>
              <a:t> has an accessible integration surface for the wrapper approach. Confirmed during Sprint 3 discovery.</a:t>
            </a:r>
          </a:p>
          <a:p>
            <a:pPr marL="342900" lvl="0" indent="-342900">
              <a:spcBef>
                <a:spcPts val="200"/>
              </a:spcBef>
              <a:spcAft>
                <a:spcPts val="200"/>
              </a:spcAft>
              <a:buFont typeface="Arial" panose="020B0604020202020204" pitchFamily="34" charset="0"/>
              <a:buChar char="•"/>
            </a:pPr>
            <a:r>
              <a:rPr lang="en-IN" sz="1400" err="1">
                <a:effectLst/>
                <a:ea typeface="Arial" panose="020B0604020202020204" pitchFamily="34" charset="0"/>
              </a:rPr>
              <a:t>LoanTrack</a:t>
            </a:r>
            <a:r>
              <a:rPr lang="en-IN" sz="1400">
                <a:effectLst/>
                <a:ea typeface="Arial" panose="020B0604020202020204" pitchFamily="34" charset="0"/>
              </a:rPr>
              <a:t> database is accessible at schema level for migration scoping. Required by Sprint 5 gate.</a:t>
            </a:r>
          </a:p>
          <a:p>
            <a:pPr>
              <a:spcBef>
                <a:spcPts val="1600"/>
              </a:spcBef>
              <a:spcAft>
                <a:spcPts val="600"/>
              </a:spcAft>
              <a:buNone/>
            </a:pPr>
            <a:r>
              <a:rPr lang="en-IN" sz="1400" b="1">
                <a:effectLst/>
              </a:rPr>
              <a:t>Exclusions</a:t>
            </a:r>
          </a:p>
          <a:p>
            <a:pPr>
              <a:spcBef>
                <a:spcPts val="400"/>
              </a:spcBef>
              <a:spcAft>
                <a:spcPts val="400"/>
              </a:spcAft>
              <a:buNone/>
            </a:pPr>
            <a:r>
              <a:rPr lang="en-IN" sz="1400">
                <a:effectLst/>
                <a:ea typeface="Arial" panose="020B0604020202020204" pitchFamily="34" charset="0"/>
              </a:rPr>
              <a:t>The following items are explicitly excluded from this engagement. They may be addressed in future phases or separate engagements:</a:t>
            </a:r>
          </a:p>
          <a:p>
            <a:pPr marL="342900" lvl="0" indent="-342900">
              <a:spcBef>
                <a:spcPts val="200"/>
              </a:spcBef>
              <a:spcAft>
                <a:spcPts val="200"/>
              </a:spcAft>
              <a:buFont typeface="Arial" panose="020B0604020202020204" pitchFamily="34" charset="0"/>
              <a:buChar char="•"/>
            </a:pPr>
            <a:r>
              <a:rPr lang="en-IN" sz="1400">
                <a:effectLst/>
                <a:ea typeface="Arial" panose="020B0604020202020204" pitchFamily="34" charset="0"/>
              </a:rPr>
              <a:t>CRM / Lender Profiles (Salesforce-equivalent sales enablement)</a:t>
            </a:r>
          </a:p>
          <a:p>
            <a:pPr marL="342900" lvl="0" indent="-342900">
              <a:spcBef>
                <a:spcPts val="200"/>
              </a:spcBef>
              <a:spcAft>
                <a:spcPts val="200"/>
              </a:spcAft>
              <a:buFont typeface="Arial" panose="020B0604020202020204" pitchFamily="34" charset="0"/>
              <a:buChar char="•"/>
            </a:pPr>
            <a:r>
              <a:rPr lang="en-IN" sz="1400">
                <a:effectLst/>
                <a:ea typeface="Arial" panose="020B0604020202020204" pitchFamily="34" charset="0"/>
              </a:rPr>
              <a:t>HMDA data integration (FFIEC data pull)</a:t>
            </a:r>
          </a:p>
          <a:p>
            <a:pPr marL="342900" lvl="0" indent="-342900">
              <a:spcBef>
                <a:spcPts val="200"/>
              </a:spcBef>
              <a:spcAft>
                <a:spcPts val="200"/>
              </a:spcAft>
              <a:buFont typeface="Arial" panose="020B0604020202020204" pitchFamily="34" charset="0"/>
              <a:buChar char="•"/>
            </a:pPr>
            <a:r>
              <a:rPr lang="en-IN" sz="1400">
                <a:effectLst/>
                <a:ea typeface="Arial" panose="020B0604020202020204" pitchFamily="34" charset="0"/>
              </a:rPr>
              <a:t>Post go-live BAU support</a:t>
            </a:r>
          </a:p>
          <a:p>
            <a:pPr marL="342900" lvl="0" indent="-342900">
              <a:spcBef>
                <a:spcPts val="200"/>
              </a:spcBef>
              <a:spcAft>
                <a:spcPts val="200"/>
              </a:spcAft>
              <a:buFont typeface="Arial" panose="020B0604020202020204" pitchFamily="34" charset="0"/>
              <a:buChar char="•"/>
            </a:pPr>
            <a:r>
              <a:rPr lang="en-IN" sz="1400" err="1">
                <a:effectLst/>
                <a:ea typeface="Arial" panose="020B0604020202020204" pitchFamily="34" charset="0"/>
              </a:rPr>
              <a:t>ClosingExpress</a:t>
            </a:r>
            <a:r>
              <a:rPr lang="en-IN" sz="1400">
                <a:effectLst/>
                <a:ea typeface="Arial" panose="020B0604020202020204" pitchFamily="34" charset="0"/>
              </a:rPr>
              <a:t> full engine replacement (wrapper approach retains generation engine as backend)</a:t>
            </a:r>
          </a:p>
        </p:txBody>
      </p:sp>
    </p:spTree>
    <p:extLst>
      <p:ext uri="{BB962C8B-B14F-4D97-AF65-F5344CB8AC3E}">
        <p14:creationId xmlns:p14="http://schemas.microsoft.com/office/powerpoint/2010/main" val="51902930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24924D-371C-C8F5-268A-A8AC34CCA0D9}"/>
              </a:ext>
            </a:extLst>
          </p:cNvPr>
          <p:cNvSpPr>
            <a:spLocks noGrp="1"/>
          </p:cNvSpPr>
          <p:nvPr>
            <p:ph type="title"/>
          </p:nvPr>
        </p:nvSpPr>
        <p:spPr/>
        <p:txBody>
          <a:bodyPr/>
          <a:lstStyle/>
          <a:p>
            <a:r>
              <a:rPr lang="en-IN"/>
              <a:t>Thank You</a:t>
            </a:r>
          </a:p>
        </p:txBody>
      </p:sp>
    </p:spTree>
    <p:extLst>
      <p:ext uri="{BB962C8B-B14F-4D97-AF65-F5344CB8AC3E}">
        <p14:creationId xmlns:p14="http://schemas.microsoft.com/office/powerpoint/2010/main" val="413621311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E5627-9517-6D8F-08E7-396890BA7807}"/>
              </a:ext>
            </a:extLst>
          </p:cNvPr>
          <p:cNvSpPr>
            <a:spLocks noGrp="1"/>
          </p:cNvSpPr>
          <p:nvPr>
            <p:ph type="title"/>
          </p:nvPr>
        </p:nvSpPr>
        <p:spPr/>
        <p:txBody>
          <a:bodyPr/>
          <a:lstStyle/>
          <a:p>
            <a:r>
              <a:rPr lang="en-IN"/>
              <a:t>Proposed Technology Stack  (Detailed)</a:t>
            </a:r>
          </a:p>
        </p:txBody>
      </p:sp>
      <p:graphicFrame>
        <p:nvGraphicFramePr>
          <p:cNvPr id="5" name="Table 0">
            <a:extLst>
              <a:ext uri="{FF2B5EF4-FFF2-40B4-BE49-F238E27FC236}">
                <a16:creationId xmlns:a16="http://schemas.microsoft.com/office/drawing/2014/main" id="{FA3146FF-110B-2079-4790-CE0C72497DC6}"/>
              </a:ext>
            </a:extLst>
          </p:cNvPr>
          <p:cNvGraphicFramePr>
            <a:graphicFrameLocks noGrp="1"/>
          </p:cNvGraphicFramePr>
          <p:nvPr>
            <p:extLst>
              <p:ext uri="{D42A27DB-BD31-4B8C-83A1-F6EECF244321}">
                <p14:modId xmlns:p14="http://schemas.microsoft.com/office/powerpoint/2010/main" val="636541602"/>
              </p:ext>
            </p:extLst>
          </p:nvPr>
        </p:nvGraphicFramePr>
        <p:xfrm>
          <a:off x="304800" y="979784"/>
          <a:ext cx="11582397" cy="5257800"/>
        </p:xfrm>
        <a:graphic>
          <a:graphicData uri="http://schemas.openxmlformats.org/drawingml/2006/table">
            <a:tbl>
              <a:tblPr/>
              <a:tblGrid>
                <a:gridCol w="1801706">
                  <a:extLst>
                    <a:ext uri="{9D8B030D-6E8A-4147-A177-3AD203B41FA5}">
                      <a16:colId xmlns:a16="http://schemas.microsoft.com/office/drawing/2014/main" val="20000"/>
                    </a:ext>
                  </a:extLst>
                </a:gridCol>
                <a:gridCol w="2702559">
                  <a:extLst>
                    <a:ext uri="{9D8B030D-6E8A-4147-A177-3AD203B41FA5}">
                      <a16:colId xmlns:a16="http://schemas.microsoft.com/office/drawing/2014/main" val="20001"/>
                    </a:ext>
                  </a:extLst>
                </a:gridCol>
                <a:gridCol w="7078132">
                  <a:extLst>
                    <a:ext uri="{9D8B030D-6E8A-4147-A177-3AD203B41FA5}">
                      <a16:colId xmlns:a16="http://schemas.microsoft.com/office/drawing/2014/main" val="20002"/>
                    </a:ext>
                  </a:extLst>
                </a:gridCol>
              </a:tblGrid>
              <a:tr h="224030">
                <a:tc>
                  <a:txBody>
                    <a:bodyPr/>
                    <a:lstStyle/>
                    <a:p>
                      <a:pPr marL="0" indent="0">
                        <a:buNone/>
                      </a:pPr>
                      <a:r>
                        <a:rPr lang="en-US" sz="900" b="1">
                          <a:solidFill>
                            <a:srgbClr val="FFFFFF"/>
                          </a:solidFill>
                          <a:latin typeface="GT America" pitchFamily="34" charset="0"/>
                          <a:ea typeface="GT America" pitchFamily="34" charset="-122"/>
                          <a:cs typeface="GT America" pitchFamily="34" charset="-120"/>
                        </a:rPr>
                        <a:t>Layer</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900" b="1">
                          <a:solidFill>
                            <a:srgbClr val="FFFFFF"/>
                          </a:solidFill>
                          <a:latin typeface="GT America" pitchFamily="34" charset="0"/>
                          <a:ea typeface="GT America" pitchFamily="34" charset="-122"/>
                          <a:cs typeface="GT America" pitchFamily="34" charset="-120"/>
                        </a:rPr>
                        <a:t>Technology</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buNone/>
                      </a:pPr>
                      <a:r>
                        <a:rPr lang="en-US" sz="900" b="1">
                          <a:solidFill>
                            <a:srgbClr val="FFFFFF"/>
                          </a:solidFill>
                          <a:latin typeface="GT America" pitchFamily="34" charset="0"/>
                          <a:ea typeface="GT America" pitchFamily="34" charset="-122"/>
                          <a:cs typeface="GT America" pitchFamily="34" charset="-120"/>
                        </a:rPr>
                        <a:t>Role &amp; Rationale</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extLst>
                  <a:ext uri="{0D108BD9-81ED-4DB2-BD59-A6C34878D82A}">
                    <a16:rowId xmlns:a16="http://schemas.microsoft.com/office/drawing/2014/main" val="10000"/>
                  </a:ext>
                </a:extLst>
              </a:tr>
              <a:tr h="216562">
                <a:tc rowSpan="5">
                  <a:txBody>
                    <a:bodyPr/>
                    <a:lstStyle/>
                    <a:p>
                      <a:pPr marL="0" indent="0">
                        <a:buNone/>
                      </a:pPr>
                      <a:r>
                        <a:rPr lang="en-US" sz="900" b="1">
                          <a:solidFill>
                            <a:srgbClr val="024854"/>
                          </a:solidFill>
                          <a:latin typeface="GT America" pitchFamily="34" charset="0"/>
                          <a:ea typeface="GT America" pitchFamily="34" charset="-122"/>
                          <a:cs typeface="GT America" pitchFamily="34" charset="-120"/>
                        </a:rPr>
                        <a:t>Client Portal</a:t>
                      </a:r>
                      <a:endParaRPr lang="en-US" sz="9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F7F7"/>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React 18</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Frontend framework - component-based, maintainable</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1"/>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Next.js 14</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SSR/SSG for authenticated portal pages, API routes</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2"/>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Tailwind CSS</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Utility-first styling - consistent, rapid UI development</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3"/>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React Query</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Server state management, caching, background sync</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extLst>
                  <a:ext uri="{0D108BD9-81ED-4DB2-BD59-A6C34878D82A}">
                    <a16:rowId xmlns:a16="http://schemas.microsoft.com/office/drawing/2014/main" val="10004"/>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EAF7F7"/>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PDF.js</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F7F7"/>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In-browser PDF rendering for document viewer in QC Workbench</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AF7F7"/>
                    </a:solidFill>
                  </a:tcPr>
                </a:tc>
                <a:extLst>
                  <a:ext uri="{0D108BD9-81ED-4DB2-BD59-A6C34878D82A}">
                    <a16:rowId xmlns:a16="http://schemas.microsoft.com/office/drawing/2014/main" val="10005"/>
                  </a:ext>
                </a:extLst>
              </a:tr>
              <a:tr h="216562">
                <a:tc rowSpan="5">
                  <a:txBody>
                    <a:bodyPr/>
                    <a:lstStyle/>
                    <a:p>
                      <a:pPr marL="0" indent="0">
                        <a:buNone/>
                      </a:pPr>
                      <a:r>
                        <a:rPr lang="en-US" sz="900" b="1">
                          <a:solidFill>
                            <a:srgbClr val="024854"/>
                          </a:solidFill>
                          <a:latin typeface="GT America" pitchFamily="34" charset="0"/>
                          <a:ea typeface="GT America" pitchFamily="34" charset="-122"/>
                          <a:cs typeface="GT America" pitchFamily="34" charset="-120"/>
                        </a:rPr>
                        <a:t>Platform Core</a:t>
                      </a:r>
                      <a:endParaRPr lang="en-US" sz="9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FA"/>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.NET 8 (C#)</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Primary backend runtime - cross-platform, mature, strong async support</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extLst>
                  <a:ext uri="{0D108BD9-81ED-4DB2-BD59-A6C34878D82A}">
                    <a16:rowId xmlns:a16="http://schemas.microsoft.com/office/drawing/2014/main" val="10006"/>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ASP.NET Core Web API</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REST API layer - all platform services exposed via typed API contracts</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extLst>
                  <a:ext uri="{0D108BD9-81ED-4DB2-BD59-A6C34878D82A}">
                    <a16:rowId xmlns:a16="http://schemas.microsoft.com/office/drawing/2014/main" val="10007"/>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Entity Framework Core</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ORM for SQL Server - migrations, typed queries, audit logging</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extLst>
                  <a:ext uri="{0D108BD9-81ED-4DB2-BD59-A6C34878D82A}">
                    <a16:rowId xmlns:a16="http://schemas.microsoft.com/office/drawing/2014/main" val="10008"/>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SQL Server 2022</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Primary relational store - transactions, lender master, extraction results</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extLst>
                  <a:ext uri="{0D108BD9-81ED-4DB2-BD59-A6C34878D82A}">
                    <a16:rowId xmlns:a16="http://schemas.microsoft.com/office/drawing/2014/main" val="10009"/>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0F4FA"/>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Azure Service Bus</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FA"/>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Message bus for event-driven intake-to-queue orchestration</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FA"/>
                    </a:solidFill>
                  </a:tcPr>
                </a:tc>
                <a:extLst>
                  <a:ext uri="{0D108BD9-81ED-4DB2-BD59-A6C34878D82A}">
                    <a16:rowId xmlns:a16="http://schemas.microsoft.com/office/drawing/2014/main" val="10010"/>
                  </a:ext>
                </a:extLst>
              </a:tr>
              <a:tr h="216562">
                <a:tc rowSpan="4">
                  <a:txBody>
                    <a:bodyPr/>
                    <a:lstStyle/>
                    <a:p>
                      <a:pPr marL="0" indent="0">
                        <a:buNone/>
                      </a:pPr>
                      <a:r>
                        <a:rPr lang="en-US" sz="900" b="1">
                          <a:solidFill>
                            <a:srgbClr val="024854"/>
                          </a:solidFill>
                          <a:latin typeface="GT America" pitchFamily="34" charset="0"/>
                          <a:ea typeface="GT America" pitchFamily="34" charset="-122"/>
                          <a:cs typeface="GT America" pitchFamily="34" charset="-120"/>
                        </a:rPr>
                        <a:t>AI Extraction &amp; Rules</a:t>
                      </a:r>
                      <a:endParaRPr lang="en-US" sz="9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8F2"/>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Azure Document Intelligence</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OCR and layout extraction - handles scanned PDFs, table detection</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extLst>
                  <a:ext uri="{0D108BD9-81ED-4DB2-BD59-A6C34878D82A}">
                    <a16:rowId xmlns:a16="http://schemas.microsoft.com/office/drawing/2014/main" val="10011"/>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LLM API</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Field extraction via structured prompting - returns typed JSON per document</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extLst>
                  <a:ext uri="{0D108BD9-81ED-4DB2-BD59-A6C34878D82A}">
                    <a16:rowId xmlns:a16="http://schemas.microsoft.com/office/drawing/2014/main" val="10012"/>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Custom Rules Engine (.NET)</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Configurable business rules - Note, DOT, Title, HE, Survey, Riders</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extLst>
                  <a:ext uri="{0D108BD9-81ED-4DB2-BD59-A6C34878D82A}">
                    <a16:rowId xmlns:a16="http://schemas.microsoft.com/office/drawing/2014/main" val="10013"/>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8F2"/>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LangChain.NET</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8F2"/>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Orchestration layer for multi-step extraction pipeline and prompt management</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8F2"/>
                    </a:solidFill>
                  </a:tcPr>
                </a:tc>
                <a:extLst>
                  <a:ext uri="{0D108BD9-81ED-4DB2-BD59-A6C34878D82A}">
                    <a16:rowId xmlns:a16="http://schemas.microsoft.com/office/drawing/2014/main" val="10014"/>
                  </a:ext>
                </a:extLst>
              </a:tr>
              <a:tr h="216562">
                <a:tc rowSpan="3">
                  <a:txBody>
                    <a:bodyPr/>
                    <a:lstStyle/>
                    <a:p>
                      <a:pPr marL="0" indent="0">
                        <a:buNone/>
                      </a:pPr>
                      <a:r>
                        <a:rPr lang="en-US" sz="900" b="1">
                          <a:solidFill>
                            <a:srgbClr val="024854"/>
                          </a:solidFill>
                          <a:latin typeface="GT America" pitchFamily="34" charset="0"/>
                          <a:ea typeface="GT America" pitchFamily="34" charset="-122"/>
                          <a:cs typeface="GT America" pitchFamily="34" charset="-120"/>
                        </a:rPr>
                        <a:t>Infrastructure</a:t>
                      </a:r>
                      <a:endParaRPr lang="en-US" sz="9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2"/>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Docker + Docker Compose</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5F5F2"/>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Containerized services - consistent dev/staging/prod environments on-prem</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5F5F2"/>
                    </a:solidFill>
                  </a:tcPr>
                </a:tc>
                <a:extLst>
                  <a:ext uri="{0D108BD9-81ED-4DB2-BD59-A6C34878D82A}">
                    <a16:rowId xmlns:a16="http://schemas.microsoft.com/office/drawing/2014/main" val="10015"/>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5F5F2"/>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Azure DevOps</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5F5F2"/>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CI/CD pipeline - build, test, deploy on every sprint merge</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5F5F2"/>
                    </a:solidFill>
                  </a:tcPr>
                </a:tc>
                <a:extLst>
                  <a:ext uri="{0D108BD9-81ED-4DB2-BD59-A6C34878D82A}">
                    <a16:rowId xmlns:a16="http://schemas.microsoft.com/office/drawing/2014/main" val="10016"/>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5F5F2"/>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Azure Active Directory</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2"/>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Authentication - SSO, role-based access, integrates with existing AD</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5F5F2"/>
                    </a:solidFill>
                  </a:tcPr>
                </a:tc>
                <a:extLst>
                  <a:ext uri="{0D108BD9-81ED-4DB2-BD59-A6C34878D82A}">
                    <a16:rowId xmlns:a16="http://schemas.microsoft.com/office/drawing/2014/main" val="10017"/>
                  </a:ext>
                </a:extLst>
              </a:tr>
              <a:tr h="216562">
                <a:tc rowSpan="5">
                  <a:txBody>
                    <a:bodyPr/>
                    <a:lstStyle/>
                    <a:p>
                      <a:pPr marL="0" indent="0">
                        <a:buNone/>
                      </a:pPr>
                      <a:r>
                        <a:rPr lang="en-US" sz="900" b="1">
                          <a:solidFill>
                            <a:srgbClr val="024854"/>
                          </a:solidFill>
                          <a:latin typeface="GT America" pitchFamily="34" charset="0"/>
                          <a:ea typeface="GT America" pitchFamily="34" charset="-122"/>
                          <a:cs typeface="GT America" pitchFamily="34" charset="-120"/>
                        </a:rPr>
                        <a:t>Integrations</a:t>
                      </a:r>
                      <a:endParaRPr lang="en-US" sz="90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5F0"/>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EDM API</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Document store - read/write documents against existing EDM interface</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extLst>
                  <a:ext uri="{0D108BD9-81ED-4DB2-BD59-A6C34878D82A}">
                    <a16:rowId xmlns:a16="http://schemas.microsoft.com/office/drawing/2014/main" val="10018"/>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SecureDocs API</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Output delivery - supplemental package dispatch to client portal</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extLst>
                  <a:ext uri="{0D108BD9-81ED-4DB2-BD59-A6C34878D82A}">
                    <a16:rowId xmlns:a16="http://schemas.microsoft.com/office/drawing/2014/main" val="10019"/>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Sage 50 API / CSV export</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AR reconciliation - order creation triggers AR invoice in Sage</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extLst>
                  <a:ext uri="{0D108BD9-81ED-4DB2-BD59-A6C34878D82A}">
                    <a16:rowId xmlns:a16="http://schemas.microsoft.com/office/drawing/2014/main" val="10020"/>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ClosingExpress wrapper</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Generation engine - .NET service wrapper calls ClosingExpress for package generation</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extLst>
                  <a:ext uri="{0D108BD9-81ED-4DB2-BD59-A6C34878D82A}">
                    <a16:rowId xmlns:a16="http://schemas.microsoft.com/office/drawing/2014/main" val="10021"/>
                  </a:ext>
                </a:extLst>
              </a:tr>
              <a:tr h="216562">
                <a:tc vMerge="1">
                  <a:txBody>
                    <a:bodyPr/>
                    <a:lstStyle/>
                    <a:p>
                      <a:pPr marL="0" indent="0">
                        <a:buNone/>
                      </a:pP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F5F0"/>
                    </a:solidFill>
                  </a:tcPr>
                </a:tc>
                <a:tc>
                  <a:txBody>
                    <a:bodyPr/>
                    <a:lstStyle/>
                    <a:p>
                      <a:pPr marL="0" indent="0">
                        <a:buNone/>
                      </a:pPr>
                      <a:r>
                        <a:rPr lang="en-US" sz="900" b="1">
                          <a:solidFill>
                            <a:srgbClr val="282828"/>
                          </a:solidFill>
                          <a:latin typeface="GT America" pitchFamily="34" charset="0"/>
                          <a:ea typeface="GT America" pitchFamily="34" charset="-122"/>
                          <a:cs typeface="GT America" pitchFamily="34" charset="-120"/>
                        </a:rPr>
                        <a:t>LendingPad redirect</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5F0"/>
                    </a:solidFill>
                  </a:tcPr>
                </a:tc>
                <a:tc>
                  <a:txBody>
                    <a:bodyPr/>
                    <a:lstStyle/>
                    <a:p>
                      <a:pPr marL="0" indent="0">
                        <a:buNone/>
                      </a:pPr>
                      <a:r>
                        <a:rPr lang="en-US" sz="900">
                          <a:solidFill>
                            <a:srgbClr val="282828"/>
                          </a:solidFill>
                          <a:latin typeface="GT America" pitchFamily="34" charset="0"/>
                          <a:ea typeface="GT America" pitchFamily="34" charset="-122"/>
                          <a:cs typeface="GT America" pitchFamily="34" charset="-120"/>
                        </a:rPr>
                        <a:t>Full Document Preparation - URL redirect only, no integration required</a:t>
                      </a:r>
                      <a:endParaRPr lang="en-US" sz="900">
                        <a:latin typeface="GT America" charset="0"/>
                        <a:ea typeface="GT America" charset="0"/>
                        <a:cs typeface="GT America" charset="0"/>
                      </a:endParaRPr>
                    </a:p>
                  </a:txBody>
                  <a:tcP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5F0"/>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2668628402"/>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606B0-58C5-2A10-C3AC-6CFC05B25567}"/>
              </a:ext>
            </a:extLst>
          </p:cNvPr>
          <p:cNvSpPr>
            <a:spLocks noGrp="1"/>
          </p:cNvSpPr>
          <p:nvPr>
            <p:ph type="title"/>
          </p:nvPr>
        </p:nvSpPr>
        <p:spPr/>
        <p:txBody>
          <a:bodyPr/>
          <a:lstStyle/>
          <a:p>
            <a:r>
              <a:rPr lang="en-US"/>
              <a:t>Delivery Roadmap  -  30 Weeks · 15 Sprints · 3 Phases</a:t>
            </a:r>
            <a:endParaRPr lang="en-IN"/>
          </a:p>
        </p:txBody>
      </p:sp>
      <p:sp>
        <p:nvSpPr>
          <p:cNvPr id="4" name="Shape 3">
            <a:extLst>
              <a:ext uri="{FF2B5EF4-FFF2-40B4-BE49-F238E27FC236}">
                <a16:creationId xmlns:a16="http://schemas.microsoft.com/office/drawing/2014/main" id="{8D7980A9-5B42-5140-66E2-DCA81E0F945B}"/>
              </a:ext>
            </a:extLst>
          </p:cNvPr>
          <p:cNvSpPr/>
          <p:nvPr/>
        </p:nvSpPr>
        <p:spPr>
          <a:xfrm>
            <a:off x="304801" y="960120"/>
            <a:ext cx="2847541" cy="304267"/>
          </a:xfrm>
          <a:prstGeom prst="rect">
            <a:avLst/>
          </a:prstGeom>
          <a:solidFill>
            <a:srgbClr val="00B8BB"/>
          </a:solidFill>
          <a:ln w="12700">
            <a:solidFill>
              <a:srgbClr val="00B8BB"/>
            </a:solidFill>
            <a:prstDash val="solid"/>
          </a:ln>
        </p:spPr>
        <p:txBody>
          <a:bodyPr/>
          <a:lstStyle/>
          <a:p>
            <a:endParaRPr lang="en-IN" sz="2400"/>
          </a:p>
        </p:txBody>
      </p:sp>
      <p:sp>
        <p:nvSpPr>
          <p:cNvPr id="5" name="Text 4">
            <a:extLst>
              <a:ext uri="{FF2B5EF4-FFF2-40B4-BE49-F238E27FC236}">
                <a16:creationId xmlns:a16="http://schemas.microsoft.com/office/drawing/2014/main" id="{FA0A0FB8-26CF-8DEA-36D0-77866F3A67BD}"/>
              </a:ext>
            </a:extLst>
          </p:cNvPr>
          <p:cNvSpPr/>
          <p:nvPr/>
        </p:nvSpPr>
        <p:spPr>
          <a:xfrm>
            <a:off x="382017" y="970987"/>
            <a:ext cx="2733639" cy="260800"/>
          </a:xfrm>
          <a:prstGeom prst="rect">
            <a:avLst/>
          </a:prstGeom>
          <a:noFill/>
          <a:ln/>
        </p:spPr>
        <p:txBody>
          <a:bodyPr wrap="square" lIns="0" tIns="0" rIns="0" bIns="0" rtlCol="0" anchor="ctr"/>
          <a:lstStyle/>
          <a:p>
            <a:pPr marL="0" indent="0">
              <a:buNone/>
            </a:pPr>
            <a:r>
              <a:rPr lang="en-US" sz="1000" b="1">
                <a:solidFill>
                  <a:srgbClr val="FFFFFF"/>
                </a:solidFill>
                <a:ea typeface="GT America" pitchFamily="34" charset="-122"/>
                <a:cs typeface="GT America" pitchFamily="34" charset="-120"/>
              </a:rPr>
              <a:t>PHASE 1 - Automate  ·  Sprints 0–4  ·  10 Weeks</a:t>
            </a:r>
            <a:endParaRPr lang="en-US" sz="1000"/>
          </a:p>
        </p:txBody>
      </p:sp>
      <p:sp>
        <p:nvSpPr>
          <p:cNvPr id="6" name="Shape 5">
            <a:extLst>
              <a:ext uri="{FF2B5EF4-FFF2-40B4-BE49-F238E27FC236}">
                <a16:creationId xmlns:a16="http://schemas.microsoft.com/office/drawing/2014/main" id="{827E7578-5DD0-C4E0-7EC9-C1AC63257AD3}"/>
              </a:ext>
            </a:extLst>
          </p:cNvPr>
          <p:cNvSpPr/>
          <p:nvPr/>
        </p:nvSpPr>
        <p:spPr>
          <a:xfrm>
            <a:off x="3919969" y="960120"/>
            <a:ext cx="3644852" cy="304267"/>
          </a:xfrm>
          <a:prstGeom prst="rect">
            <a:avLst/>
          </a:prstGeom>
          <a:solidFill>
            <a:srgbClr val="024854"/>
          </a:solidFill>
          <a:ln w="12700">
            <a:solidFill>
              <a:srgbClr val="024854"/>
            </a:solidFill>
            <a:prstDash val="solid"/>
          </a:ln>
        </p:spPr>
        <p:txBody>
          <a:bodyPr/>
          <a:lstStyle/>
          <a:p>
            <a:endParaRPr lang="en-IN" sz="2400"/>
          </a:p>
        </p:txBody>
      </p:sp>
      <p:sp>
        <p:nvSpPr>
          <p:cNvPr id="7" name="Text 6">
            <a:extLst>
              <a:ext uri="{FF2B5EF4-FFF2-40B4-BE49-F238E27FC236}">
                <a16:creationId xmlns:a16="http://schemas.microsoft.com/office/drawing/2014/main" id="{673CC500-CF52-6508-DEAB-5F68B055F99A}"/>
              </a:ext>
            </a:extLst>
          </p:cNvPr>
          <p:cNvSpPr/>
          <p:nvPr/>
        </p:nvSpPr>
        <p:spPr>
          <a:xfrm>
            <a:off x="3997185" y="970987"/>
            <a:ext cx="3530950" cy="260800"/>
          </a:xfrm>
          <a:prstGeom prst="rect">
            <a:avLst/>
          </a:prstGeom>
          <a:noFill/>
          <a:ln/>
        </p:spPr>
        <p:txBody>
          <a:bodyPr wrap="square" lIns="0" tIns="0" rIns="0" bIns="0" rtlCol="0" anchor="ctr"/>
          <a:lstStyle/>
          <a:p>
            <a:pPr marL="0" indent="0">
              <a:buNone/>
            </a:pPr>
            <a:r>
              <a:rPr lang="en-US" sz="1000" b="1">
                <a:solidFill>
                  <a:srgbClr val="FFFFFF"/>
                </a:solidFill>
                <a:ea typeface="GT America" pitchFamily="34" charset="-122"/>
                <a:cs typeface="GT America" pitchFamily="34" charset="-120"/>
              </a:rPr>
              <a:t>PHASE 2 - Modernize Core  ·  Sprints 5–10  ·  12 Weeks</a:t>
            </a:r>
            <a:endParaRPr lang="en-US" sz="1000"/>
          </a:p>
        </p:txBody>
      </p:sp>
      <p:sp>
        <p:nvSpPr>
          <p:cNvPr id="8" name="Shape 7">
            <a:extLst>
              <a:ext uri="{FF2B5EF4-FFF2-40B4-BE49-F238E27FC236}">
                <a16:creationId xmlns:a16="http://schemas.microsoft.com/office/drawing/2014/main" id="{9AB9EE4A-4EDF-9413-0625-21BBB8E570F6}"/>
              </a:ext>
            </a:extLst>
          </p:cNvPr>
          <p:cNvSpPr/>
          <p:nvPr/>
        </p:nvSpPr>
        <p:spPr>
          <a:xfrm>
            <a:off x="8242351" y="960120"/>
            <a:ext cx="3644852" cy="304267"/>
          </a:xfrm>
          <a:prstGeom prst="rect">
            <a:avLst/>
          </a:prstGeom>
          <a:solidFill>
            <a:schemeClr val="accent1">
              <a:lumMod val="75000"/>
            </a:schemeClr>
          </a:solidFill>
          <a:ln w="12700">
            <a:noFill/>
            <a:prstDash val="solid"/>
          </a:ln>
        </p:spPr>
        <p:txBody>
          <a:bodyPr/>
          <a:lstStyle/>
          <a:p>
            <a:endParaRPr lang="en-IN" sz="2400"/>
          </a:p>
        </p:txBody>
      </p:sp>
      <p:sp>
        <p:nvSpPr>
          <p:cNvPr id="9" name="Text 8">
            <a:extLst>
              <a:ext uri="{FF2B5EF4-FFF2-40B4-BE49-F238E27FC236}">
                <a16:creationId xmlns:a16="http://schemas.microsoft.com/office/drawing/2014/main" id="{7CA2AD2F-7061-41F6-3E77-479F1EB44183}"/>
              </a:ext>
            </a:extLst>
          </p:cNvPr>
          <p:cNvSpPr/>
          <p:nvPr/>
        </p:nvSpPr>
        <p:spPr>
          <a:xfrm>
            <a:off x="8319567" y="970987"/>
            <a:ext cx="3530950" cy="260800"/>
          </a:xfrm>
          <a:prstGeom prst="rect">
            <a:avLst/>
          </a:prstGeom>
          <a:noFill/>
          <a:ln/>
        </p:spPr>
        <p:txBody>
          <a:bodyPr wrap="square" lIns="0" tIns="0" rIns="0" bIns="0" rtlCol="0" anchor="ctr"/>
          <a:lstStyle/>
          <a:p>
            <a:pPr marL="0" indent="0">
              <a:buNone/>
            </a:pPr>
            <a:r>
              <a:rPr lang="en-US" sz="1000" b="1">
                <a:solidFill>
                  <a:srgbClr val="FFFFFF"/>
                </a:solidFill>
                <a:ea typeface="GT America" pitchFamily="34" charset="-122"/>
                <a:cs typeface="GT America" pitchFamily="34" charset="-120"/>
              </a:rPr>
              <a:t>PHASE 3 - Complete Retirement  ·  Sprints 11–15  ·  8 Weeks</a:t>
            </a:r>
            <a:endParaRPr lang="en-US" sz="1000"/>
          </a:p>
        </p:txBody>
      </p:sp>
      <p:sp>
        <p:nvSpPr>
          <p:cNvPr id="10" name="Text 9">
            <a:extLst>
              <a:ext uri="{FF2B5EF4-FFF2-40B4-BE49-F238E27FC236}">
                <a16:creationId xmlns:a16="http://schemas.microsoft.com/office/drawing/2014/main" id="{D4CCB6BB-5464-5845-F609-08CDD9CD414B}"/>
              </a:ext>
            </a:extLst>
          </p:cNvPr>
          <p:cNvSpPr/>
          <p:nvPr/>
        </p:nvSpPr>
        <p:spPr>
          <a:xfrm>
            <a:off x="304802" y="1286120"/>
            <a:ext cx="2779200" cy="478134"/>
          </a:xfrm>
          <a:prstGeom prst="rect">
            <a:avLst/>
          </a:prstGeom>
          <a:noFill/>
          <a:ln/>
        </p:spPr>
        <p:txBody>
          <a:bodyPr wrap="square" lIns="0" tIns="0" rIns="0" bIns="0" rtlCol="0" anchor="t"/>
          <a:lstStyle/>
          <a:p>
            <a:pPr marL="0" indent="0">
              <a:buNone/>
            </a:pPr>
            <a:r>
              <a:rPr lang="en-US" sz="900" b="1">
                <a:ea typeface="GT America" pitchFamily="34" charset="-122"/>
                <a:cs typeface="GT America" pitchFamily="34" charset="-120"/>
              </a:rPr>
              <a:t>Five-type intake automation  </a:t>
            </a:r>
            <a:r>
              <a:rPr lang="en-US" sz="900">
                <a:ea typeface="GT America" pitchFamily="34" charset="-122"/>
                <a:cs typeface="GT America" pitchFamily="34" charset="-120"/>
              </a:rPr>
              <a:t>·  MS Access retired  ·  Multi-POD queue live  ·  SLA monitoring active  ·  Exception routing live  ·  Ops dashboard  ·  Pilot: top 45 lenders</a:t>
            </a:r>
            <a:endParaRPr lang="en-US" sz="900"/>
          </a:p>
        </p:txBody>
      </p:sp>
      <p:sp>
        <p:nvSpPr>
          <p:cNvPr id="11" name="Text 10">
            <a:extLst>
              <a:ext uri="{FF2B5EF4-FFF2-40B4-BE49-F238E27FC236}">
                <a16:creationId xmlns:a16="http://schemas.microsoft.com/office/drawing/2014/main" id="{9836200F-1654-4E4C-91B6-E32311CADE56}"/>
              </a:ext>
            </a:extLst>
          </p:cNvPr>
          <p:cNvSpPr/>
          <p:nvPr/>
        </p:nvSpPr>
        <p:spPr>
          <a:xfrm>
            <a:off x="3919969" y="1286120"/>
            <a:ext cx="3576511" cy="478134"/>
          </a:xfrm>
          <a:prstGeom prst="rect">
            <a:avLst/>
          </a:prstGeom>
          <a:noFill/>
          <a:ln/>
        </p:spPr>
        <p:txBody>
          <a:bodyPr wrap="square" lIns="0" tIns="0" rIns="0" bIns="0" rtlCol="0" anchor="t"/>
          <a:lstStyle/>
          <a:p>
            <a:pPr marL="0" indent="0">
              <a:buNone/>
            </a:pPr>
            <a:r>
              <a:rPr lang="en-US" sz="900" b="1">
                <a:ea typeface="GT America" pitchFamily="34" charset="-122"/>
                <a:cs typeface="GT America" pitchFamily="34" charset="-120"/>
              </a:rPr>
              <a:t>AI extraction service  </a:t>
            </a:r>
            <a:r>
              <a:rPr lang="en-US" sz="900">
                <a:ea typeface="GT America" pitchFamily="34" charset="-122"/>
                <a:cs typeface="GT America" pitchFamily="34" charset="-120"/>
              </a:rPr>
              <a:t>·  LoanTrack replaced  ·  Rules engine live  ·  Data verification report  ·  Silverlight retired  ·  Sage integrated  ·  Sprint 5 gate: migration scope</a:t>
            </a:r>
            <a:endParaRPr lang="en-US" sz="900"/>
          </a:p>
        </p:txBody>
      </p:sp>
      <p:sp>
        <p:nvSpPr>
          <p:cNvPr id="12" name="Text 11">
            <a:extLst>
              <a:ext uri="{FF2B5EF4-FFF2-40B4-BE49-F238E27FC236}">
                <a16:creationId xmlns:a16="http://schemas.microsoft.com/office/drawing/2014/main" id="{51788E68-7984-5B04-1FD3-4C09D049172D}"/>
              </a:ext>
            </a:extLst>
          </p:cNvPr>
          <p:cNvSpPr/>
          <p:nvPr/>
        </p:nvSpPr>
        <p:spPr>
          <a:xfrm>
            <a:off x="8242351" y="1286120"/>
            <a:ext cx="3576511" cy="478134"/>
          </a:xfrm>
          <a:prstGeom prst="rect">
            <a:avLst/>
          </a:prstGeom>
          <a:noFill/>
          <a:ln/>
        </p:spPr>
        <p:txBody>
          <a:bodyPr wrap="square" lIns="0" tIns="0" rIns="0" bIns="0" rtlCol="0" anchor="t"/>
          <a:lstStyle/>
          <a:p>
            <a:pPr marL="0" indent="0">
              <a:buNone/>
            </a:pPr>
            <a:r>
              <a:rPr lang="en-US" sz="900" b="1">
                <a:ea typeface="GT America" pitchFamily="34" charset="-122"/>
                <a:cs typeface="GT America" pitchFamily="34" charset="-120"/>
              </a:rPr>
              <a:t>Legal Assistant QC workbench  </a:t>
            </a:r>
            <a:r>
              <a:rPr lang="en-US" sz="900">
                <a:ea typeface="GT America" pitchFamily="34" charset="-122"/>
                <a:cs typeface="GT America" pitchFamily="34" charset="-120"/>
              </a:rPr>
              <a:t>·  Client portal live  ·  JetDocs retired  ·  ClosingExpress retired  ·  Reporting suite live  ·  300 lenders migrated  ·  Sprint 11 gate: ClosingExpress</a:t>
            </a:r>
            <a:endParaRPr lang="en-US" sz="900"/>
          </a:p>
        </p:txBody>
      </p:sp>
      <p:cxnSp>
        <p:nvCxnSpPr>
          <p:cNvPr id="15" name="Straight Connector 14">
            <a:extLst>
              <a:ext uri="{FF2B5EF4-FFF2-40B4-BE49-F238E27FC236}">
                <a16:creationId xmlns:a16="http://schemas.microsoft.com/office/drawing/2014/main" id="{382B4149-8FCC-CF9D-679E-150510499429}"/>
              </a:ext>
            </a:extLst>
          </p:cNvPr>
          <p:cNvCxnSpPr/>
          <p:nvPr/>
        </p:nvCxnSpPr>
        <p:spPr>
          <a:xfrm>
            <a:off x="304801" y="1764254"/>
            <a:ext cx="11582398"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6" name="Table 0">
            <a:extLst>
              <a:ext uri="{FF2B5EF4-FFF2-40B4-BE49-F238E27FC236}">
                <a16:creationId xmlns:a16="http://schemas.microsoft.com/office/drawing/2014/main" id="{A0079FF4-B4CA-CDDF-1E89-ABE75D273636}"/>
              </a:ext>
            </a:extLst>
          </p:cNvPr>
          <p:cNvGraphicFramePr>
            <a:graphicFrameLocks noGrp="1"/>
          </p:cNvGraphicFramePr>
          <p:nvPr/>
        </p:nvGraphicFramePr>
        <p:xfrm>
          <a:off x="304801" y="1882588"/>
          <a:ext cx="11545715" cy="4399854"/>
        </p:xfrm>
        <a:graphic>
          <a:graphicData uri="http://schemas.openxmlformats.org/drawingml/2006/table">
            <a:tbl>
              <a:tblPr/>
              <a:tblGrid>
                <a:gridCol w="1282857">
                  <a:extLst>
                    <a:ext uri="{9D8B030D-6E8A-4147-A177-3AD203B41FA5}">
                      <a16:colId xmlns:a16="http://schemas.microsoft.com/office/drawing/2014/main" val="20000"/>
                    </a:ext>
                  </a:extLst>
                </a:gridCol>
                <a:gridCol w="962143">
                  <a:extLst>
                    <a:ext uri="{9D8B030D-6E8A-4147-A177-3AD203B41FA5}">
                      <a16:colId xmlns:a16="http://schemas.microsoft.com/office/drawing/2014/main" val="20001"/>
                    </a:ext>
                  </a:extLst>
                </a:gridCol>
                <a:gridCol w="833857">
                  <a:extLst>
                    <a:ext uri="{9D8B030D-6E8A-4147-A177-3AD203B41FA5}">
                      <a16:colId xmlns:a16="http://schemas.microsoft.com/office/drawing/2014/main" val="20002"/>
                    </a:ext>
                  </a:extLst>
                </a:gridCol>
                <a:gridCol w="8466858">
                  <a:extLst>
                    <a:ext uri="{9D8B030D-6E8A-4147-A177-3AD203B41FA5}">
                      <a16:colId xmlns:a16="http://schemas.microsoft.com/office/drawing/2014/main" val="20003"/>
                    </a:ext>
                  </a:extLst>
                </a:gridCol>
              </a:tblGrid>
              <a:tr h="267198">
                <a:tc>
                  <a:txBody>
                    <a:bodyPr/>
                    <a:lstStyle/>
                    <a:p>
                      <a:pPr marL="0" indent="0" algn="ctr">
                        <a:buNone/>
                      </a:pPr>
                      <a:r>
                        <a:rPr lang="en-US" sz="1050" b="1">
                          <a:solidFill>
                            <a:srgbClr val="FFFFFF"/>
                          </a:solidFill>
                          <a:latin typeface="GT America" pitchFamily="34" charset="0"/>
                          <a:ea typeface="GT America" pitchFamily="34" charset="-122"/>
                          <a:cs typeface="GT America" pitchFamily="34" charset="-120"/>
                        </a:rPr>
                        <a:t>Sprint</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282828"/>
                    </a:solidFill>
                  </a:tcPr>
                </a:tc>
                <a:tc>
                  <a:txBody>
                    <a:bodyPr/>
                    <a:lstStyle/>
                    <a:p>
                      <a:pPr marL="0" indent="0" algn="ctr">
                        <a:buNone/>
                      </a:pPr>
                      <a:r>
                        <a:rPr lang="en-US" sz="1050" b="1">
                          <a:solidFill>
                            <a:srgbClr val="FFFFFF"/>
                          </a:solidFill>
                          <a:latin typeface="GT America" pitchFamily="34" charset="0"/>
                          <a:ea typeface="GT America" pitchFamily="34" charset="-122"/>
                          <a:cs typeface="GT America" pitchFamily="34" charset="-120"/>
                        </a:rPr>
                        <a:t>Weeks</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282828"/>
                    </a:solidFill>
                  </a:tcPr>
                </a:tc>
                <a:tc>
                  <a:txBody>
                    <a:bodyPr/>
                    <a:lstStyle/>
                    <a:p>
                      <a:pPr marL="0" indent="0" algn="ctr">
                        <a:buNone/>
                      </a:pPr>
                      <a:r>
                        <a:rPr lang="en-US" sz="1050" b="1">
                          <a:solidFill>
                            <a:srgbClr val="FFFFFF"/>
                          </a:solidFill>
                          <a:latin typeface="GT America" pitchFamily="34" charset="0"/>
                          <a:ea typeface="GT America" pitchFamily="34" charset="-122"/>
                          <a:cs typeface="GT America" pitchFamily="34" charset="-120"/>
                        </a:rPr>
                        <a:t>Phase</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282828"/>
                    </a:solidFill>
                  </a:tcPr>
                </a:tc>
                <a:tc>
                  <a:txBody>
                    <a:bodyPr/>
                    <a:lstStyle/>
                    <a:p>
                      <a:pPr marL="0" indent="0">
                        <a:buNone/>
                      </a:pPr>
                      <a:r>
                        <a:rPr lang="en-US" sz="1050" b="1">
                          <a:solidFill>
                            <a:srgbClr val="FFFFFF"/>
                          </a:solidFill>
                          <a:latin typeface="GT America" pitchFamily="34" charset="0"/>
                          <a:ea typeface="GT America" pitchFamily="34" charset="-122"/>
                          <a:cs typeface="GT America" pitchFamily="34" charset="-120"/>
                        </a:rPr>
                        <a:t>Key Deliverable</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282828"/>
                    </a:solidFill>
                  </a:tcPr>
                </a:tc>
                <a:extLst>
                  <a:ext uri="{0D108BD9-81ED-4DB2-BD59-A6C34878D82A}">
                    <a16:rowId xmlns:a16="http://schemas.microsoft.com/office/drawing/2014/main" val="10000"/>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0</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0B8BB"/>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1–2</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rowSpan="5">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P1</a:t>
                      </a: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Discovery complete. Environments live. Five-type intake designed. Rules inventory started.</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1</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0B8BB"/>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3–4</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Intake pipeline automated. Five submission types routing correctly.</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2</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0B8BB"/>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5–6</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Queue service live. MS Access retired in staging. POD access control working.</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3</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0B8BB"/>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7–8</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SLA monitor live. Ops dashboard complete. ClosingExpress discovery complete.</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4</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8BB"/>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9–10</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Phase 1 go-live. MS Access decommissioned. Top 45 lenders on new intake.</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5</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11–12</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3EB"/>
                    </a:solidFill>
                  </a:tcPr>
                </a:tc>
                <a:tc rowSpan="6">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P2</a:t>
                      </a:r>
                    </a:p>
                    <a:p>
                      <a:pPr marL="0" indent="0" algn="ctr">
                        <a:buNone/>
                      </a:pPr>
                      <a:endParaRPr lang="en-US" sz="1050">
                        <a:solidFill>
                          <a:schemeClr val="tx1"/>
                        </a:solidFill>
                        <a:latin typeface="GT America" charset="0"/>
                        <a:ea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None/>
                      </a:pPr>
                      <a:r>
                        <a:rPr lang="en-US" sz="1050" b="1">
                          <a:solidFill>
                            <a:srgbClr val="F26A21"/>
                          </a:solidFill>
                          <a:latin typeface="GT America" pitchFamily="34" charset="0"/>
                          <a:ea typeface="GT America" pitchFamily="34" charset="-122"/>
                          <a:cs typeface="GT America" pitchFamily="34" charset="-120"/>
                        </a:rPr>
                        <a:t>GATE: LoanTrack migration scope confirmed. Platform architecture locked.</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3EB"/>
                    </a:solidFill>
                  </a:tcPr>
                </a:tc>
                <a:extLst>
                  <a:ext uri="{0D108BD9-81ED-4DB2-BD59-A6C34878D82A}">
                    <a16:rowId xmlns:a16="http://schemas.microsoft.com/office/drawing/2014/main" val="10006"/>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6</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13–14</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Document ingestion pipeline live. AI extraction service build starts.</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7</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15–16</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Extraction service: Note, DOT, Title Commitment fields complete.</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8</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17–18</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Rules engine and Data Verification Report live. Full platform UI complete.</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9</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024854"/>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19–20</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UAT complete. Parallel run begins. Sage integration live.</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10</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24854"/>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21–22</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LoanTrack cutover. Silverlight retired. New platform is system of record.</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11</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chemeClr val="accent1">
                        <a:lumMod val="75000"/>
                      </a:schemeClr>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23–24</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3EB"/>
                    </a:solidFill>
                  </a:tcPr>
                </a:tc>
                <a:tc rowSpan="5">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P3</a:t>
                      </a: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noFill/>
                  </a:tcPr>
                </a:tc>
                <a:tc>
                  <a:txBody>
                    <a:bodyPr/>
                    <a:lstStyle/>
                    <a:p>
                      <a:pPr marL="0" indent="0">
                        <a:buNone/>
                      </a:pPr>
                      <a:r>
                        <a:rPr lang="en-US" sz="1050" b="1">
                          <a:solidFill>
                            <a:srgbClr val="F26A21"/>
                          </a:solidFill>
                          <a:latin typeface="GT America" pitchFamily="34" charset="0"/>
                          <a:ea typeface="GT America" pitchFamily="34" charset="-122"/>
                          <a:cs typeface="GT America" pitchFamily="34" charset="-120"/>
                        </a:rPr>
                        <a:t>GATE: ClosingExpress complexity confirmed. QC Workbench and portal build starts.</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3EB"/>
                    </a:solidFill>
                  </a:tcPr>
                </a:tc>
                <a:extLst>
                  <a:ext uri="{0D108BD9-81ED-4DB2-BD59-A6C34878D82A}">
                    <a16:rowId xmlns:a16="http://schemas.microsoft.com/office/drawing/2014/main" val="10012"/>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12</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chemeClr val="accent1">
                        <a:lumMod val="75000"/>
                      </a:schemeClr>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25–26</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QC Workbench: split-pane PDF viewer, field highlighting, exception navigation.</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13</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chemeClr val="accent1">
                        <a:lumMod val="75000"/>
                      </a:schemeClr>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27–28</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Client portal complete. Security review done. JetDocs cutover plan ready.</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14</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chemeClr val="accent1">
                        <a:lumMod val="75000"/>
                      </a:schemeClr>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29</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UAT: Legal Assistants and lenders. Change management complete.</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58291">
                <a:tc>
                  <a:txBody>
                    <a:bodyPr/>
                    <a:lstStyle/>
                    <a:p>
                      <a:pPr marL="0" indent="0" algn="ctr">
                        <a:buNone/>
                      </a:pPr>
                      <a:r>
                        <a:rPr lang="en-US" sz="1050">
                          <a:solidFill>
                            <a:srgbClr val="FFFFFF"/>
                          </a:solidFill>
                          <a:latin typeface="GT America" pitchFamily="34" charset="0"/>
                          <a:ea typeface="GT America" pitchFamily="34" charset="-122"/>
                          <a:cs typeface="GT America" pitchFamily="34" charset="-120"/>
                        </a:rPr>
                        <a:t>Sprint 15</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chemeClr val="accent1">
                        <a:lumMod val="75000"/>
                      </a:schemeClr>
                    </a:solidFill>
                  </a:tcPr>
                </a:tc>
                <a:tc>
                  <a:txBody>
                    <a:bodyPr/>
                    <a:lstStyle/>
                    <a:p>
                      <a:pPr marL="0" indent="0" algn="ctr">
                        <a:buNone/>
                      </a:pPr>
                      <a:r>
                        <a:rPr lang="en-US" sz="1050">
                          <a:solidFill>
                            <a:schemeClr val="tx1"/>
                          </a:solidFill>
                          <a:latin typeface="GT America" pitchFamily="34" charset="0"/>
                          <a:ea typeface="GT America" pitchFamily="34" charset="-122"/>
                          <a:cs typeface="GT America" pitchFamily="34" charset="-120"/>
                        </a:rPr>
                        <a:t>29–30</a:t>
                      </a:r>
                      <a:endParaRPr lang="en-US" sz="1050">
                        <a:solidFill>
                          <a:schemeClr val="tx1"/>
                        </a:solidFill>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vMerge="1">
                  <a:txBody>
                    <a:bodyPr/>
                    <a:lstStyle/>
                    <a:p>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buNone/>
                      </a:pPr>
                      <a:r>
                        <a:rPr lang="en-US" sz="1050">
                          <a:solidFill>
                            <a:srgbClr val="282828"/>
                          </a:solidFill>
                          <a:latin typeface="GT America" pitchFamily="34" charset="0"/>
                          <a:ea typeface="GT America" pitchFamily="34" charset="-122"/>
                          <a:cs typeface="GT America" pitchFamily="34" charset="-120"/>
                        </a:rPr>
                        <a:t>Full go-live. JetDocs and ClosingExpress retired. Prompt library handed over.</a:t>
                      </a:r>
                      <a:endParaRPr lang="en-US" sz="1050">
                        <a:latin typeface="GT America" charset="0"/>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4150901321"/>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927DB1E-997B-733A-18E2-14624E3739E5}"/>
              </a:ext>
            </a:extLst>
          </p:cNvPr>
          <p:cNvSpPr/>
          <p:nvPr/>
        </p:nvSpPr>
        <p:spPr>
          <a:xfrm>
            <a:off x="0" y="1052052"/>
            <a:ext cx="4827639" cy="48571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2B75EC8-1649-454E-EFF1-E4151FEEA8BD}"/>
              </a:ext>
            </a:extLst>
          </p:cNvPr>
          <p:cNvSpPr>
            <a:spLocks noGrp="1"/>
          </p:cNvSpPr>
          <p:nvPr>
            <p:ph type="title"/>
          </p:nvPr>
        </p:nvSpPr>
        <p:spPr/>
        <p:txBody>
          <a:bodyPr/>
          <a:lstStyle/>
          <a:p>
            <a:r>
              <a:rPr lang="en-IN"/>
              <a:t>Security, Compliance &amp; Risk Management</a:t>
            </a:r>
          </a:p>
        </p:txBody>
      </p:sp>
      <p:sp>
        <p:nvSpPr>
          <p:cNvPr id="4" name="Text 3">
            <a:extLst>
              <a:ext uri="{FF2B5EF4-FFF2-40B4-BE49-F238E27FC236}">
                <a16:creationId xmlns:a16="http://schemas.microsoft.com/office/drawing/2014/main" id="{0D8A7CA4-E78C-8BC6-CC3F-3AF78FDF2C1A}"/>
              </a:ext>
            </a:extLst>
          </p:cNvPr>
          <p:cNvSpPr/>
          <p:nvPr/>
        </p:nvSpPr>
        <p:spPr>
          <a:xfrm>
            <a:off x="378542" y="1232720"/>
            <a:ext cx="4023360" cy="228600"/>
          </a:xfrm>
          <a:prstGeom prst="rect">
            <a:avLst/>
          </a:prstGeom>
          <a:noFill/>
          <a:ln/>
        </p:spPr>
        <p:txBody>
          <a:bodyPr wrap="square" lIns="0" tIns="0" rIns="0" bIns="0" rtlCol="0" anchor="ctr"/>
          <a:lstStyle/>
          <a:p>
            <a:pPr marL="0" indent="0">
              <a:buNone/>
            </a:pPr>
            <a:r>
              <a:rPr lang="en-US" b="1">
                <a:solidFill>
                  <a:srgbClr val="00B8BB"/>
                </a:solidFill>
                <a:ea typeface="GT America" pitchFamily="34" charset="-122"/>
                <a:cs typeface="GT America" pitchFamily="34" charset="-120"/>
              </a:rPr>
              <a:t>Security Architecture</a:t>
            </a:r>
            <a:endParaRPr lang="en-US"/>
          </a:p>
        </p:txBody>
      </p:sp>
      <p:sp>
        <p:nvSpPr>
          <p:cNvPr id="5" name="Text 4">
            <a:extLst>
              <a:ext uri="{FF2B5EF4-FFF2-40B4-BE49-F238E27FC236}">
                <a16:creationId xmlns:a16="http://schemas.microsoft.com/office/drawing/2014/main" id="{44B75938-01C6-128B-6C0B-B925BC50202F}"/>
              </a:ext>
            </a:extLst>
          </p:cNvPr>
          <p:cNvSpPr/>
          <p:nvPr/>
        </p:nvSpPr>
        <p:spPr>
          <a:xfrm>
            <a:off x="378542" y="1347020"/>
            <a:ext cx="4023360" cy="1307690"/>
          </a:xfrm>
          <a:prstGeom prst="rect">
            <a:avLst/>
          </a:prstGeom>
          <a:noFill/>
          <a:ln/>
        </p:spPr>
        <p:txBody>
          <a:bodyPr wrap="square" lIns="0" tIns="0" rIns="0" bIns="0" rtlCol="0" anchor="ctr"/>
          <a:lstStyle/>
          <a:p>
            <a:pPr marL="0" indent="0">
              <a:buNone/>
            </a:pPr>
            <a:r>
              <a:rPr lang="en-US" sz="1400" b="1" i="1">
                <a:solidFill>
                  <a:schemeClr val="accent2"/>
                </a:solidFill>
                <a:ea typeface="GT America" pitchFamily="34" charset="-122"/>
                <a:cs typeface="GT America" pitchFamily="34" charset="-120"/>
              </a:rPr>
              <a:t>The platform handles sensitive mortgage documents including PII, financial data, and legal instruments. Security is not a Phase 3 consideration - it is designed into the platform from Sprint 0.</a:t>
            </a:r>
            <a:endParaRPr lang="en-US" sz="1400" b="1">
              <a:solidFill>
                <a:schemeClr val="accent2"/>
              </a:solidFill>
            </a:endParaRPr>
          </a:p>
        </p:txBody>
      </p:sp>
      <p:sp>
        <p:nvSpPr>
          <p:cNvPr id="6" name="Text 5">
            <a:extLst>
              <a:ext uri="{FF2B5EF4-FFF2-40B4-BE49-F238E27FC236}">
                <a16:creationId xmlns:a16="http://schemas.microsoft.com/office/drawing/2014/main" id="{57C78720-6455-502E-39D3-0C0A6A8B3330}"/>
              </a:ext>
            </a:extLst>
          </p:cNvPr>
          <p:cNvSpPr/>
          <p:nvPr/>
        </p:nvSpPr>
        <p:spPr>
          <a:xfrm>
            <a:off x="378542" y="2546162"/>
            <a:ext cx="4102018" cy="3540006"/>
          </a:xfrm>
          <a:prstGeom prst="rect">
            <a:avLst/>
          </a:prstGeom>
          <a:noFill/>
          <a:ln/>
        </p:spPr>
        <p:txBody>
          <a:bodyPr wrap="square" lIns="0" tIns="0" rIns="0" bIns="0" rtlCol="0" anchor="t"/>
          <a:lstStyle/>
          <a:p>
            <a:pPr marL="171450" indent="-171450">
              <a:spcAft>
                <a:spcPts val="300"/>
              </a:spcAft>
              <a:buFont typeface="Arial" panose="020B0604020202020204" pitchFamily="34" charset="0"/>
              <a:buChar char="•"/>
            </a:pPr>
            <a:r>
              <a:rPr lang="en-US" sz="1200">
                <a:solidFill>
                  <a:srgbClr val="282828"/>
                </a:solidFill>
                <a:ea typeface="GT America" pitchFamily="34" charset="-122"/>
                <a:cs typeface="GT America" pitchFamily="34" charset="-120"/>
              </a:rPr>
              <a:t>On-premises deployment for all platform services. No mortgage data leaves the firm's network boundary.</a:t>
            </a:r>
            <a:endParaRPr lang="en-US" sz="1200"/>
          </a:p>
          <a:p>
            <a:pPr marL="171450" indent="-171450">
              <a:spcAft>
                <a:spcPts val="300"/>
              </a:spcAft>
              <a:buFont typeface="Arial" panose="020B0604020202020204" pitchFamily="34" charset="0"/>
              <a:buChar char="•"/>
            </a:pPr>
            <a:r>
              <a:rPr lang="en-US" sz="1200">
                <a:solidFill>
                  <a:srgbClr val="282828"/>
                </a:solidFill>
                <a:ea typeface="GT America" pitchFamily="34" charset="-122"/>
                <a:cs typeface="GT America" pitchFamily="34" charset="-120"/>
              </a:rPr>
              <a:t>Encryption at rest for all documents and extracted data, consistent with existing EDM practices.</a:t>
            </a:r>
            <a:endParaRPr lang="en-US" sz="1200"/>
          </a:p>
          <a:p>
            <a:pPr marL="171450" indent="-171450">
              <a:spcAft>
                <a:spcPts val="300"/>
              </a:spcAft>
              <a:buFont typeface="Arial" panose="020B0604020202020204" pitchFamily="34" charset="0"/>
              <a:buChar char="•"/>
            </a:pPr>
            <a:r>
              <a:rPr lang="en-US" sz="1200">
                <a:solidFill>
                  <a:srgbClr val="282828"/>
                </a:solidFill>
                <a:ea typeface="GT America" pitchFamily="34" charset="-122"/>
                <a:cs typeface="GT America" pitchFamily="34" charset="-120"/>
              </a:rPr>
              <a:t>Role-based access control: Legal Assistant, Manager, Ops Lead, Admin, Accounting - each with scoped data access.</a:t>
            </a:r>
            <a:endParaRPr lang="en-US" sz="1200"/>
          </a:p>
          <a:p>
            <a:pPr marL="171450" indent="-171450">
              <a:spcAft>
                <a:spcPts val="300"/>
              </a:spcAft>
              <a:buFont typeface="Arial" panose="020B0604020202020204" pitchFamily="34" charset="0"/>
              <a:buChar char="•"/>
            </a:pPr>
            <a:r>
              <a:rPr lang="en-US" sz="1200">
                <a:solidFill>
                  <a:srgbClr val="282828"/>
                </a:solidFill>
                <a:ea typeface="GT America" pitchFamily="34" charset="-122"/>
                <a:cs typeface="GT America" pitchFamily="34" charset="-120"/>
              </a:rPr>
              <a:t>Multi-office, multi-POD access scoping: a Legal Assistant in one POD cannot see files assigned to another POD.</a:t>
            </a:r>
            <a:endParaRPr lang="en-US" sz="1200"/>
          </a:p>
          <a:p>
            <a:pPr marL="171450" indent="-171450">
              <a:spcAft>
                <a:spcPts val="300"/>
              </a:spcAft>
              <a:buFont typeface="Arial" panose="020B0604020202020204" pitchFamily="34" charset="0"/>
              <a:buChar char="•"/>
            </a:pPr>
            <a:r>
              <a:rPr lang="en-US" sz="1200">
                <a:solidFill>
                  <a:srgbClr val="282828"/>
                </a:solidFill>
                <a:ea typeface="GT America" pitchFamily="34" charset="-122"/>
                <a:cs typeface="GT America" pitchFamily="34" charset="-120"/>
              </a:rPr>
              <a:t>Full audit trail: every action, every state transition, every field override logged with timestamp and actor ID.</a:t>
            </a:r>
            <a:endParaRPr lang="en-US" sz="1200"/>
          </a:p>
          <a:p>
            <a:pPr marL="171450" indent="-171450">
              <a:spcAft>
                <a:spcPts val="300"/>
              </a:spcAft>
              <a:buFont typeface="Arial" panose="020B0604020202020204" pitchFamily="34" charset="0"/>
              <a:buChar char="•"/>
            </a:pPr>
            <a:r>
              <a:rPr lang="en-US" sz="1200">
                <a:solidFill>
                  <a:srgbClr val="282828"/>
                </a:solidFill>
                <a:ea typeface="GT America" pitchFamily="34" charset="-122"/>
                <a:cs typeface="GT America" pitchFamily="34" charset="-120"/>
              </a:rPr>
              <a:t>Client portal: authenticated lender access, penetration testing before go-live, HTTPS, secure document handling.</a:t>
            </a:r>
            <a:endParaRPr lang="en-US" sz="1200"/>
          </a:p>
          <a:p>
            <a:pPr marL="171450" indent="-171450">
              <a:spcAft>
                <a:spcPts val="300"/>
              </a:spcAft>
              <a:buFont typeface="Arial" panose="020B0604020202020204" pitchFamily="34" charset="0"/>
              <a:buChar char="•"/>
            </a:pPr>
            <a:r>
              <a:rPr lang="en-US" sz="1200">
                <a:solidFill>
                  <a:srgbClr val="282828"/>
                </a:solidFill>
                <a:ea typeface="GT America" pitchFamily="34" charset="-122"/>
                <a:cs typeface="GT America" pitchFamily="34" charset="-120"/>
              </a:rPr>
              <a:t>Per-lender document retention enforcement: automated deletion per lender-specific policy (1 day to 2 years).</a:t>
            </a:r>
            <a:endParaRPr lang="en-US" sz="1200"/>
          </a:p>
        </p:txBody>
      </p:sp>
      <p:sp>
        <p:nvSpPr>
          <p:cNvPr id="7" name="Text 3">
            <a:extLst>
              <a:ext uri="{FF2B5EF4-FFF2-40B4-BE49-F238E27FC236}">
                <a16:creationId xmlns:a16="http://schemas.microsoft.com/office/drawing/2014/main" id="{B8F779C2-9647-AD97-6C12-9D195E893DB3}"/>
              </a:ext>
            </a:extLst>
          </p:cNvPr>
          <p:cNvSpPr/>
          <p:nvPr/>
        </p:nvSpPr>
        <p:spPr>
          <a:xfrm>
            <a:off x="5695335" y="1232720"/>
            <a:ext cx="4023360" cy="228600"/>
          </a:xfrm>
          <a:prstGeom prst="rect">
            <a:avLst/>
          </a:prstGeom>
          <a:noFill/>
          <a:ln/>
        </p:spPr>
        <p:txBody>
          <a:bodyPr wrap="square" lIns="0" tIns="0" rIns="0" bIns="0" rtlCol="0" anchor="ctr"/>
          <a:lstStyle/>
          <a:p>
            <a:pPr marL="0" indent="0">
              <a:buNone/>
            </a:pPr>
            <a:r>
              <a:rPr lang="en-US" b="1">
                <a:solidFill>
                  <a:srgbClr val="00B8BB"/>
                </a:solidFill>
                <a:ea typeface="GT America" pitchFamily="34" charset="-122"/>
                <a:cs typeface="GT America" pitchFamily="34" charset="-120"/>
              </a:rPr>
              <a:t>Risk Register</a:t>
            </a:r>
          </a:p>
        </p:txBody>
      </p:sp>
      <p:graphicFrame>
        <p:nvGraphicFramePr>
          <p:cNvPr id="8" name="Table 0">
            <a:extLst>
              <a:ext uri="{FF2B5EF4-FFF2-40B4-BE49-F238E27FC236}">
                <a16:creationId xmlns:a16="http://schemas.microsoft.com/office/drawing/2014/main" id="{2CC5AF4F-7F12-041D-1975-146CC1B7F369}"/>
              </a:ext>
            </a:extLst>
          </p:cNvPr>
          <p:cNvGraphicFramePr>
            <a:graphicFrameLocks noGrp="1"/>
          </p:cNvGraphicFramePr>
          <p:nvPr/>
        </p:nvGraphicFramePr>
        <p:xfrm>
          <a:off x="5695335" y="1555611"/>
          <a:ext cx="6191864" cy="4353576"/>
        </p:xfrm>
        <a:graphic>
          <a:graphicData uri="http://schemas.openxmlformats.org/drawingml/2006/table">
            <a:tbl>
              <a:tblPr/>
              <a:tblGrid>
                <a:gridCol w="1842817">
                  <a:extLst>
                    <a:ext uri="{9D8B030D-6E8A-4147-A177-3AD203B41FA5}">
                      <a16:colId xmlns:a16="http://schemas.microsoft.com/office/drawing/2014/main" val="20000"/>
                    </a:ext>
                  </a:extLst>
                </a:gridCol>
                <a:gridCol w="810839">
                  <a:extLst>
                    <a:ext uri="{9D8B030D-6E8A-4147-A177-3AD203B41FA5}">
                      <a16:colId xmlns:a16="http://schemas.microsoft.com/office/drawing/2014/main" val="20001"/>
                    </a:ext>
                  </a:extLst>
                </a:gridCol>
                <a:gridCol w="3538208">
                  <a:extLst>
                    <a:ext uri="{9D8B030D-6E8A-4147-A177-3AD203B41FA5}">
                      <a16:colId xmlns:a16="http://schemas.microsoft.com/office/drawing/2014/main" val="20002"/>
                    </a:ext>
                  </a:extLst>
                </a:gridCol>
              </a:tblGrid>
              <a:tr h="556087">
                <a:tc>
                  <a:txBody>
                    <a:bodyPr/>
                    <a:lstStyle/>
                    <a:p>
                      <a:pPr marL="0" indent="0">
                        <a:buNone/>
                      </a:pPr>
                      <a:r>
                        <a:rPr lang="en-US" sz="1000" b="1">
                          <a:solidFill>
                            <a:srgbClr val="282828"/>
                          </a:solidFill>
                          <a:latin typeface="+mn-lt"/>
                          <a:ea typeface="GT America" pitchFamily="34" charset="-122"/>
                          <a:cs typeface="GT America" pitchFamily="34" charset="-120"/>
                        </a:rPr>
                        <a:t>Data Extraction Field Complexity</a:t>
                      </a:r>
                      <a:endParaRPr lang="en-US" sz="1000">
                        <a:latin typeface="+mn-lt"/>
                        <a:ea typeface="GT America" charset="0"/>
                        <a:cs typeface="GT America" charset="0"/>
                      </a:endParaRPr>
                    </a:p>
                  </a:txBody>
                  <a:tcPr anchor="ctr">
                    <a:lnL w="12700" cap="flat" cmpd="sng" algn="ctr">
                      <a:solidFill>
                        <a:schemeClr val="tx1"/>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lgn="ctr">
                        <a:buNone/>
                      </a:pPr>
                      <a:r>
                        <a:rPr lang="en-US" sz="1000" b="1">
                          <a:solidFill>
                            <a:srgbClr val="FFFFFF"/>
                          </a:solidFill>
                          <a:latin typeface="+mn-lt"/>
                          <a:ea typeface="GT America" pitchFamily="34" charset="-122"/>
                          <a:cs typeface="GT America" pitchFamily="34" charset="-120"/>
                        </a:rPr>
                        <a:t>High</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6A21"/>
                    </a:solidFill>
                  </a:tcPr>
                </a:tc>
                <a:tc>
                  <a:txBody>
                    <a:bodyPr/>
                    <a:lstStyle/>
                    <a:p>
                      <a:pPr marL="0" indent="0">
                        <a:buNone/>
                      </a:pPr>
                      <a:r>
                        <a:rPr lang="en-US" sz="1000">
                          <a:solidFill>
                            <a:srgbClr val="282828"/>
                          </a:solidFill>
                          <a:latin typeface="+mn-lt"/>
                          <a:ea typeface="GT America" pitchFamily="34" charset="-122"/>
                          <a:cs typeface="GT America" pitchFamily="34" charset="-120"/>
                        </a:rPr>
                        <a:t>Sprint 0 discovery workshop maps all extraction targets. Sample packages across all loan types obtained before extraction service build begins.</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60967">
                <a:tc>
                  <a:txBody>
                    <a:bodyPr/>
                    <a:lstStyle/>
                    <a:p>
                      <a:pPr marL="0" indent="0">
                        <a:buNone/>
                      </a:pPr>
                      <a:r>
                        <a:rPr lang="en-US" sz="1000" b="1">
                          <a:solidFill>
                            <a:srgbClr val="282828"/>
                          </a:solidFill>
                          <a:latin typeface="+mn-lt"/>
                          <a:ea typeface="GT America" pitchFamily="34" charset="-122"/>
                          <a:cs typeface="GT America" pitchFamily="34" charset="-120"/>
                        </a:rPr>
                        <a:t>LoanTrack Schema Complexity</a:t>
                      </a:r>
                      <a:endParaRPr lang="en-US" sz="1000">
                        <a:latin typeface="+mn-lt"/>
                        <a:ea typeface="GT America" charset="0"/>
                        <a:cs typeface="GT America" charset="0"/>
                      </a:endParaRPr>
                    </a:p>
                  </a:txBody>
                  <a:tcPr anchor="ctr">
                    <a:lnL w="12700" cap="flat" cmpd="sng" algn="ctr">
                      <a:solidFill>
                        <a:schemeClr val="tx1"/>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lgn="ctr">
                        <a:buNone/>
                      </a:pPr>
                      <a:r>
                        <a:rPr lang="en-US" sz="1000" b="1">
                          <a:solidFill>
                            <a:srgbClr val="FFFFFF"/>
                          </a:solidFill>
                          <a:latin typeface="+mn-lt"/>
                          <a:ea typeface="GT America" pitchFamily="34" charset="-122"/>
                          <a:cs typeface="GT America" pitchFamily="34" charset="-120"/>
                        </a:rPr>
                        <a:t>High</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6A21"/>
                    </a:solidFill>
                  </a:tcPr>
                </a:tc>
                <a:tc>
                  <a:txBody>
                    <a:bodyPr/>
                    <a:lstStyle/>
                    <a:p>
                      <a:pPr marL="0" indent="0">
                        <a:buNone/>
                      </a:pPr>
                      <a:r>
                        <a:rPr lang="en-US" sz="1000">
                          <a:solidFill>
                            <a:srgbClr val="282828"/>
                          </a:solidFill>
                          <a:latin typeface="+mn-lt"/>
                          <a:ea typeface="GT America" pitchFamily="34" charset="-122"/>
                          <a:cs typeface="GT America" pitchFamily="34" charset="-120"/>
                        </a:rPr>
                        <a:t>Sprint 5 gate: full schema analysis before Phase 2 build commits. Migration scope confirmed or adjusted at gate.</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6087">
                <a:tc>
                  <a:txBody>
                    <a:bodyPr/>
                    <a:lstStyle/>
                    <a:p>
                      <a:pPr marL="0" indent="0">
                        <a:buNone/>
                      </a:pPr>
                      <a:r>
                        <a:rPr lang="en-US" sz="1000" b="1">
                          <a:solidFill>
                            <a:srgbClr val="282828"/>
                          </a:solidFill>
                          <a:latin typeface="+mn-lt"/>
                          <a:ea typeface="GT America" pitchFamily="34" charset="-122"/>
                          <a:cs typeface="GT America" pitchFamily="34" charset="-120"/>
                        </a:rPr>
                        <a:t>ClosingExpress Template Logic</a:t>
                      </a:r>
                      <a:endParaRPr lang="en-US" sz="1000">
                        <a:latin typeface="+mn-lt"/>
                        <a:ea typeface="GT America" charset="0"/>
                        <a:cs typeface="GT America" charset="0"/>
                      </a:endParaRPr>
                    </a:p>
                  </a:txBody>
                  <a:tcPr anchor="ctr">
                    <a:lnL w="12700" cap="flat" cmpd="sng" algn="ctr">
                      <a:solidFill>
                        <a:schemeClr val="tx1"/>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lgn="ctr">
                        <a:buNone/>
                      </a:pPr>
                      <a:r>
                        <a:rPr lang="en-US" sz="1000" b="1">
                          <a:solidFill>
                            <a:srgbClr val="FFFFFF"/>
                          </a:solidFill>
                          <a:latin typeface="+mn-lt"/>
                          <a:ea typeface="GT America" pitchFamily="34" charset="-122"/>
                          <a:cs typeface="GT America" pitchFamily="34" charset="-120"/>
                        </a:rPr>
                        <a:t>High</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6A21"/>
                    </a:solidFill>
                  </a:tcPr>
                </a:tc>
                <a:tc>
                  <a:txBody>
                    <a:bodyPr/>
                    <a:lstStyle/>
                    <a:p>
                      <a:pPr marL="0" indent="0">
                        <a:buNone/>
                      </a:pPr>
                      <a:r>
                        <a:rPr lang="en-US" sz="1000">
                          <a:solidFill>
                            <a:srgbClr val="282828"/>
                          </a:solidFill>
                          <a:latin typeface="+mn-lt"/>
                          <a:ea typeface="GT America" pitchFamily="34" charset="-122"/>
                          <a:cs typeface="GT America" pitchFamily="34" charset="-120"/>
                        </a:rPr>
                        <a:t>Sprint 3: ClosingExpress behavior documentation and template inventory with John. Sprint 11 gate: wrapper approach confirmed viable.</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6087">
                <a:tc>
                  <a:txBody>
                    <a:bodyPr/>
                    <a:lstStyle/>
                    <a:p>
                      <a:pPr marL="0" indent="0">
                        <a:buNone/>
                      </a:pPr>
                      <a:r>
                        <a:rPr lang="en-US" sz="1000" b="1">
                          <a:solidFill>
                            <a:srgbClr val="282828"/>
                          </a:solidFill>
                          <a:latin typeface="+mn-lt"/>
                          <a:ea typeface="GT America" pitchFamily="34" charset="-122"/>
                          <a:cs typeface="GT America" pitchFamily="34" charset="-120"/>
                        </a:rPr>
                        <a:t>John Availability</a:t>
                      </a:r>
                      <a:endParaRPr lang="en-US" sz="1000">
                        <a:latin typeface="+mn-lt"/>
                        <a:ea typeface="GT America" charset="0"/>
                        <a:cs typeface="GT America" charset="0"/>
                      </a:endParaRPr>
                    </a:p>
                  </a:txBody>
                  <a:tcPr anchor="ctr">
                    <a:lnL w="12700" cap="flat" cmpd="sng" algn="ctr">
                      <a:solidFill>
                        <a:schemeClr val="tx1"/>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lgn="ctr">
                        <a:buNone/>
                      </a:pPr>
                      <a:r>
                        <a:rPr lang="en-US" sz="1000" b="1">
                          <a:solidFill>
                            <a:srgbClr val="FFFFFF"/>
                          </a:solidFill>
                          <a:latin typeface="+mn-lt"/>
                          <a:ea typeface="GT America" pitchFamily="34" charset="-122"/>
                          <a:cs typeface="GT America" pitchFamily="34" charset="-120"/>
                        </a:rPr>
                        <a:t>High</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26A21"/>
                    </a:solidFill>
                  </a:tcPr>
                </a:tc>
                <a:tc>
                  <a:txBody>
                    <a:bodyPr/>
                    <a:lstStyle/>
                    <a:p>
                      <a:pPr marL="0" indent="0">
                        <a:buNone/>
                      </a:pPr>
                      <a:r>
                        <a:rPr lang="en-US" sz="1000">
                          <a:solidFill>
                            <a:srgbClr val="282828"/>
                          </a:solidFill>
                          <a:latin typeface="+mn-lt"/>
                          <a:ea typeface="GT America" pitchFamily="34" charset="-122"/>
                          <a:cs typeface="GT America" pitchFamily="34" charset="-120"/>
                        </a:rPr>
                        <a:t>Formal knowledge transfer sessions in Sprint 0 and Sprint 5. All findings documented as ADRs. No single-developer dependency in new platform.</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6087">
                <a:tc>
                  <a:txBody>
                    <a:bodyPr/>
                    <a:lstStyle/>
                    <a:p>
                      <a:pPr marL="0" indent="0">
                        <a:buNone/>
                      </a:pPr>
                      <a:r>
                        <a:rPr lang="en-US" sz="1000" b="1">
                          <a:solidFill>
                            <a:srgbClr val="282828"/>
                          </a:solidFill>
                          <a:latin typeface="+mn-lt"/>
                          <a:ea typeface="GT America" pitchFamily="34" charset="-122"/>
                          <a:cs typeface="GT America" pitchFamily="34" charset="-120"/>
                        </a:rPr>
                        <a:t>Confidence Threshold Policy</a:t>
                      </a:r>
                      <a:endParaRPr lang="en-US" sz="1000">
                        <a:latin typeface="+mn-lt"/>
                        <a:ea typeface="GT America" charset="0"/>
                        <a:cs typeface="GT America" charset="0"/>
                      </a:endParaRPr>
                    </a:p>
                  </a:txBody>
                  <a:tcPr anchor="ctr">
                    <a:lnL w="12700" cap="flat" cmpd="sng" algn="ctr">
                      <a:solidFill>
                        <a:schemeClr val="tx1"/>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lgn="ctr">
                        <a:buNone/>
                      </a:pPr>
                      <a:r>
                        <a:rPr lang="en-US" sz="1000" b="1">
                          <a:solidFill>
                            <a:srgbClr val="FFFFFF"/>
                          </a:solidFill>
                          <a:latin typeface="+mn-lt"/>
                          <a:ea typeface="GT America" pitchFamily="34" charset="-122"/>
                          <a:cs typeface="GT America" pitchFamily="34" charset="-120"/>
                        </a:rPr>
                        <a:t>Medium</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8F8E87"/>
                    </a:solidFill>
                  </a:tcPr>
                </a:tc>
                <a:tc>
                  <a:txBody>
                    <a:bodyPr/>
                    <a:lstStyle/>
                    <a:p>
                      <a:pPr marL="0" indent="0">
                        <a:buNone/>
                      </a:pPr>
                      <a:r>
                        <a:rPr lang="en-US" sz="1000">
                          <a:solidFill>
                            <a:srgbClr val="282828"/>
                          </a:solidFill>
                          <a:latin typeface="+mn-lt"/>
                          <a:ea typeface="GT America" pitchFamily="34" charset="-122"/>
                          <a:cs typeface="GT America" pitchFamily="34" charset="-120"/>
                        </a:rPr>
                        <a:t>Business decision required before extraction build. Client sets threshold in Sprint 0 workshop. Adjustable post-launch based on production data.</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6087">
                <a:tc>
                  <a:txBody>
                    <a:bodyPr/>
                    <a:lstStyle/>
                    <a:p>
                      <a:pPr marL="0" indent="0">
                        <a:buNone/>
                      </a:pPr>
                      <a:r>
                        <a:rPr lang="en-US" sz="1000" b="1">
                          <a:solidFill>
                            <a:srgbClr val="282828"/>
                          </a:solidFill>
                          <a:latin typeface="+mn-lt"/>
                          <a:ea typeface="GT America" pitchFamily="34" charset="-122"/>
                          <a:cs typeface="GT America" pitchFamily="34" charset="-120"/>
                        </a:rPr>
                        <a:t>BM&amp;G SPOC's UAT Availability</a:t>
                      </a:r>
                      <a:endParaRPr lang="en-US" sz="1000">
                        <a:latin typeface="+mn-lt"/>
                        <a:ea typeface="GT America" charset="0"/>
                        <a:cs typeface="GT America" charset="0"/>
                      </a:endParaRPr>
                    </a:p>
                  </a:txBody>
                  <a:tcPr anchor="ctr">
                    <a:lnL w="12700" cap="flat" cmpd="sng" algn="ctr">
                      <a:solidFill>
                        <a:schemeClr val="tx1"/>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lgn="ctr">
                        <a:buNone/>
                      </a:pPr>
                      <a:r>
                        <a:rPr lang="en-US" sz="1000" b="1">
                          <a:solidFill>
                            <a:srgbClr val="FFFFFF"/>
                          </a:solidFill>
                          <a:latin typeface="+mn-lt"/>
                          <a:ea typeface="GT America" pitchFamily="34" charset="-122"/>
                          <a:cs typeface="GT America" pitchFamily="34" charset="-120"/>
                        </a:rPr>
                        <a:t>Medium</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8F8E87"/>
                    </a:solidFill>
                  </a:tcPr>
                </a:tc>
                <a:tc>
                  <a:txBody>
                    <a:bodyPr/>
                    <a:lstStyle/>
                    <a:p>
                      <a:pPr marL="0" indent="0">
                        <a:buNone/>
                      </a:pPr>
                      <a:r>
                        <a:rPr lang="en-US" sz="1000">
                          <a:solidFill>
                            <a:srgbClr val="282828"/>
                          </a:solidFill>
                          <a:latin typeface="+mn-lt"/>
                          <a:ea typeface="GT America" pitchFamily="34" charset="-122"/>
                          <a:cs typeface="GT America" pitchFamily="34" charset="-120"/>
                        </a:rPr>
                        <a:t>UAT windows defined at program start. Legal Assistants, ops team, and accounting aligned to sprint schedule before kick-off.</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6087">
                <a:tc>
                  <a:txBody>
                    <a:bodyPr/>
                    <a:lstStyle/>
                    <a:p>
                      <a:pPr marL="0" indent="0">
                        <a:buNone/>
                      </a:pPr>
                      <a:r>
                        <a:rPr lang="en-US" sz="1000" b="1">
                          <a:solidFill>
                            <a:srgbClr val="282828"/>
                          </a:solidFill>
                          <a:latin typeface="+mn-lt"/>
                          <a:ea typeface="GT America" pitchFamily="34" charset="-122"/>
                          <a:cs typeface="GT America" pitchFamily="34" charset="-120"/>
                        </a:rPr>
                        <a:t>Document Format Variability</a:t>
                      </a:r>
                      <a:endParaRPr lang="en-US" sz="1000">
                        <a:latin typeface="+mn-lt"/>
                        <a:ea typeface="GT America" charset="0"/>
                        <a:cs typeface="GT America" charset="0"/>
                      </a:endParaRPr>
                    </a:p>
                  </a:txBody>
                  <a:tcPr anchor="ctr">
                    <a:lnL w="12700" cap="flat" cmpd="sng" algn="ctr">
                      <a:solidFill>
                        <a:schemeClr val="tx1"/>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tc>
                  <a:txBody>
                    <a:bodyPr/>
                    <a:lstStyle/>
                    <a:p>
                      <a:pPr marL="0" indent="0" algn="ctr">
                        <a:buNone/>
                      </a:pPr>
                      <a:r>
                        <a:rPr lang="en-US" sz="1000" b="1">
                          <a:solidFill>
                            <a:srgbClr val="FFFFFF"/>
                          </a:solidFill>
                          <a:latin typeface="+mn-lt"/>
                          <a:ea typeface="GT America" pitchFamily="34" charset="-122"/>
                          <a:cs typeface="GT America" pitchFamily="34" charset="-120"/>
                        </a:rPr>
                        <a:t>Medium</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8F8E87"/>
                    </a:solidFill>
                  </a:tcPr>
                </a:tc>
                <a:tc>
                  <a:txBody>
                    <a:bodyPr/>
                    <a:lstStyle/>
                    <a:p>
                      <a:pPr marL="0" indent="0">
                        <a:buNone/>
                      </a:pPr>
                      <a:r>
                        <a:rPr lang="en-US" sz="1000">
                          <a:solidFill>
                            <a:srgbClr val="282828"/>
                          </a:solidFill>
                          <a:latin typeface="+mn-lt"/>
                          <a:ea typeface="GT America" pitchFamily="34" charset="-122"/>
                          <a:cs typeface="GT America" pitchFamily="34" charset="-120"/>
                        </a:rPr>
                        <a:t>Sample packages across all 300 lenders not required. Representative set across loan types sufficient. Extraction handles 'unknown' gracefully.</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D8CE"/>
                      </a:solidFill>
                      <a:prstDash val="solid"/>
                      <a:round/>
                      <a:headEnd type="none" w="med" len="med"/>
                      <a:tailEnd type="none" w="med" len="med"/>
                    </a:lnT>
                    <a:lnB w="3810" cap="flat" cmpd="sng" algn="ctr">
                      <a:solidFill>
                        <a:srgbClr val="D8D8C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56087">
                <a:tc>
                  <a:txBody>
                    <a:bodyPr/>
                    <a:lstStyle/>
                    <a:p>
                      <a:pPr marL="0" indent="0">
                        <a:buNone/>
                      </a:pPr>
                      <a:r>
                        <a:rPr lang="en-US" sz="1000" b="1">
                          <a:solidFill>
                            <a:srgbClr val="282828"/>
                          </a:solidFill>
                          <a:latin typeface="+mn-lt"/>
                          <a:ea typeface="GT America" pitchFamily="34" charset="-122"/>
                          <a:cs typeface="GT America" pitchFamily="34" charset="-120"/>
                        </a:rPr>
                        <a:t>BMG Help File / Fee Logic</a:t>
                      </a:r>
                      <a:endParaRPr lang="en-US" sz="1000">
                        <a:latin typeface="+mn-lt"/>
                        <a:ea typeface="GT America" charset="0"/>
                        <a:cs typeface="GT America" charset="0"/>
                      </a:endParaRPr>
                    </a:p>
                  </a:txBody>
                  <a:tcPr anchor="ctr">
                    <a:lnL w="12700" cap="flat" cmpd="sng" algn="ctr">
                      <a:solidFill>
                        <a:schemeClr val="tx1"/>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ctr">
                        <a:buNone/>
                      </a:pPr>
                      <a:r>
                        <a:rPr lang="en-US" sz="1000" b="1">
                          <a:solidFill>
                            <a:srgbClr val="FFFFFF"/>
                          </a:solidFill>
                          <a:latin typeface="+mn-lt"/>
                          <a:ea typeface="GT America" pitchFamily="34" charset="-122"/>
                          <a:cs typeface="GT America" pitchFamily="34" charset="-120"/>
                        </a:rPr>
                        <a:t>Medium</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3810" cap="flat" cmpd="sng" algn="ctr">
                      <a:solidFill>
                        <a:srgbClr val="D8D8CE"/>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F8E87"/>
                    </a:solidFill>
                  </a:tcPr>
                </a:tc>
                <a:tc>
                  <a:txBody>
                    <a:bodyPr/>
                    <a:lstStyle/>
                    <a:p>
                      <a:pPr marL="0" indent="0">
                        <a:buNone/>
                      </a:pPr>
                      <a:r>
                        <a:rPr lang="en-US" sz="1000">
                          <a:solidFill>
                            <a:srgbClr val="282828"/>
                          </a:solidFill>
                          <a:latin typeface="+mn-lt"/>
                          <a:ea typeface="GT America" pitchFamily="34" charset="-122"/>
                          <a:cs typeface="GT America" pitchFamily="34" charset="-120"/>
                        </a:rPr>
                        <a:t>Clarify in Sprint 0 whether fees are static lookup, per-lender config, or calculated. Lender code database export from ClosingExpress required.</a:t>
                      </a:r>
                      <a:endParaRPr lang="en-US" sz="1000">
                        <a:latin typeface="+mn-lt"/>
                        <a:ea typeface="GT America" charset="0"/>
                        <a:cs typeface="GT America" charset="0"/>
                      </a:endParaRPr>
                    </a:p>
                  </a:txBody>
                  <a:tcPr anchor="ctr">
                    <a:lnL w="3810" cap="flat" cmpd="sng" algn="ctr">
                      <a:solidFill>
                        <a:srgbClr val="D8D8CE"/>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 cap="flat" cmpd="sng" algn="ctr">
                      <a:solidFill>
                        <a:srgbClr val="D8D8CE"/>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970952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theme/theme1.xml><?xml version="1.0" encoding="utf-8"?>
<a:theme xmlns:a="http://schemas.openxmlformats.org/drawingml/2006/main" name="2_Office Theme">
  <a:themeElements>
    <a:clrScheme name="Custom 24">
      <a:dk1>
        <a:srgbClr val="212121"/>
      </a:dk1>
      <a:lt1>
        <a:sysClr val="window" lastClr="FFFFFF"/>
      </a:lt1>
      <a:dk2>
        <a:srgbClr val="212121"/>
      </a:dk2>
      <a:lt2>
        <a:srgbClr val="FFFFFF"/>
      </a:lt2>
      <a:accent1>
        <a:srgbClr val="00B8BB"/>
      </a:accent1>
      <a:accent2>
        <a:srgbClr val="024854"/>
      </a:accent2>
      <a:accent3>
        <a:srgbClr val="F26A21"/>
      </a:accent3>
      <a:accent4>
        <a:srgbClr val="8F8E87"/>
      </a:accent4>
      <a:accent5>
        <a:srgbClr val="C1BFB8"/>
      </a:accent5>
      <a:accent6>
        <a:srgbClr val="EFEFEE"/>
      </a:accent6>
      <a:hlink>
        <a:srgbClr val="0070C0"/>
      </a:hlink>
      <a:folHlink>
        <a:srgbClr val="0070C0"/>
      </a:folHlink>
    </a:clrScheme>
    <a:fontScheme name="Custom 89">
      <a:majorFont>
        <a:latin typeface="Proto Grotesk Light"/>
        <a:ea typeface=""/>
        <a:cs typeface=""/>
      </a:majorFont>
      <a:minorFont>
        <a:latin typeface="GT America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err="1" smtClean="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Custom 29">
      <a:dk1>
        <a:sysClr val="windowText" lastClr="000000"/>
      </a:dk1>
      <a:lt1>
        <a:sysClr val="window" lastClr="FFFFFF"/>
      </a:lt1>
      <a:dk2>
        <a:srgbClr val="212121"/>
      </a:dk2>
      <a:lt2>
        <a:srgbClr val="FFFFFF"/>
      </a:lt2>
      <a:accent1>
        <a:srgbClr val="00B8BB"/>
      </a:accent1>
      <a:accent2>
        <a:srgbClr val="024854"/>
      </a:accent2>
      <a:accent3>
        <a:srgbClr val="F26A21"/>
      </a:accent3>
      <a:accent4>
        <a:srgbClr val="8F8E87"/>
      </a:accent4>
      <a:accent5>
        <a:srgbClr val="C1BFB8"/>
      </a:accent5>
      <a:accent6>
        <a:srgbClr val="EFEFEE"/>
      </a:accent6>
      <a:hlink>
        <a:srgbClr val="0070C0"/>
      </a:hlink>
      <a:folHlink>
        <a:srgbClr val="0070C0"/>
      </a:folHlink>
    </a:clrScheme>
    <a:fontScheme name="Custom 89">
      <a:majorFont>
        <a:latin typeface="Proto Grotesk Light"/>
        <a:ea typeface=""/>
        <a:cs typeface=""/>
      </a:majorFont>
      <a:minorFont>
        <a:latin typeface="GT America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err="1" smtClean="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4614</Words>
  <Application>Microsoft Office PowerPoint</Application>
  <PresentationFormat>Widescreen</PresentationFormat>
  <Paragraphs>527</Paragraphs>
  <Slides>18</Slides>
  <Notes>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18</vt:i4>
      </vt:variant>
    </vt:vector>
  </HeadingPairs>
  <TitlesOfParts>
    <vt:vector size="30" baseType="lpstr">
      <vt:lpstr>Aptos</vt:lpstr>
      <vt:lpstr>Arial</vt:lpstr>
      <vt:lpstr>Calibri</vt:lpstr>
      <vt:lpstr>GT America</vt:lpstr>
      <vt:lpstr>GT America Lt</vt:lpstr>
      <vt:lpstr>Neue Machina Plain</vt:lpstr>
      <vt:lpstr>Proto Grotesk Light</vt:lpstr>
      <vt:lpstr>Roboto</vt:lpstr>
      <vt:lpstr>Segoe UI</vt:lpstr>
      <vt:lpstr>Wingdings</vt:lpstr>
      <vt:lpstr>2_Office Theme</vt:lpstr>
      <vt:lpstr>3_Office Theme</vt:lpstr>
      <vt:lpstr>Mortgage Examination Intelligence Platform</vt:lpstr>
      <vt:lpstr>Solution Overview</vt:lpstr>
      <vt:lpstr>Business Understanding &amp; Current-State Challenges</vt:lpstr>
      <vt:lpstr>Where BM&amp;G Operates Today</vt:lpstr>
      <vt:lpstr>Strategic Modernization Vision</vt:lpstr>
      <vt:lpstr>Future State Architecture</vt:lpstr>
      <vt:lpstr>Core Platform Components</vt:lpstr>
      <vt:lpstr>Scope of the Engagement</vt:lpstr>
      <vt:lpstr>Tier 2 - Post-MVP</vt:lpstr>
      <vt:lpstr>Delivery &amp; Transition Strategy</vt:lpstr>
      <vt:lpstr>AI-Assisted Engineering Delivery Model</vt:lpstr>
      <vt:lpstr>Delivery Team &amp; Governance Model</vt:lpstr>
      <vt:lpstr>Proposed Technology Stack</vt:lpstr>
      <vt:lpstr>Assumptions, Dependencies &amp; Exclusions</vt:lpstr>
      <vt:lpstr>Thank You</vt:lpstr>
      <vt:lpstr>Proposed Technology Stack  (Detailed)</vt:lpstr>
      <vt:lpstr>Delivery Roadmap  -  30 Weeks · 15 Sprints · 3 Phases</vt:lpstr>
      <vt:lpstr>Security, Compliance &amp; Risk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SAurabh Sharma</dc:creator>
  <cp:lastModifiedBy>Saravana Kumar Rajiah</cp:lastModifiedBy>
  <cp:revision>1</cp:revision>
  <dcterms:created xsi:type="dcterms:W3CDTF">2025-12-05T10:01:29Z</dcterms:created>
  <dcterms:modified xsi:type="dcterms:W3CDTF">2026-06-10T05:37:49Z</dcterms:modified>
</cp:coreProperties>
</file>